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2.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6.png"/><Relationship Id="rId9" Type="http://schemas.openxmlformats.org/officeDocument/2006/relationships/image" Target="../media/image-18-9.png"/><Relationship Id="rId10" Type="http://schemas.openxmlformats.org/officeDocument/2006/relationships/image" Target="../media/image-18-6.png"/><Relationship Id="rId11" Type="http://schemas.openxmlformats.org/officeDocument/2006/relationships/image" Target="../media/image-18-11.png"/><Relationship Id="rId12" Type="http://schemas.openxmlformats.org/officeDocument/2006/relationships/image" Target="../media/image-18-2.png"/><Relationship Id="rId13" Type="http://schemas.openxmlformats.org/officeDocument/2006/relationships/image" Target="../media/image-18-13.png"/><Relationship Id="rId14" Type="http://schemas.openxmlformats.org/officeDocument/2006/relationships/image" Target="../media/image-18-2.png"/><Relationship Id="rId15" Type="http://schemas.openxmlformats.org/officeDocument/2006/relationships/image" Target="../media/image-18-15.png"/><Relationship Id="rId16" Type="http://schemas.openxmlformats.org/officeDocument/2006/relationships/image" Target="../media/image-18-2.png"/><Relationship Id="rId17" Type="http://schemas.openxmlformats.org/officeDocument/2006/relationships/image" Target="../media/image-18-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jp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slideLayout" Target="../slideLayouts/slideLayout1.xml"/><Relationship Id="rId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slideLayout" Target="../slideLayouts/slideLayout1.xml"/><Relationship Id="rId1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jpg"/><Relationship Id="rId3" Type="http://schemas.openxmlformats.org/officeDocument/2006/relationships/image" Target="../media/image-28-3.jpg"/><Relationship Id="rId4" Type="http://schemas.openxmlformats.org/officeDocument/2006/relationships/image" Target="../media/image-28-4.jpg"/><Relationship Id="rId5" Type="http://schemas.openxmlformats.org/officeDocument/2006/relationships/image" Target="../media/image-28-5.jp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jp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HumanRise/brand/assets/star/star-faint.png">    </p:cNvPr>
          <p:cNvPicPr>
            <a:picLocks noChangeAspect="1"/>
          </p:cNvPicPr>
          <p:nvPr/>
        </p:nvPicPr>
        <p:blipFill>
          <a:blip r:embed="rId1"/>
          <a:stretch>
            <a:fillRect/>
          </a:stretch>
        </p:blipFill>
        <p:spPr>
          <a:xfrm>
            <a:off x="6766560" y="-640080"/>
            <a:ext cx="6309360" cy="6309360"/>
          </a:xfrm>
          <a:prstGeom prst="rect">
            <a:avLst/>
          </a:prstGeom>
        </p:spPr>
      </p:pic>
      <p:pic>
        <p:nvPicPr>
          <p:cNvPr id="3" name="Image 1" descr="/home/user/HumanRise/brand/assets/logo/humanrise-logo-colour.png">    </p:cNvPr>
          <p:cNvPicPr>
            <a:picLocks noChangeAspect="1"/>
          </p:cNvPicPr>
          <p:nvPr/>
        </p:nvPicPr>
        <p:blipFill>
          <a:blip r:embed="rId2"/>
          <a:stretch>
            <a:fillRect/>
          </a:stretch>
        </p:blipFill>
        <p:spPr>
          <a:xfrm>
            <a:off x="731520" y="685800"/>
            <a:ext cx="3200400" cy="2031797"/>
          </a:xfrm>
          <a:prstGeom prst="rect">
            <a:avLst/>
          </a:prstGeom>
        </p:spPr>
      </p:pic>
      <p:sp>
        <p:nvSpPr>
          <p:cNvPr id="4" name="Text 0"/>
          <p:cNvSpPr txBox="1"/>
          <p:nvPr/>
        </p:nvSpPr>
        <p:spPr>
          <a:xfrm>
            <a:off x="731520" y="3108960"/>
            <a:ext cx="7315200" cy="320040"/>
          </a:xfrm>
          <a:prstGeom prst="rect">
            <a:avLst/>
          </a:prstGeom>
          <a:noFill/>
          <a:ln/>
        </p:spPr>
        <p:txBody>
          <a:bodyPr wrap="square" lIns="0" tIns="0" rIns="0" bIns="0" rtlCol="0" anchor="t"/>
          <a:lstStyle/>
          <a:p>
            <a:pPr indent="0" marL="0">
              <a:buNone/>
            </a:pPr>
            <a:r>
              <a:rPr lang="en-US" sz="1200" b="1" spc="400" kern="0" dirty="0">
                <a:solidFill>
                  <a:srgbClr val="5A4E8D"/>
                </a:solidFill>
                <a:latin typeface="Arial" pitchFamily="34" charset="0"/>
                <a:ea typeface="Arial" pitchFamily="34" charset="-122"/>
                <a:cs typeface="Arial" pitchFamily="34" charset="-120"/>
              </a:rPr>
              <a:t>CORPORATE IDENTITY GUIDELINES</a:t>
            </a:r>
            <a:endParaRPr lang="en-US" sz="1200" dirty="0"/>
          </a:p>
        </p:txBody>
      </p:sp>
      <p:sp>
        <p:nvSpPr>
          <p:cNvPr id="5" name="Text 1"/>
          <p:cNvSpPr txBox="1"/>
          <p:nvPr/>
        </p:nvSpPr>
        <p:spPr>
          <a:xfrm>
            <a:off x="731520" y="3520440"/>
            <a:ext cx="9601200" cy="1463040"/>
          </a:xfrm>
          <a:prstGeom prst="rect">
            <a:avLst/>
          </a:prstGeom>
          <a:noFill/>
          <a:ln/>
        </p:spPr>
        <p:txBody>
          <a:bodyPr wrap="square" lIns="0" tIns="0" rIns="0" bIns="0" rtlCol="0" anchor="t"/>
          <a:lstStyle/>
          <a:p>
            <a:pPr indent="0" marL="0">
              <a:lnSpc>
                <a:spcPct val="95000"/>
              </a:lnSpc>
              <a:buNone/>
            </a:pPr>
            <a:r>
              <a:rPr lang="en-US" sz="4400" b="1" dirty="0">
                <a:solidFill>
                  <a:srgbClr val="23222B"/>
                </a:solidFill>
                <a:latin typeface="Arial" pitchFamily="34" charset="0"/>
                <a:ea typeface="Arial" pitchFamily="34" charset="-122"/>
                <a:cs typeface="Arial" pitchFamily="34" charset="-120"/>
              </a:rPr>
              <a:t>Our story, our look, our voice.</a:t>
            </a:r>
            <a:endParaRPr lang="en-US" sz="4400" dirty="0"/>
          </a:p>
          <a:p>
            <a:pPr indent="0" marL="0">
              <a:lnSpc>
                <a:spcPct val="95000"/>
              </a:lnSpc>
              <a:buNone/>
            </a:pPr>
            <a:r>
              <a:rPr lang="en-US" sz="4400" b="1" dirty="0">
                <a:solidFill>
                  <a:srgbClr val="7869BC"/>
                </a:solidFill>
                <a:latin typeface="Arial" pitchFamily="34" charset="0"/>
                <a:ea typeface="Arial" pitchFamily="34" charset="-122"/>
                <a:cs typeface="Arial" pitchFamily="34" charset="-120"/>
              </a:rPr>
              <a:t>Overcoming Limits.</a:t>
            </a:r>
            <a:endParaRPr lang="en-US" sz="4400" dirty="0"/>
          </a:p>
        </p:txBody>
      </p:sp>
      <p:sp>
        <p:nvSpPr>
          <p:cNvPr id="6" name="Text 2"/>
          <p:cNvSpPr txBox="1"/>
          <p:nvPr/>
        </p:nvSpPr>
        <p:spPr>
          <a:xfrm>
            <a:off x="731520" y="5074920"/>
            <a:ext cx="6949440" cy="594360"/>
          </a:xfrm>
          <a:prstGeom prst="rect">
            <a:avLst/>
          </a:prstGeom>
          <a:noFill/>
          <a:ln/>
        </p:spPr>
        <p:txBody>
          <a:bodyPr wrap="square" lIns="0" tIns="0" rIns="0" bIns="0" rtlCol="0" anchor="t"/>
          <a:lstStyle/>
          <a:p>
            <a:pPr indent="0" marL="0">
              <a:buNone/>
            </a:pPr>
            <a:r>
              <a:rPr lang="en-US" sz="1600" dirty="0">
                <a:solidFill>
                  <a:srgbClr val="474557"/>
                </a:solidFill>
                <a:latin typeface="Arial" pitchFamily="34" charset="0"/>
                <a:ea typeface="Arial" pitchFamily="34" charset="-122"/>
                <a:cs typeface="Arial" pitchFamily="34" charset="-120"/>
              </a:rPr>
              <a:t>How HumanRise looks, sounds and shows up, from a LinkedIn post to a training workbook to a partner’s website.</a:t>
            </a:r>
            <a:endParaRPr lang="en-US" sz="1600" dirty="0"/>
          </a:p>
        </p:txBody>
      </p:sp>
      <p:sp>
        <p:nvSpPr>
          <p:cNvPr id="7" name="Text 3"/>
          <p:cNvSpPr txBox="1"/>
          <p:nvPr/>
        </p:nvSpPr>
        <p:spPr>
          <a:xfrm>
            <a:off x="731520" y="6172200"/>
            <a:ext cx="8229600" cy="27432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HumanRise ZA (Pty) Ltd   ·   Version 1.0   ·   October 2026   ·   humanrise.co.za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CONTENTS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What’s inside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73352"/>
            <a:ext cx="3520440" cy="0"/>
          </a:xfrm>
          <a:prstGeom prst="line">
            <a:avLst/>
          </a:prstGeom>
          <a:noFill/>
          <a:ln w="9525">
            <a:solidFill>
              <a:srgbClr val="E2E1EA"/>
            </a:solidFill>
            <a:prstDash val="solid"/>
          </a:ln>
        </p:spPr>
      </p:sp>
      <p:sp>
        <p:nvSpPr>
          <p:cNvPr id="7" name="Text 4"/>
          <p:cNvSpPr txBox="1"/>
          <p:nvPr/>
        </p:nvSpPr>
        <p:spPr>
          <a:xfrm>
            <a:off x="548640" y="178308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01</a:t>
            </a:r>
            <a:endParaRPr lang="en-US" sz="1000" dirty="0"/>
          </a:p>
        </p:txBody>
      </p:sp>
      <p:sp>
        <p:nvSpPr>
          <p:cNvPr id="8" name="Text 5"/>
          <p:cNvSpPr txBox="1"/>
          <p:nvPr/>
        </p:nvSpPr>
        <p:spPr>
          <a:xfrm>
            <a:off x="1115568" y="177393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Introduction</a:t>
            </a:r>
            <a:endParaRPr lang="en-US" sz="1500" dirty="0"/>
          </a:p>
        </p:txBody>
      </p:sp>
      <p:sp>
        <p:nvSpPr>
          <p:cNvPr id="9" name="Text 6"/>
          <p:cNvSpPr txBox="1"/>
          <p:nvPr/>
        </p:nvSpPr>
        <p:spPr>
          <a:xfrm>
            <a:off x="1115568" y="207568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Who this guide is for, the brand at a glance</a:t>
            </a:r>
            <a:endParaRPr lang="en-US" sz="1100" dirty="0"/>
          </a:p>
        </p:txBody>
      </p:sp>
      <p:sp>
        <p:nvSpPr>
          <p:cNvPr id="10" name="Shape 7"/>
          <p:cNvSpPr/>
          <p:nvPr/>
        </p:nvSpPr>
        <p:spPr>
          <a:xfrm>
            <a:off x="548640" y="2724912"/>
            <a:ext cx="3520440" cy="0"/>
          </a:xfrm>
          <a:prstGeom prst="line">
            <a:avLst/>
          </a:prstGeom>
          <a:noFill/>
          <a:ln w="9525">
            <a:solidFill>
              <a:srgbClr val="E2E1EA"/>
            </a:solidFill>
            <a:prstDash val="solid"/>
          </a:ln>
        </p:spPr>
      </p:sp>
      <p:sp>
        <p:nvSpPr>
          <p:cNvPr id="11" name="Text 8"/>
          <p:cNvSpPr txBox="1"/>
          <p:nvPr/>
        </p:nvSpPr>
        <p:spPr>
          <a:xfrm>
            <a:off x="548640" y="283464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02</a:t>
            </a:r>
            <a:endParaRPr lang="en-US" sz="1000" dirty="0"/>
          </a:p>
        </p:txBody>
      </p:sp>
      <p:sp>
        <p:nvSpPr>
          <p:cNvPr id="12" name="Text 9"/>
          <p:cNvSpPr txBox="1"/>
          <p:nvPr/>
        </p:nvSpPr>
        <p:spPr>
          <a:xfrm>
            <a:off x="1115568" y="282549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Our story</a:t>
            </a:r>
            <a:endParaRPr lang="en-US" sz="1500" dirty="0"/>
          </a:p>
        </p:txBody>
      </p:sp>
      <p:sp>
        <p:nvSpPr>
          <p:cNvPr id="13" name="Text 10"/>
          <p:cNvSpPr txBox="1"/>
          <p:nvPr/>
        </p:nvSpPr>
        <p:spPr>
          <a:xfrm>
            <a:off x="1115568" y="312724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Purpose, the idea in the logo, values, AI stance</a:t>
            </a:r>
            <a:endParaRPr lang="en-US" sz="1100" dirty="0"/>
          </a:p>
        </p:txBody>
      </p:sp>
      <p:sp>
        <p:nvSpPr>
          <p:cNvPr id="14" name="Shape 11"/>
          <p:cNvSpPr/>
          <p:nvPr/>
        </p:nvSpPr>
        <p:spPr>
          <a:xfrm>
            <a:off x="548640" y="3776472"/>
            <a:ext cx="3520440" cy="0"/>
          </a:xfrm>
          <a:prstGeom prst="line">
            <a:avLst/>
          </a:prstGeom>
          <a:noFill/>
          <a:ln w="9525">
            <a:solidFill>
              <a:srgbClr val="E2E1EA"/>
            </a:solidFill>
            <a:prstDash val="solid"/>
          </a:ln>
        </p:spPr>
      </p:sp>
      <p:sp>
        <p:nvSpPr>
          <p:cNvPr id="15" name="Text 12"/>
          <p:cNvSpPr txBox="1"/>
          <p:nvPr/>
        </p:nvSpPr>
        <p:spPr>
          <a:xfrm>
            <a:off x="548640" y="388620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03</a:t>
            </a:r>
            <a:endParaRPr lang="en-US" sz="1000" dirty="0"/>
          </a:p>
        </p:txBody>
      </p:sp>
      <p:sp>
        <p:nvSpPr>
          <p:cNvPr id="16" name="Text 13"/>
          <p:cNvSpPr txBox="1"/>
          <p:nvPr/>
        </p:nvSpPr>
        <p:spPr>
          <a:xfrm>
            <a:off x="1115568" y="387705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Logo</a:t>
            </a:r>
            <a:endParaRPr lang="en-US" sz="1500" dirty="0"/>
          </a:p>
        </p:txBody>
      </p:sp>
      <p:sp>
        <p:nvSpPr>
          <p:cNvPr id="17" name="Text 14"/>
          <p:cNvSpPr txBox="1"/>
          <p:nvPr/>
        </p:nvSpPr>
        <p:spPr>
          <a:xfrm>
            <a:off x="1115568" y="417880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Versions, clear space, backgrounds, misuse</a:t>
            </a:r>
            <a:endParaRPr lang="en-US" sz="1100" dirty="0"/>
          </a:p>
        </p:txBody>
      </p:sp>
      <p:sp>
        <p:nvSpPr>
          <p:cNvPr id="18" name="Shape 15"/>
          <p:cNvSpPr/>
          <p:nvPr/>
        </p:nvSpPr>
        <p:spPr>
          <a:xfrm>
            <a:off x="548640" y="4828032"/>
            <a:ext cx="3520440" cy="0"/>
          </a:xfrm>
          <a:prstGeom prst="line">
            <a:avLst/>
          </a:prstGeom>
          <a:noFill/>
          <a:ln w="9525">
            <a:solidFill>
              <a:srgbClr val="E2E1EA"/>
            </a:solidFill>
            <a:prstDash val="solid"/>
          </a:ln>
        </p:spPr>
      </p:sp>
      <p:sp>
        <p:nvSpPr>
          <p:cNvPr id="19" name="Text 16"/>
          <p:cNvSpPr txBox="1"/>
          <p:nvPr/>
        </p:nvSpPr>
        <p:spPr>
          <a:xfrm>
            <a:off x="548640" y="493776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04</a:t>
            </a:r>
            <a:endParaRPr lang="en-US" sz="1000" dirty="0"/>
          </a:p>
        </p:txBody>
      </p:sp>
      <p:sp>
        <p:nvSpPr>
          <p:cNvPr id="20" name="Text 17"/>
          <p:cNvSpPr txBox="1"/>
          <p:nvPr/>
        </p:nvSpPr>
        <p:spPr>
          <a:xfrm>
            <a:off x="1115568" y="492861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Colour</a:t>
            </a:r>
            <a:endParaRPr lang="en-US" sz="1500" dirty="0"/>
          </a:p>
        </p:txBody>
      </p:sp>
      <p:sp>
        <p:nvSpPr>
          <p:cNvPr id="21" name="Text 18"/>
          <p:cNvSpPr txBox="1"/>
          <p:nvPr/>
        </p:nvSpPr>
        <p:spPr>
          <a:xfrm>
            <a:off x="1115568" y="523036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Core palette, ranges, accessibility</a:t>
            </a:r>
            <a:endParaRPr lang="en-US" sz="1100" dirty="0"/>
          </a:p>
        </p:txBody>
      </p:sp>
      <p:sp>
        <p:nvSpPr>
          <p:cNvPr id="22" name="Shape 19"/>
          <p:cNvSpPr/>
          <p:nvPr/>
        </p:nvSpPr>
        <p:spPr>
          <a:xfrm>
            <a:off x="4297680" y="1673352"/>
            <a:ext cx="3520440" cy="0"/>
          </a:xfrm>
          <a:prstGeom prst="line">
            <a:avLst/>
          </a:prstGeom>
          <a:noFill/>
          <a:ln w="9525">
            <a:solidFill>
              <a:srgbClr val="E2E1EA"/>
            </a:solidFill>
            <a:prstDash val="solid"/>
          </a:ln>
        </p:spPr>
      </p:sp>
      <p:sp>
        <p:nvSpPr>
          <p:cNvPr id="23" name="Text 20"/>
          <p:cNvSpPr txBox="1"/>
          <p:nvPr/>
        </p:nvSpPr>
        <p:spPr>
          <a:xfrm>
            <a:off x="4297680" y="178308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05</a:t>
            </a:r>
            <a:endParaRPr lang="en-US" sz="1000" dirty="0"/>
          </a:p>
        </p:txBody>
      </p:sp>
      <p:sp>
        <p:nvSpPr>
          <p:cNvPr id="24" name="Text 21"/>
          <p:cNvSpPr txBox="1"/>
          <p:nvPr/>
        </p:nvSpPr>
        <p:spPr>
          <a:xfrm>
            <a:off x="4864608" y="177393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Typography</a:t>
            </a:r>
            <a:endParaRPr lang="en-US" sz="1500" dirty="0"/>
          </a:p>
        </p:txBody>
      </p:sp>
      <p:sp>
        <p:nvSpPr>
          <p:cNvPr id="25" name="Text 22"/>
          <p:cNvSpPr txBox="1"/>
          <p:nvPr/>
        </p:nvSpPr>
        <p:spPr>
          <a:xfrm>
            <a:off x="4864608" y="207568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Roboto, type scale, setting rules</a:t>
            </a:r>
            <a:endParaRPr lang="en-US" sz="1100" dirty="0"/>
          </a:p>
        </p:txBody>
      </p:sp>
      <p:sp>
        <p:nvSpPr>
          <p:cNvPr id="26" name="Shape 23"/>
          <p:cNvSpPr/>
          <p:nvPr/>
        </p:nvSpPr>
        <p:spPr>
          <a:xfrm>
            <a:off x="4297680" y="2724912"/>
            <a:ext cx="3520440" cy="0"/>
          </a:xfrm>
          <a:prstGeom prst="line">
            <a:avLst/>
          </a:prstGeom>
          <a:noFill/>
          <a:ln w="9525">
            <a:solidFill>
              <a:srgbClr val="E2E1EA"/>
            </a:solidFill>
            <a:prstDash val="solid"/>
          </a:ln>
        </p:spPr>
      </p:sp>
      <p:sp>
        <p:nvSpPr>
          <p:cNvPr id="27" name="Text 24"/>
          <p:cNvSpPr txBox="1"/>
          <p:nvPr/>
        </p:nvSpPr>
        <p:spPr>
          <a:xfrm>
            <a:off x="4297680" y="283464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06</a:t>
            </a:r>
            <a:endParaRPr lang="en-US" sz="1000" dirty="0"/>
          </a:p>
        </p:txBody>
      </p:sp>
      <p:sp>
        <p:nvSpPr>
          <p:cNvPr id="28" name="Text 25"/>
          <p:cNvSpPr txBox="1"/>
          <p:nvPr/>
        </p:nvSpPr>
        <p:spPr>
          <a:xfrm>
            <a:off x="4864608" y="282549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Graphic elements</a:t>
            </a:r>
            <a:endParaRPr lang="en-US" sz="1500" dirty="0"/>
          </a:p>
        </p:txBody>
      </p:sp>
      <p:sp>
        <p:nvSpPr>
          <p:cNvPr id="29" name="Text 26"/>
          <p:cNvSpPr txBox="1"/>
          <p:nvPr/>
        </p:nvSpPr>
        <p:spPr>
          <a:xfrm>
            <a:off x="4864608" y="312724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The star, the rising path, buttons, icons</a:t>
            </a:r>
            <a:endParaRPr lang="en-US" sz="1100" dirty="0"/>
          </a:p>
        </p:txBody>
      </p:sp>
      <p:sp>
        <p:nvSpPr>
          <p:cNvPr id="30" name="Shape 27"/>
          <p:cNvSpPr/>
          <p:nvPr/>
        </p:nvSpPr>
        <p:spPr>
          <a:xfrm>
            <a:off x="4297680" y="3776472"/>
            <a:ext cx="3520440" cy="0"/>
          </a:xfrm>
          <a:prstGeom prst="line">
            <a:avLst/>
          </a:prstGeom>
          <a:noFill/>
          <a:ln w="9525">
            <a:solidFill>
              <a:srgbClr val="E2E1EA"/>
            </a:solidFill>
            <a:prstDash val="solid"/>
          </a:ln>
        </p:spPr>
      </p:sp>
      <p:sp>
        <p:nvSpPr>
          <p:cNvPr id="31" name="Text 28"/>
          <p:cNvSpPr txBox="1"/>
          <p:nvPr/>
        </p:nvSpPr>
        <p:spPr>
          <a:xfrm>
            <a:off x="4297680" y="388620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07</a:t>
            </a:r>
            <a:endParaRPr lang="en-US" sz="1000" dirty="0"/>
          </a:p>
        </p:txBody>
      </p:sp>
      <p:sp>
        <p:nvSpPr>
          <p:cNvPr id="32" name="Text 29"/>
          <p:cNvSpPr txBox="1"/>
          <p:nvPr/>
        </p:nvSpPr>
        <p:spPr>
          <a:xfrm>
            <a:off x="4864608" y="387705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Photography</a:t>
            </a:r>
            <a:endParaRPr lang="en-US" sz="1500" dirty="0"/>
          </a:p>
        </p:txBody>
      </p:sp>
      <p:sp>
        <p:nvSpPr>
          <p:cNvPr id="33" name="Text 30"/>
          <p:cNvSpPr txBox="1"/>
          <p:nvPr/>
        </p:nvSpPr>
        <p:spPr>
          <a:xfrm>
            <a:off x="4864608" y="417880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Style, subjects, text on images, consent</a:t>
            </a:r>
            <a:endParaRPr lang="en-US" sz="1100" dirty="0"/>
          </a:p>
        </p:txBody>
      </p:sp>
      <p:sp>
        <p:nvSpPr>
          <p:cNvPr id="34" name="Shape 31"/>
          <p:cNvSpPr/>
          <p:nvPr/>
        </p:nvSpPr>
        <p:spPr>
          <a:xfrm>
            <a:off x="4297680" y="4828032"/>
            <a:ext cx="3520440" cy="0"/>
          </a:xfrm>
          <a:prstGeom prst="line">
            <a:avLst/>
          </a:prstGeom>
          <a:noFill/>
          <a:ln w="9525">
            <a:solidFill>
              <a:srgbClr val="E2E1EA"/>
            </a:solidFill>
            <a:prstDash val="solid"/>
          </a:ln>
        </p:spPr>
      </p:sp>
      <p:sp>
        <p:nvSpPr>
          <p:cNvPr id="35" name="Text 32"/>
          <p:cNvSpPr txBox="1"/>
          <p:nvPr/>
        </p:nvSpPr>
        <p:spPr>
          <a:xfrm>
            <a:off x="4297680" y="493776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08</a:t>
            </a:r>
            <a:endParaRPr lang="en-US" sz="1000" dirty="0"/>
          </a:p>
        </p:txBody>
      </p:sp>
      <p:sp>
        <p:nvSpPr>
          <p:cNvPr id="36" name="Text 33"/>
          <p:cNvSpPr txBox="1"/>
          <p:nvPr/>
        </p:nvSpPr>
        <p:spPr>
          <a:xfrm>
            <a:off x="4864608" y="492861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Voice &amp; tone</a:t>
            </a:r>
            <a:endParaRPr lang="en-US" sz="1500" dirty="0"/>
          </a:p>
        </p:txBody>
      </p:sp>
      <p:sp>
        <p:nvSpPr>
          <p:cNvPr id="37" name="Text 34"/>
          <p:cNvSpPr txBox="1"/>
          <p:nvPr/>
        </p:nvSpPr>
        <p:spPr>
          <a:xfrm>
            <a:off x="4864608" y="523036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How we write, words we use, boilerplate</a:t>
            </a:r>
            <a:endParaRPr lang="en-US" sz="1100" dirty="0"/>
          </a:p>
        </p:txBody>
      </p:sp>
      <p:sp>
        <p:nvSpPr>
          <p:cNvPr id="38" name="Shape 35"/>
          <p:cNvSpPr/>
          <p:nvPr/>
        </p:nvSpPr>
        <p:spPr>
          <a:xfrm>
            <a:off x="8046720" y="1673352"/>
            <a:ext cx="3520440" cy="0"/>
          </a:xfrm>
          <a:prstGeom prst="line">
            <a:avLst/>
          </a:prstGeom>
          <a:noFill/>
          <a:ln w="9525">
            <a:solidFill>
              <a:srgbClr val="E2E1EA"/>
            </a:solidFill>
            <a:prstDash val="solid"/>
          </a:ln>
        </p:spPr>
      </p:sp>
      <p:sp>
        <p:nvSpPr>
          <p:cNvPr id="39" name="Text 36"/>
          <p:cNvSpPr txBox="1"/>
          <p:nvPr/>
        </p:nvSpPr>
        <p:spPr>
          <a:xfrm>
            <a:off x="8046720" y="178308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09</a:t>
            </a:r>
            <a:endParaRPr lang="en-US" sz="1000" dirty="0"/>
          </a:p>
        </p:txBody>
      </p:sp>
      <p:sp>
        <p:nvSpPr>
          <p:cNvPr id="40" name="Text 37"/>
          <p:cNvSpPr txBox="1"/>
          <p:nvPr/>
        </p:nvSpPr>
        <p:spPr>
          <a:xfrm>
            <a:off x="8613648" y="177393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Applications</a:t>
            </a:r>
            <a:endParaRPr lang="en-US" sz="1500" dirty="0"/>
          </a:p>
        </p:txBody>
      </p:sp>
      <p:sp>
        <p:nvSpPr>
          <p:cNvPr id="41" name="Text 38"/>
          <p:cNvSpPr txBox="1"/>
          <p:nvPr/>
        </p:nvSpPr>
        <p:spPr>
          <a:xfrm>
            <a:off x="8613648" y="207568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Web, social, job ads, email, print, slides</a:t>
            </a:r>
            <a:endParaRPr lang="en-US" sz="1100" dirty="0"/>
          </a:p>
        </p:txBody>
      </p:sp>
      <p:sp>
        <p:nvSpPr>
          <p:cNvPr id="42" name="Shape 39"/>
          <p:cNvSpPr/>
          <p:nvPr/>
        </p:nvSpPr>
        <p:spPr>
          <a:xfrm>
            <a:off x="8046720" y="2724912"/>
            <a:ext cx="3520440" cy="0"/>
          </a:xfrm>
          <a:prstGeom prst="line">
            <a:avLst/>
          </a:prstGeom>
          <a:noFill/>
          <a:ln w="9525">
            <a:solidFill>
              <a:srgbClr val="E2E1EA"/>
            </a:solidFill>
            <a:prstDash val="solid"/>
          </a:ln>
        </p:spPr>
      </p:sp>
      <p:sp>
        <p:nvSpPr>
          <p:cNvPr id="43" name="Text 40"/>
          <p:cNvSpPr txBox="1"/>
          <p:nvPr/>
        </p:nvSpPr>
        <p:spPr>
          <a:xfrm>
            <a:off x="8046720" y="283464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10</a:t>
            </a:r>
            <a:endParaRPr lang="en-US" sz="1000" dirty="0"/>
          </a:p>
        </p:txBody>
      </p:sp>
      <p:sp>
        <p:nvSpPr>
          <p:cNvPr id="44" name="Text 41"/>
          <p:cNvSpPr txBox="1"/>
          <p:nvPr/>
        </p:nvSpPr>
        <p:spPr>
          <a:xfrm>
            <a:off x="8613648" y="282549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Partners &amp; linking</a:t>
            </a:r>
            <a:endParaRPr lang="en-US" sz="1500" dirty="0"/>
          </a:p>
        </p:txBody>
      </p:sp>
      <p:sp>
        <p:nvSpPr>
          <p:cNvPr id="45" name="Text 42"/>
          <p:cNvSpPr txBox="1"/>
          <p:nvPr/>
        </p:nvSpPr>
        <p:spPr>
          <a:xfrm>
            <a:off x="8613648" y="312724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Co-branding, links, approvals, compliance</a:t>
            </a:r>
            <a:endParaRPr lang="en-US" sz="1100" dirty="0"/>
          </a:p>
        </p:txBody>
      </p:sp>
      <p:sp>
        <p:nvSpPr>
          <p:cNvPr id="46" name="Shape 43"/>
          <p:cNvSpPr/>
          <p:nvPr/>
        </p:nvSpPr>
        <p:spPr>
          <a:xfrm>
            <a:off x="8046720" y="3776472"/>
            <a:ext cx="3520440" cy="0"/>
          </a:xfrm>
          <a:prstGeom prst="line">
            <a:avLst/>
          </a:prstGeom>
          <a:noFill/>
          <a:ln w="9525">
            <a:solidFill>
              <a:srgbClr val="E2E1EA"/>
            </a:solidFill>
            <a:prstDash val="solid"/>
          </a:ln>
        </p:spPr>
      </p:sp>
      <p:sp>
        <p:nvSpPr>
          <p:cNvPr id="47" name="Text 44"/>
          <p:cNvSpPr txBox="1"/>
          <p:nvPr/>
        </p:nvSpPr>
        <p:spPr>
          <a:xfrm>
            <a:off x="8046720" y="388620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11</a:t>
            </a:r>
            <a:endParaRPr lang="en-US" sz="1000" dirty="0"/>
          </a:p>
        </p:txBody>
      </p:sp>
      <p:sp>
        <p:nvSpPr>
          <p:cNvPr id="48" name="Text 45"/>
          <p:cNvSpPr txBox="1"/>
          <p:nvPr/>
        </p:nvSpPr>
        <p:spPr>
          <a:xfrm>
            <a:off x="8613648" y="387705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Checklist</a:t>
            </a:r>
            <a:endParaRPr lang="en-US" sz="1500" dirty="0"/>
          </a:p>
        </p:txBody>
      </p:sp>
      <p:sp>
        <p:nvSpPr>
          <p:cNvPr id="49" name="Text 46"/>
          <p:cNvSpPr txBox="1"/>
          <p:nvPr/>
        </p:nvSpPr>
        <p:spPr>
          <a:xfrm>
            <a:off x="8613648" y="417880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Ten checks before anything goes out</a:t>
            </a:r>
            <a:endParaRPr lang="en-US" sz="1100" dirty="0"/>
          </a:p>
        </p:txBody>
      </p:sp>
      <p:sp>
        <p:nvSpPr>
          <p:cNvPr id="50" name="Shape 47"/>
          <p:cNvSpPr/>
          <p:nvPr/>
        </p:nvSpPr>
        <p:spPr>
          <a:xfrm>
            <a:off x="8046720" y="4828032"/>
            <a:ext cx="3520440" cy="0"/>
          </a:xfrm>
          <a:prstGeom prst="line">
            <a:avLst/>
          </a:prstGeom>
          <a:noFill/>
          <a:ln w="9525">
            <a:solidFill>
              <a:srgbClr val="E2E1EA"/>
            </a:solidFill>
            <a:prstDash val="solid"/>
          </a:ln>
        </p:spPr>
      </p:sp>
      <p:sp>
        <p:nvSpPr>
          <p:cNvPr id="51" name="Text 48"/>
          <p:cNvSpPr txBox="1"/>
          <p:nvPr/>
        </p:nvSpPr>
        <p:spPr>
          <a:xfrm>
            <a:off x="8046720" y="4937760"/>
            <a:ext cx="420624" cy="420624"/>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12</a:t>
            </a:r>
            <a:endParaRPr lang="en-US" sz="1000" dirty="0"/>
          </a:p>
        </p:txBody>
      </p:sp>
      <p:sp>
        <p:nvSpPr>
          <p:cNvPr id="52" name="Text 49"/>
          <p:cNvSpPr txBox="1"/>
          <p:nvPr/>
        </p:nvSpPr>
        <p:spPr>
          <a:xfrm>
            <a:off x="8613648" y="4928616"/>
            <a:ext cx="2926080" cy="292608"/>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Open items</a:t>
            </a:r>
            <a:endParaRPr lang="en-US" sz="1500" dirty="0"/>
          </a:p>
        </p:txBody>
      </p:sp>
      <p:sp>
        <p:nvSpPr>
          <p:cNvPr id="53" name="Text 50"/>
          <p:cNvSpPr txBox="1"/>
          <p:nvPr/>
        </p:nvSpPr>
        <p:spPr>
          <a:xfrm>
            <a:off x="8613648" y="5230368"/>
            <a:ext cx="2926080" cy="45720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What still needs doing</a:t>
            </a:r>
            <a:endParaRPr lang="en-US" sz="11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01</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INTRODUCTION</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One brand, told the same way everywhere.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737360"/>
            <a:ext cx="4846320" cy="1234440"/>
          </a:xfrm>
          <a:prstGeom prst="rect">
            <a:avLst/>
          </a:prstGeom>
          <a:noFill/>
          <a:ln/>
        </p:spPr>
        <p:txBody>
          <a:bodyPr wrap="square" lIns="0" tIns="0" rIns="0" bIns="0" rtlCol="0" anchor="t"/>
          <a:lstStyle/>
          <a:p>
            <a:pPr indent="0" marL="0">
              <a:buNone/>
            </a:pPr>
            <a:r>
              <a:rPr lang="en-US" sz="1500" dirty="0">
                <a:solidFill>
                  <a:srgbClr val="474557"/>
                </a:solidFill>
                <a:latin typeface="Arial" pitchFamily="34" charset="0"/>
                <a:ea typeface="Arial" pitchFamily="34" charset="-122"/>
                <a:cs typeface="Arial" pitchFamily="34" charset="-120"/>
              </a:rPr>
              <a:t>People meet HumanRise in many places: a vacancy on LinkedIn, a call about a disciplinary hearing, a workshop, a partner’s website. Each moment should feel like the same warm, capable team.</a:t>
            </a:r>
            <a:endParaRPr lang="en-US" sz="1500" dirty="0"/>
          </a:p>
        </p:txBody>
      </p:sp>
      <p:sp>
        <p:nvSpPr>
          <p:cNvPr id="7" name="Shape 4"/>
          <p:cNvSpPr/>
          <p:nvPr/>
        </p:nvSpPr>
        <p:spPr>
          <a:xfrm>
            <a:off x="548640" y="3154680"/>
            <a:ext cx="4846320" cy="841248"/>
          </a:xfrm>
          <a:prstGeom prst="roundRect">
            <a:avLst>
              <a:gd name="adj" fmla="val 13043"/>
            </a:avLst>
          </a:prstGeom>
          <a:solidFill>
            <a:srgbClr val="F7F6FB"/>
          </a:solidFill>
          <a:ln w="9525">
            <a:solidFill>
              <a:srgbClr val="E2E1EA"/>
            </a:solidFill>
            <a:prstDash val="solid"/>
          </a:ln>
        </p:spPr>
      </p:sp>
      <p:sp>
        <p:nvSpPr>
          <p:cNvPr id="8" name="Text 5"/>
          <p:cNvSpPr txBox="1"/>
          <p:nvPr/>
        </p:nvSpPr>
        <p:spPr>
          <a:xfrm>
            <a:off x="731520" y="3273552"/>
            <a:ext cx="4480560" cy="228600"/>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OUR TEAM</a:t>
            </a:r>
            <a:endParaRPr lang="en-US" sz="950" dirty="0"/>
          </a:p>
        </p:txBody>
      </p:sp>
      <p:sp>
        <p:nvSpPr>
          <p:cNvPr id="9" name="Text 6"/>
          <p:cNvSpPr txBox="1"/>
          <p:nvPr/>
        </p:nvSpPr>
        <p:spPr>
          <a:xfrm>
            <a:off x="731520" y="3502152"/>
            <a:ext cx="4480560" cy="438912"/>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Consultants, recruiters, trainers and admin writing ads, emails, proposals and course material.</a:t>
            </a:r>
            <a:endParaRPr lang="en-US" sz="1150" dirty="0"/>
          </a:p>
        </p:txBody>
      </p:sp>
      <p:sp>
        <p:nvSpPr>
          <p:cNvPr id="10" name="Shape 7"/>
          <p:cNvSpPr/>
          <p:nvPr/>
        </p:nvSpPr>
        <p:spPr>
          <a:xfrm>
            <a:off x="548640" y="4133088"/>
            <a:ext cx="4846320" cy="841248"/>
          </a:xfrm>
          <a:prstGeom prst="roundRect">
            <a:avLst>
              <a:gd name="adj" fmla="val 13043"/>
            </a:avLst>
          </a:prstGeom>
          <a:solidFill>
            <a:srgbClr val="F7F6FB"/>
          </a:solidFill>
          <a:ln w="9525">
            <a:solidFill>
              <a:srgbClr val="E2E1EA"/>
            </a:solidFill>
            <a:prstDash val="solid"/>
          </a:ln>
        </p:spPr>
      </p:sp>
      <p:sp>
        <p:nvSpPr>
          <p:cNvPr id="11" name="Text 8"/>
          <p:cNvSpPr txBox="1"/>
          <p:nvPr/>
        </p:nvSpPr>
        <p:spPr>
          <a:xfrm>
            <a:off x="731520" y="4251960"/>
            <a:ext cx="4480560" cy="228600"/>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MAKERS</a:t>
            </a:r>
            <a:endParaRPr lang="en-US" sz="950" dirty="0"/>
          </a:p>
        </p:txBody>
      </p:sp>
      <p:sp>
        <p:nvSpPr>
          <p:cNvPr id="12" name="Text 9"/>
          <p:cNvSpPr txBox="1"/>
          <p:nvPr/>
        </p:nvSpPr>
        <p:spPr>
          <a:xfrm>
            <a:off x="731520" y="4480560"/>
            <a:ext cx="4480560" cy="438912"/>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Designers, developers, printers and agencies building the website, artwork and templates.</a:t>
            </a:r>
            <a:endParaRPr lang="en-US" sz="1150" dirty="0"/>
          </a:p>
        </p:txBody>
      </p:sp>
      <p:sp>
        <p:nvSpPr>
          <p:cNvPr id="13" name="Shape 10"/>
          <p:cNvSpPr/>
          <p:nvPr/>
        </p:nvSpPr>
        <p:spPr>
          <a:xfrm>
            <a:off x="548640" y="5111496"/>
            <a:ext cx="4846320" cy="841248"/>
          </a:xfrm>
          <a:prstGeom prst="roundRect">
            <a:avLst>
              <a:gd name="adj" fmla="val 13043"/>
            </a:avLst>
          </a:prstGeom>
          <a:solidFill>
            <a:srgbClr val="F7F6FB"/>
          </a:solidFill>
          <a:ln w="9525">
            <a:solidFill>
              <a:srgbClr val="E2E1EA"/>
            </a:solidFill>
            <a:prstDash val="solid"/>
          </a:ln>
        </p:spPr>
      </p:sp>
      <p:sp>
        <p:nvSpPr>
          <p:cNvPr id="14" name="Text 11"/>
          <p:cNvSpPr txBox="1"/>
          <p:nvPr/>
        </p:nvSpPr>
        <p:spPr>
          <a:xfrm>
            <a:off x="731520" y="5230368"/>
            <a:ext cx="4480560" cy="228600"/>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PARTNERS</a:t>
            </a:r>
            <a:endParaRPr lang="en-US" sz="950" dirty="0"/>
          </a:p>
        </p:txBody>
      </p:sp>
      <p:sp>
        <p:nvSpPr>
          <p:cNvPr id="15" name="Text 12"/>
          <p:cNvSpPr txBox="1"/>
          <p:nvPr/>
        </p:nvSpPr>
        <p:spPr>
          <a:xfrm>
            <a:off x="731520" y="5458968"/>
            <a:ext cx="4480560" cy="438912"/>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Partners, clients, venues and media who mention, link to or co-brand with us.</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760720" y="1737360"/>
          <a:ext cx="5879592" cy="914400"/>
        </p:xfrm>
        <a:graphic>
          <a:graphicData uri="http://schemas.openxmlformats.org/drawingml/2006/table">
            <a:tbl>
              <a:tblPr/>
              <a:tblGrid>
                <a:gridCol w="1600200"/>
                <a:gridCol w="4279392"/>
              </a:tblGrid>
              <a:tr h="374904">
                <a:tc gridSpan="2">
                  <a:txBody>
                    <a:bodyPr/>
                    <a:lstStyle/>
                    <a:p>
                      <a:pPr indent="0" marL="0">
                        <a:buNone/>
                      </a:pPr>
                      <a:r>
                        <a:rPr lang="en-US" sz="1100" b="1" dirty="0">
                          <a:solidFill>
                            <a:srgbClr val="23222B"/>
                          </a:solidFill>
                          <a:latin typeface="Arial" pitchFamily="34" charset="0"/>
                          <a:ea typeface="Arial" pitchFamily="34" charset="-122"/>
                          <a:cs typeface="Arial" pitchFamily="34" charset="-120"/>
                        </a:rPr>
                        <a:t>The brand at a glance</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hMerge="1">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Brand name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b="1" dirty="0">
                          <a:solidFill>
                            <a:srgbClr val="23222B"/>
                          </a:solidFill>
                          <a:latin typeface="Arial" pitchFamily="34" charset="0"/>
                          <a:ea typeface="Arial" pitchFamily="34" charset="-122"/>
                          <a:cs typeface="Arial" pitchFamily="34" charset="-120"/>
                        </a:rPr>
                        <a:t>HumanRise (one word, capital H and R)</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Registered name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HumanRise ZA (Pty) Ltd</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Tagline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b="1" dirty="0">
                          <a:solidFill>
                            <a:srgbClr val="7869BC"/>
                          </a:solidFill>
                          <a:latin typeface="Arial" pitchFamily="34" charset="0"/>
                          <a:ea typeface="Arial" pitchFamily="34" charset="-122"/>
                          <a:cs typeface="Arial" pitchFamily="34" charset="-120"/>
                        </a:rPr>
                        <a:t>Overcoming Limits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Headline line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Raising People. Raising Potential.</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What we do</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Recruitment · HR &amp; Compliance · Training &amp; Development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Where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Cape Town office, serving clients nationally</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Primary colour</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Star Purple #7869BC</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Typeface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Roboto (Office fallback: Arial)</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Web</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humanrise.co.za · jobs.humanrise.co.za</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74904">
                <a:tc>
                  <a:txBody>
                    <a:bodyPr/>
                    <a:lstStyle/>
                    <a:p>
                      <a:pPr indent="0" marL="0">
                        <a:buNone/>
                      </a:pPr>
                      <a:r>
                        <a:rPr lang="en-US" sz="1150" dirty="0">
                          <a:solidFill>
                            <a:srgbClr val="23222B"/>
                          </a:solidFill>
                          <a:latin typeface="Arial" pitchFamily="34" charset="0"/>
                          <a:ea typeface="Arial" pitchFamily="34" charset="-122"/>
                          <a:cs typeface="Arial" pitchFamily="34" charset="-120"/>
                        </a:rPr>
                        <a:t>Contact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info@humanrise.co.za · 021 001 8094</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869BC"/>
        </a:solidFill>
      </p:bgPr>
    </p:bg>
    <p:spTree>
      <p:nvGrpSpPr>
        <p:cNvPr id="1" name=""/>
        <p:cNvGrpSpPr/>
        <p:nvPr/>
      </p:nvGrpSpPr>
      <p:grpSpPr>
        <a:xfrm>
          <a:off x="0" y="0"/>
          <a:ext cx="0" cy="0"/>
          <a:chOff x="0" y="0"/>
          <a:chExt cx="0" cy="0"/>
        </a:xfrm>
      </p:grpSpPr>
      <p:pic>
        <p:nvPicPr>
          <p:cNvPr id="2" name="Image 0" descr="/home/user/HumanRise/brand/assets/star/star-white.png">    </p:cNvPr>
          <p:cNvPicPr>
            <a:picLocks noChangeAspect="1"/>
          </p:cNvPicPr>
          <p:nvPr/>
        </p:nvPicPr>
        <p:blipFill>
          <a:blip r:embed="rId1"/>
          <a:stretch>
            <a:fillRect/>
          </a:stretch>
        </p:blipFill>
        <p:spPr>
          <a:xfrm>
            <a:off x="7040880" y="914400"/>
            <a:ext cx="6217920" cy="6217920"/>
          </a:xfrm>
          <a:prstGeom prst="rect">
            <a:avLst/>
          </a:prstGeom>
        </p:spPr>
      </p:pic>
      <p:pic>
        <p:nvPicPr>
          <p:cNvPr id="3" name="Image 1" descr="/tmp/claude-0/-home-user-HumanRise/ef620e0f-4658-549d-b913-69843549f640/scratchpad/deck/img/logo-white-800.png">    </p:cNvPr>
          <p:cNvPicPr>
            <a:picLocks noChangeAspect="1"/>
          </p:cNvPicPr>
          <p:nvPr/>
        </p:nvPicPr>
        <p:blipFill>
          <a:blip r:embed="rId2"/>
          <a:stretch>
            <a:fillRect/>
          </a:stretch>
        </p:blipFill>
        <p:spPr>
          <a:xfrm>
            <a:off x="731520" y="594360"/>
            <a:ext cx="1463040" cy="929030"/>
          </a:xfrm>
          <a:prstGeom prst="rect">
            <a:avLst/>
          </a:prstGeom>
        </p:spPr>
      </p:pic>
      <p:sp>
        <p:nvSpPr>
          <p:cNvPr id="4" name="Text 0"/>
          <p:cNvSpPr txBox="1"/>
          <p:nvPr/>
        </p:nvSpPr>
        <p:spPr>
          <a:xfrm>
            <a:off x="731520" y="2468880"/>
            <a:ext cx="731520" cy="731520"/>
          </a:xfrm>
          <a:prstGeom prst="ellipse">
            <a:avLst/>
          </a:prstGeom>
          <a:solidFill>
            <a:srgbClr val="7869BC"/>
          </a:solidFill>
          <a:ln w="25400">
            <a:solidFill>
              <a:srgbClr val="FFFFF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5" name="Text 1"/>
          <p:cNvSpPr txBox="1"/>
          <p:nvPr/>
        </p:nvSpPr>
        <p:spPr>
          <a:xfrm>
            <a:off x="731520" y="3383280"/>
            <a:ext cx="7863840" cy="96012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Our story</a:t>
            </a:r>
            <a:endParaRPr lang="en-US" sz="5400" dirty="0"/>
          </a:p>
        </p:txBody>
      </p:sp>
      <p:sp>
        <p:nvSpPr>
          <p:cNvPr id="6" name="Text 2"/>
          <p:cNvSpPr txBox="1"/>
          <p:nvPr/>
        </p:nvSpPr>
        <p:spPr>
          <a:xfrm>
            <a:off x="731520" y="4480560"/>
            <a:ext cx="6400800" cy="822960"/>
          </a:xfrm>
          <a:prstGeom prst="rect">
            <a:avLst/>
          </a:prstGeom>
          <a:noFill/>
          <a:ln/>
        </p:spPr>
        <p:txBody>
          <a:bodyPr wrap="square" lIns="0" tIns="0" rIns="0" bIns="0" rtlCol="0" anchor="t"/>
          <a:lstStyle/>
          <a:p>
            <a:pPr indent="0" marL="0">
              <a:buNone/>
            </a:pPr>
            <a:r>
              <a:rPr lang="en-US" sz="1800" dirty="0">
                <a:solidFill>
                  <a:srgbClr val="EEEBF8"/>
                </a:solidFill>
                <a:latin typeface="Arial" pitchFamily="34" charset="0"/>
                <a:ea typeface="Arial" pitchFamily="34" charset="-122"/>
                <a:cs typeface="Arial" pitchFamily="34" charset="-120"/>
              </a:rPr>
              <a:t>Why we exist, what our logo means and what we stand for.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Hiring is about people, not paperwork.</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737360"/>
            <a:ext cx="5943600" cy="3566160"/>
          </a:xfrm>
          <a:prstGeom prst="rect">
            <a:avLst/>
          </a:prstGeom>
          <a:noFill/>
          <a:ln/>
        </p:spPr>
        <p:txBody>
          <a:bodyPr wrap="square" lIns="0" tIns="0" rIns="0" bIns="0" rtlCol="0" anchor="t"/>
          <a:lstStyle/>
          <a:p>
            <a:pPr indent="0" marL="0">
              <a:lnSpc>
                <a:spcPct val="110000"/>
              </a:lnSpc>
              <a:spcAft>
                <a:spcPts val="1000"/>
              </a:spcAft>
              <a:buNone/>
            </a:pPr>
            <a:r>
              <a:rPr lang="en-US" sz="1500" dirty="0">
                <a:solidFill>
                  <a:srgbClr val="23222B"/>
                </a:solidFill>
                <a:latin typeface="Arial" pitchFamily="34" charset="0"/>
                <a:ea typeface="Arial" pitchFamily="34" charset="-122"/>
                <a:cs typeface="Arial" pitchFamily="34" charset="-120"/>
              </a:rPr>
              <a:t>Behind every CV is a person with ambitions. Behind every vacancy is a team trying to grow. Too often the process between them is rushed and impersonal, and businesses pay for it with hires that don’t last.</a:t>
            </a:r>
            <a:endParaRPr lang="en-US" sz="1500" dirty="0"/>
          </a:p>
          <a:p>
            <a:pPr indent="0" marL="0">
              <a:lnSpc>
                <a:spcPct val="110000"/>
              </a:lnSpc>
              <a:spcAft>
                <a:spcPts val="1000"/>
              </a:spcAft>
              <a:buNone/>
            </a:pPr>
            <a:r>
              <a:rPr lang="en-US" sz="1500" dirty="0">
                <a:solidFill>
                  <a:srgbClr val="23222B"/>
                </a:solidFill>
                <a:latin typeface="Arial" pitchFamily="34" charset="0"/>
                <a:ea typeface="Arial" pitchFamily="34" charset="-122"/>
                <a:cs typeface="Arial" pitchFamily="34" charset="-120"/>
              </a:rPr>
              <a:t>We do it differently. We listen first. We match on skills and on fit. We take care of the HR and compliance detail so owners and managers can get back to running their business. We use modern tools, AI included, to work faster and more carefully, and a person always makes the call.</a:t>
            </a:r>
            <a:endParaRPr lang="en-US" sz="1500" dirty="0"/>
          </a:p>
          <a:p>
            <a:pPr indent="0" marL="0">
              <a:lnSpc>
                <a:spcPct val="110000"/>
              </a:lnSpc>
              <a:buNone/>
            </a:pPr>
            <a:r>
              <a:rPr lang="en-US" sz="1500" dirty="0">
                <a:solidFill>
                  <a:srgbClr val="23222B"/>
                </a:solidFill>
                <a:latin typeface="Arial" pitchFamily="34" charset="0"/>
                <a:ea typeface="Arial" pitchFamily="34" charset="-122"/>
                <a:cs typeface="Arial" pitchFamily="34" charset="-120"/>
              </a:rPr>
              <a:t>Our name says what we do. </a:t>
            </a:r>
            <a:r>
              <a:rPr lang="en-US" sz="1500" b="1" dirty="0">
                <a:solidFill>
                  <a:srgbClr val="23222B"/>
                </a:solidFill>
                <a:latin typeface="Arial" pitchFamily="34" charset="0"/>
                <a:ea typeface="Arial" pitchFamily="34" charset="-122"/>
                <a:cs typeface="Arial" pitchFamily="34" charset="-120"/>
              </a:rPr>
              <a:t>Human</a:t>
            </a:r>
            <a:r>
              <a:rPr lang="en-US" sz="1500" dirty="0">
                <a:solidFill>
                  <a:srgbClr val="23222B"/>
                </a:solidFill>
                <a:latin typeface="Arial" pitchFamily="34" charset="0"/>
                <a:ea typeface="Arial" pitchFamily="34" charset="-122"/>
                <a:cs typeface="Arial" pitchFamily="34" charset="-120"/>
              </a:rPr>
              <a:t>, because people come first. </a:t>
            </a:r>
            <a:r>
              <a:rPr lang="en-US" sz="1500" b="1" dirty="0">
                <a:solidFill>
                  <a:srgbClr val="23222B"/>
                </a:solidFill>
                <a:latin typeface="Arial" pitchFamily="34" charset="0"/>
                <a:ea typeface="Arial" pitchFamily="34" charset="-122"/>
                <a:cs typeface="Arial" pitchFamily="34" charset="-120"/>
              </a:rPr>
              <a:t>Rise</a:t>
            </a:r>
            <a:r>
              <a:rPr lang="en-US" sz="1500" dirty="0">
                <a:solidFill>
                  <a:srgbClr val="23222B"/>
                </a:solidFill>
                <a:latin typeface="Arial" pitchFamily="34" charset="0"/>
                <a:ea typeface="Arial" pitchFamily="34" charset="-122"/>
                <a:cs typeface="Arial" pitchFamily="34" charset="-120"/>
              </a:rPr>
              <a:t>, because we help people and teams go further than they thought they could.</a:t>
            </a:r>
            <a:endParaRPr lang="en-US" sz="1500" dirty="0"/>
          </a:p>
        </p:txBody>
      </p:sp>
      <p:sp>
        <p:nvSpPr>
          <p:cNvPr id="7" name="Text 4"/>
          <p:cNvSpPr txBox="1"/>
          <p:nvPr/>
        </p:nvSpPr>
        <p:spPr>
          <a:xfrm>
            <a:off x="548640" y="5440680"/>
            <a:ext cx="5943600" cy="411480"/>
          </a:xfrm>
          <a:prstGeom prst="rect">
            <a:avLst/>
          </a:prstGeom>
          <a:noFill/>
          <a:ln/>
        </p:spPr>
        <p:txBody>
          <a:bodyPr wrap="square" lIns="0" tIns="0" rIns="0" bIns="0" rtlCol="0" anchor="t"/>
          <a:lstStyle/>
          <a:p>
            <a:pPr indent="0" marL="0">
              <a:buNone/>
            </a:pPr>
            <a:r>
              <a:rPr lang="en-US" sz="2000" b="1" dirty="0">
                <a:solidFill>
                  <a:srgbClr val="23222B"/>
                </a:solidFill>
                <a:latin typeface="Arial" pitchFamily="34" charset="0"/>
                <a:ea typeface="Arial" pitchFamily="34" charset="-122"/>
                <a:cs typeface="Arial" pitchFamily="34" charset="-120"/>
              </a:rPr>
              <a:t>Our promise: </a:t>
            </a:r>
            <a:r>
              <a:rPr lang="en-US" sz="2000" b="1" dirty="0">
                <a:solidFill>
                  <a:srgbClr val="7869BC"/>
                </a:solidFill>
                <a:latin typeface="Arial" pitchFamily="34" charset="0"/>
                <a:ea typeface="Arial" pitchFamily="34" charset="-122"/>
                <a:cs typeface="Arial" pitchFamily="34" charset="-120"/>
              </a:rPr>
              <a:t>Overcoming Limits.</a:t>
            </a:r>
            <a:endParaRPr lang="en-US" sz="2000" dirty="0"/>
          </a:p>
        </p:txBody>
      </p:sp>
      <p:pic>
        <p:nvPicPr>
          <p:cNvPr id="8" name="Image 1" descr="/home/user/HumanRise/brand/assets/photos/team-2.jpg">    </p:cNvPr>
          <p:cNvPicPr>
            <a:picLocks noChangeAspect="1"/>
          </p:cNvPicPr>
          <p:nvPr/>
        </p:nvPicPr>
        <p:blipFill>
          <a:blip r:embed="rId2"/>
          <a:srcRect l="0" r="0" t="0" b="0"/>
          <a:stretch/>
        </p:blipFill>
        <p:spPr>
          <a:xfrm>
            <a:off x="6903720" y="1737360"/>
            <a:ext cx="4736592" cy="4114800"/>
          </a:xfrm>
          <a:prstGeom prst="rect">
            <a:avLst/>
          </a:prstGeom>
        </p:spPr>
      </p:pic>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Why we exist.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83080"/>
            <a:ext cx="3520440" cy="3291840"/>
          </a:xfrm>
          <a:prstGeom prst="roundRect">
            <a:avLst>
              <a:gd name="adj" fmla="val 3333"/>
            </a:avLst>
          </a:prstGeom>
          <a:solidFill>
            <a:srgbClr val="F7F6FB"/>
          </a:solidFill>
          <a:ln w="9525">
            <a:solidFill>
              <a:srgbClr val="E2E1EA"/>
            </a:solidFill>
            <a:prstDash val="solid"/>
          </a:ln>
        </p:spPr>
      </p:sp>
      <p:pic>
        <p:nvPicPr>
          <p:cNvPr id="7" name="Image 1" descr="/tmp/claude-0/-home-user-HumanRise/ef620e0f-4658-549d-b913-69843549f640/scratchpad/deck/img/star-purple-300.png">    </p:cNvPr>
          <p:cNvPicPr>
            <a:picLocks noChangeAspect="1"/>
          </p:cNvPicPr>
          <p:nvPr/>
        </p:nvPicPr>
        <p:blipFill>
          <a:blip r:embed="rId2"/>
          <a:stretch>
            <a:fillRect/>
          </a:stretch>
        </p:blipFill>
        <p:spPr>
          <a:xfrm>
            <a:off x="749808" y="1965960"/>
            <a:ext cx="685800" cy="685800"/>
          </a:xfrm>
          <a:prstGeom prst="rect">
            <a:avLst/>
          </a:prstGeom>
        </p:spPr>
      </p:pic>
      <p:sp>
        <p:nvSpPr>
          <p:cNvPr id="8" name="Text 4"/>
          <p:cNvSpPr txBox="1"/>
          <p:nvPr/>
        </p:nvSpPr>
        <p:spPr>
          <a:xfrm>
            <a:off x="822960" y="2788920"/>
            <a:ext cx="3017520"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PURPOSE · WHY WE EXIST</a:t>
            </a:r>
            <a:endParaRPr lang="en-US" sz="950" dirty="0"/>
          </a:p>
        </p:txBody>
      </p:sp>
      <p:sp>
        <p:nvSpPr>
          <p:cNvPr id="9" name="Text 5"/>
          <p:cNvSpPr txBox="1"/>
          <p:nvPr/>
        </p:nvSpPr>
        <p:spPr>
          <a:xfrm>
            <a:off x="822960" y="3108960"/>
            <a:ext cx="3017520" cy="1828800"/>
          </a:xfrm>
          <a:prstGeom prst="rect">
            <a:avLst/>
          </a:prstGeom>
          <a:noFill/>
          <a:ln/>
        </p:spPr>
        <p:txBody>
          <a:bodyPr wrap="square" lIns="0" tIns="0" rIns="0" bIns="0" rtlCol="0" anchor="t"/>
          <a:lstStyle/>
          <a:p>
            <a:pPr indent="0" marL="0">
              <a:buNone/>
            </a:pPr>
            <a:r>
              <a:rPr lang="en-US" sz="2200" b="1" dirty="0">
                <a:solidFill>
                  <a:srgbClr val="23222B"/>
                </a:solidFill>
                <a:latin typeface="Arial" pitchFamily="34" charset="0"/>
                <a:ea typeface="Arial" pitchFamily="34" charset="-122"/>
                <a:cs typeface="Arial" pitchFamily="34" charset="-120"/>
              </a:rPr>
              <a:t>To help people and teams overcome their limits.</a:t>
            </a:r>
            <a:endParaRPr lang="en-US" sz="2200" dirty="0"/>
          </a:p>
        </p:txBody>
      </p:sp>
      <p:sp>
        <p:nvSpPr>
          <p:cNvPr id="10" name="Shape 6"/>
          <p:cNvSpPr/>
          <p:nvPr/>
        </p:nvSpPr>
        <p:spPr>
          <a:xfrm>
            <a:off x="4334256" y="1783080"/>
            <a:ext cx="3520440" cy="3291840"/>
          </a:xfrm>
          <a:prstGeom prst="roundRect">
            <a:avLst>
              <a:gd name="adj" fmla="val 3333"/>
            </a:avLst>
          </a:prstGeom>
          <a:solidFill>
            <a:srgbClr val="F7F6FB"/>
          </a:solidFill>
          <a:ln w="9525">
            <a:solidFill>
              <a:srgbClr val="E2E1EA"/>
            </a:solidFill>
            <a:prstDash val="solid"/>
          </a:ln>
        </p:spPr>
      </p:sp>
      <p:pic>
        <p:nvPicPr>
          <p:cNvPr id="11" name="Image 2" descr="/tmp/claude-0/-home-user-HumanRise/ef620e0f-4658-549d-b913-69843549f640/scratchpad/deck/img/star-slate-300.png">    </p:cNvPr>
          <p:cNvPicPr>
            <a:picLocks noChangeAspect="1"/>
          </p:cNvPicPr>
          <p:nvPr/>
        </p:nvPicPr>
        <p:blipFill>
          <a:blip r:embed="rId3"/>
          <a:stretch>
            <a:fillRect/>
          </a:stretch>
        </p:blipFill>
        <p:spPr>
          <a:xfrm>
            <a:off x="4535424" y="1965960"/>
            <a:ext cx="685800" cy="685800"/>
          </a:xfrm>
          <a:prstGeom prst="rect">
            <a:avLst/>
          </a:prstGeom>
        </p:spPr>
      </p:pic>
      <p:sp>
        <p:nvSpPr>
          <p:cNvPr id="12" name="Text 7"/>
          <p:cNvSpPr txBox="1"/>
          <p:nvPr/>
        </p:nvSpPr>
        <p:spPr>
          <a:xfrm>
            <a:off x="4608576" y="2788920"/>
            <a:ext cx="3017520"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MISSION · WHAT WE DO</a:t>
            </a:r>
            <a:endParaRPr lang="en-US" sz="950" dirty="0"/>
          </a:p>
        </p:txBody>
      </p:sp>
      <p:sp>
        <p:nvSpPr>
          <p:cNvPr id="13" name="Text 8"/>
          <p:cNvSpPr txBox="1"/>
          <p:nvPr/>
        </p:nvSpPr>
        <p:spPr>
          <a:xfrm>
            <a:off x="4608576" y="3108960"/>
            <a:ext cx="3017520" cy="1828800"/>
          </a:xfrm>
          <a:prstGeom prst="rect">
            <a:avLst/>
          </a:prstGeom>
          <a:noFill/>
          <a:ln/>
        </p:spPr>
        <p:txBody>
          <a:bodyPr wrap="square" lIns="0" tIns="0" rIns="0" bIns="0" rtlCol="0" anchor="t"/>
          <a:lstStyle/>
          <a:p>
            <a:pPr indent="0" marL="0">
              <a:buNone/>
            </a:pPr>
            <a:r>
              <a:rPr lang="en-US" sz="1700" b="1" dirty="0">
                <a:solidFill>
                  <a:srgbClr val="23222B"/>
                </a:solidFill>
                <a:latin typeface="Arial" pitchFamily="34" charset="0"/>
                <a:ea typeface="Arial" pitchFamily="34" charset="-122"/>
                <a:cs typeface="Arial" pitchFamily="34" charset="-120"/>
              </a:rPr>
              <a:t>We connect great businesses with great people, and give both the HR support, training and guidance they need to grow.</a:t>
            </a:r>
            <a:endParaRPr lang="en-US" sz="1700" dirty="0"/>
          </a:p>
        </p:txBody>
      </p:sp>
      <p:sp>
        <p:nvSpPr>
          <p:cNvPr id="14" name="Shape 9"/>
          <p:cNvSpPr/>
          <p:nvPr/>
        </p:nvSpPr>
        <p:spPr>
          <a:xfrm>
            <a:off x="8119872" y="1783080"/>
            <a:ext cx="3520440" cy="3291840"/>
          </a:xfrm>
          <a:prstGeom prst="roundRect">
            <a:avLst>
              <a:gd name="adj" fmla="val 3333"/>
            </a:avLst>
          </a:prstGeom>
          <a:solidFill>
            <a:srgbClr val="F7F6FB"/>
          </a:solidFill>
          <a:ln w="9525">
            <a:solidFill>
              <a:srgbClr val="E2E1EA"/>
            </a:solidFill>
            <a:prstDash val="solid"/>
          </a:ln>
        </p:spPr>
      </p:sp>
      <p:pic>
        <p:nvPicPr>
          <p:cNvPr id="15" name="Image 3" descr="/tmp/claude-0/-home-user-HumanRise/ef620e0f-4658-549d-b913-69843549f640/scratchpad/deck/img/star-deep-300.png">    </p:cNvPr>
          <p:cNvPicPr>
            <a:picLocks noChangeAspect="1"/>
          </p:cNvPicPr>
          <p:nvPr/>
        </p:nvPicPr>
        <p:blipFill>
          <a:blip r:embed="rId4"/>
          <a:stretch>
            <a:fillRect/>
          </a:stretch>
        </p:blipFill>
        <p:spPr>
          <a:xfrm>
            <a:off x="8321040" y="1965960"/>
            <a:ext cx="685800" cy="685800"/>
          </a:xfrm>
          <a:prstGeom prst="rect">
            <a:avLst/>
          </a:prstGeom>
        </p:spPr>
      </p:pic>
      <p:sp>
        <p:nvSpPr>
          <p:cNvPr id="16" name="Text 10"/>
          <p:cNvSpPr txBox="1"/>
          <p:nvPr/>
        </p:nvSpPr>
        <p:spPr>
          <a:xfrm>
            <a:off x="8394192" y="2788920"/>
            <a:ext cx="3017520"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PROMISE · OUR TAGLINE</a:t>
            </a:r>
            <a:endParaRPr lang="en-US" sz="950" dirty="0"/>
          </a:p>
        </p:txBody>
      </p:sp>
      <p:sp>
        <p:nvSpPr>
          <p:cNvPr id="17" name="Text 11"/>
          <p:cNvSpPr txBox="1"/>
          <p:nvPr/>
        </p:nvSpPr>
        <p:spPr>
          <a:xfrm>
            <a:off x="8394192" y="3108960"/>
            <a:ext cx="3017520" cy="1828800"/>
          </a:xfrm>
          <a:prstGeom prst="rect">
            <a:avLst/>
          </a:prstGeom>
          <a:noFill/>
          <a:ln/>
        </p:spPr>
        <p:txBody>
          <a:bodyPr wrap="square" lIns="0" tIns="0" rIns="0" bIns="0" rtlCol="0" anchor="t"/>
          <a:lstStyle/>
          <a:p>
            <a:pPr indent="0" marL="0">
              <a:buNone/>
            </a:pPr>
            <a:r>
              <a:rPr lang="en-US" sz="2200" b="1" dirty="0">
                <a:solidFill>
                  <a:srgbClr val="7869BC"/>
                </a:solidFill>
                <a:latin typeface="Arial" pitchFamily="34" charset="0"/>
                <a:ea typeface="Arial" pitchFamily="34" charset="-122"/>
                <a:cs typeface="Arial" pitchFamily="34" charset="-120"/>
              </a:rPr>
              <a:t>Overcoming Limits.</a:t>
            </a:r>
            <a:endParaRPr lang="en-US" sz="2200" dirty="0"/>
          </a:p>
        </p:txBody>
      </p:sp>
      <p:sp>
        <p:nvSpPr>
          <p:cNvPr id="18" name="Text 12"/>
          <p:cNvSpPr txBox="1"/>
          <p:nvPr/>
        </p:nvSpPr>
        <p:spPr>
          <a:xfrm>
            <a:off x="548640" y="5349240"/>
            <a:ext cx="9875520" cy="548640"/>
          </a:xfrm>
          <a:prstGeom prst="rect">
            <a:avLst/>
          </a:prstGeom>
          <a:noFill/>
          <a:ln/>
        </p:spPr>
        <p:txBody>
          <a:bodyPr wrap="square" lIns="0" tIns="0" rIns="0" bIns="0" rtlCol="0" anchor="t"/>
          <a:lstStyle/>
          <a:p>
            <a:pPr indent="0" marL="0">
              <a:buNone/>
            </a:pPr>
            <a:r>
              <a:rPr lang="en-US" sz="1500" dirty="0">
                <a:solidFill>
                  <a:srgbClr val="474557"/>
                </a:solidFill>
                <a:latin typeface="Arial" pitchFamily="34" charset="0"/>
                <a:ea typeface="Arial" pitchFamily="34" charset="-122"/>
                <a:cs typeface="Arial" pitchFamily="34" charset="-120"/>
              </a:rPr>
              <a:t>Human, because people come first. Rise, because our work is about helping people and teams go further than they thought they could.</a:t>
            </a:r>
            <a:endParaRPr lang="en-US" sz="15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The idea in the logo.</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37360"/>
            <a:ext cx="5486400" cy="4206240"/>
          </a:xfrm>
          <a:prstGeom prst="roundRect">
            <a:avLst>
              <a:gd name="adj" fmla="val 2609"/>
            </a:avLst>
          </a:prstGeom>
          <a:solidFill>
            <a:srgbClr val="FFFFFF"/>
          </a:solidFill>
          <a:ln w="9525">
            <a:solidFill>
              <a:srgbClr val="E2E1EA"/>
            </a:solidFill>
            <a:prstDash val="solid"/>
          </a:ln>
        </p:spPr>
      </p:sp>
      <p:pic>
        <p:nvPicPr>
          <p:cNvPr id="7" name="Image 1" descr="/tmp/claude-0/-home-user-HumanRise/ef620e0f-4658-549d-b913-69843549f640/scratchpad/deck/img/anat.png">    </p:cNvPr>
          <p:cNvPicPr>
            <a:picLocks noChangeAspect="1"/>
          </p:cNvPicPr>
          <p:nvPr/>
        </p:nvPicPr>
        <p:blipFill>
          <a:blip r:embed="rId2"/>
          <a:stretch>
            <a:fillRect/>
          </a:stretch>
        </p:blipFill>
        <p:spPr>
          <a:xfrm>
            <a:off x="777240" y="2130552"/>
            <a:ext cx="5029200" cy="3195828"/>
          </a:xfrm>
          <a:prstGeom prst="rect">
            <a:avLst/>
          </a:prstGeom>
        </p:spPr>
      </p:pic>
      <p:sp>
        <p:nvSpPr>
          <p:cNvPr id="8" name="Text 4"/>
          <p:cNvSpPr txBox="1"/>
          <p:nvPr/>
        </p:nvSpPr>
        <p:spPr>
          <a:xfrm>
            <a:off x="6355080" y="1737360"/>
            <a:ext cx="310896" cy="310896"/>
          </a:xfrm>
          <a:prstGeom prst="ellipse">
            <a:avLst/>
          </a:prstGeom>
          <a:solidFill>
            <a:srgbClr val="456285"/>
          </a:solidFill>
          <a:ln w="6350">
            <a:solidFill>
              <a:srgbClr val="456285"/>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5"/>
          <p:cNvSpPr txBox="1"/>
          <p:nvPr/>
        </p:nvSpPr>
        <p:spPr>
          <a:xfrm>
            <a:off x="6812280" y="1719072"/>
            <a:ext cx="4828032" cy="24688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“Hum” starts soft</a:t>
            </a:r>
            <a:endParaRPr lang="en-US" sz="1300" dirty="0"/>
          </a:p>
        </p:txBody>
      </p:sp>
      <p:sp>
        <p:nvSpPr>
          <p:cNvPr id="10" name="Text 6"/>
          <p:cNvSpPr txBox="1"/>
          <p:nvPr/>
        </p:nvSpPr>
        <p:spPr>
          <a:xfrm>
            <a:off x="6812280" y="1975104"/>
            <a:ext cx="4828032" cy="41148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Lowercase and approachable, in Human Lavender: the person as they are today, on the line.</a:t>
            </a:r>
            <a:endParaRPr lang="en-US" sz="1100" dirty="0"/>
          </a:p>
        </p:txBody>
      </p:sp>
      <p:sp>
        <p:nvSpPr>
          <p:cNvPr id="11" name="Text 7"/>
          <p:cNvSpPr txBox="1"/>
          <p:nvPr/>
        </p:nvSpPr>
        <p:spPr>
          <a:xfrm>
            <a:off x="6355080" y="2450592"/>
            <a:ext cx="310896" cy="310896"/>
          </a:xfrm>
          <a:prstGeom prst="ellipse">
            <a:avLst/>
          </a:prstGeom>
          <a:solidFill>
            <a:srgbClr val="456285"/>
          </a:solidFill>
          <a:ln w="6350">
            <a:solidFill>
              <a:srgbClr val="456285"/>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8"/>
          <p:cNvSpPr txBox="1"/>
          <p:nvPr/>
        </p:nvSpPr>
        <p:spPr>
          <a:xfrm>
            <a:off x="6812280" y="2432304"/>
            <a:ext cx="4828032" cy="24688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The star replaces the “a”</a:t>
            </a:r>
            <a:endParaRPr lang="en-US" sz="1300" dirty="0"/>
          </a:p>
        </p:txBody>
      </p:sp>
      <p:sp>
        <p:nvSpPr>
          <p:cNvPr id="13" name="Text 9"/>
          <p:cNvSpPr txBox="1"/>
          <p:nvPr/>
        </p:nvSpPr>
        <p:spPr>
          <a:xfrm>
            <a:off x="6812280" y="2688336"/>
            <a:ext cx="4828032" cy="41148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Hand-drawn because we are people, imperfect but we fit in. A star because your potential is full and great.</a:t>
            </a:r>
            <a:endParaRPr lang="en-US" sz="1100" dirty="0"/>
          </a:p>
        </p:txBody>
      </p:sp>
      <p:sp>
        <p:nvSpPr>
          <p:cNvPr id="14" name="Text 10"/>
          <p:cNvSpPr txBox="1"/>
          <p:nvPr/>
        </p:nvSpPr>
        <p:spPr>
          <a:xfrm>
            <a:off x="6355080" y="3163824"/>
            <a:ext cx="310896" cy="310896"/>
          </a:xfrm>
          <a:prstGeom prst="ellipse">
            <a:avLst/>
          </a:prstGeom>
          <a:solidFill>
            <a:srgbClr val="456285"/>
          </a:solidFill>
          <a:ln w="6350">
            <a:solidFill>
              <a:srgbClr val="456285"/>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1"/>
          <p:cNvSpPr txBox="1"/>
          <p:nvPr/>
        </p:nvSpPr>
        <p:spPr>
          <a:xfrm>
            <a:off x="6812280" y="3145536"/>
            <a:ext cx="4828032" cy="24688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After the star, the “n” rises</a:t>
            </a:r>
            <a:endParaRPr lang="en-US" sz="1300" dirty="0"/>
          </a:p>
        </p:txBody>
      </p:sp>
      <p:sp>
        <p:nvSpPr>
          <p:cNvPr id="16" name="Text 12"/>
          <p:cNvSpPr txBox="1"/>
          <p:nvPr/>
        </p:nvSpPr>
        <p:spPr>
          <a:xfrm>
            <a:off x="6812280" y="3401568"/>
            <a:ext cx="4828032" cy="41148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It lifts off the baseline and turns vivid purple. Meet your potential and you rise.</a:t>
            </a:r>
            <a:endParaRPr lang="en-US" sz="1100" dirty="0"/>
          </a:p>
        </p:txBody>
      </p:sp>
      <p:sp>
        <p:nvSpPr>
          <p:cNvPr id="17" name="Text 13"/>
          <p:cNvSpPr txBox="1"/>
          <p:nvPr/>
        </p:nvSpPr>
        <p:spPr>
          <a:xfrm>
            <a:off x="6355080" y="3877056"/>
            <a:ext cx="310896" cy="310896"/>
          </a:xfrm>
          <a:prstGeom prst="ellipse">
            <a:avLst/>
          </a:prstGeom>
          <a:solidFill>
            <a:srgbClr val="456285"/>
          </a:solidFill>
          <a:ln w="6350">
            <a:solidFill>
              <a:srgbClr val="456285"/>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4"/>
          <p:cNvSpPr txBox="1"/>
          <p:nvPr/>
        </p:nvSpPr>
        <p:spPr>
          <a:xfrm>
            <a:off x="6812280" y="3858768"/>
            <a:ext cx="4828032" cy="24688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RISE in capitals</a:t>
            </a:r>
            <a:endParaRPr lang="en-US" sz="1300" dirty="0"/>
          </a:p>
        </p:txBody>
      </p:sp>
      <p:sp>
        <p:nvSpPr>
          <p:cNvPr id="19" name="Text 15"/>
          <p:cNvSpPr txBox="1"/>
          <p:nvPr/>
        </p:nvSpPr>
        <p:spPr>
          <a:xfrm>
            <a:off x="6812280" y="4114800"/>
            <a:ext cx="4828032" cy="41148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Larger and stronger: the outcome we reach together, and a call to act.</a:t>
            </a:r>
            <a:endParaRPr lang="en-US" sz="1100" dirty="0"/>
          </a:p>
        </p:txBody>
      </p:sp>
      <p:sp>
        <p:nvSpPr>
          <p:cNvPr id="20" name="Text 16"/>
          <p:cNvSpPr txBox="1"/>
          <p:nvPr/>
        </p:nvSpPr>
        <p:spPr>
          <a:xfrm>
            <a:off x="6355080" y="4590288"/>
            <a:ext cx="310896" cy="310896"/>
          </a:xfrm>
          <a:prstGeom prst="ellipse">
            <a:avLst/>
          </a:prstGeom>
          <a:solidFill>
            <a:srgbClr val="456285"/>
          </a:solidFill>
          <a:ln w="6350">
            <a:solidFill>
              <a:srgbClr val="456285"/>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7"/>
          <p:cNvSpPr txBox="1"/>
          <p:nvPr/>
        </p:nvSpPr>
        <p:spPr>
          <a:xfrm>
            <a:off x="6812280" y="4572000"/>
            <a:ext cx="4828032" cy="24688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The I breaks through</a:t>
            </a:r>
            <a:endParaRPr lang="en-US" sz="1300" dirty="0"/>
          </a:p>
        </p:txBody>
      </p:sp>
      <p:sp>
        <p:nvSpPr>
          <p:cNvPr id="22" name="Text 18"/>
          <p:cNvSpPr txBox="1"/>
          <p:nvPr/>
        </p:nvSpPr>
        <p:spPr>
          <a:xfrm>
            <a:off x="6812280" y="4828032"/>
            <a:ext cx="4828032" cy="41148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Lifted off the baseline and through the top line: the individual rising, a limit overcome.</a:t>
            </a:r>
            <a:endParaRPr lang="en-US" sz="1100" dirty="0"/>
          </a:p>
        </p:txBody>
      </p:sp>
      <p:sp>
        <p:nvSpPr>
          <p:cNvPr id="23" name="Text 19"/>
          <p:cNvSpPr txBox="1"/>
          <p:nvPr/>
        </p:nvSpPr>
        <p:spPr>
          <a:xfrm>
            <a:off x="6355080" y="5303520"/>
            <a:ext cx="310896" cy="310896"/>
          </a:xfrm>
          <a:prstGeom prst="ellipse">
            <a:avLst/>
          </a:prstGeom>
          <a:solidFill>
            <a:srgbClr val="7869BC"/>
          </a:solidFill>
          <a:ln w="6350">
            <a:solidFill>
              <a:srgbClr val="7869BC"/>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A+I</a:t>
            </a:r>
            <a:endParaRPr lang="en-US" sz="750" dirty="0"/>
          </a:p>
        </p:txBody>
      </p:sp>
      <p:sp>
        <p:nvSpPr>
          <p:cNvPr id="24" name="Text 20"/>
          <p:cNvSpPr txBox="1"/>
          <p:nvPr/>
        </p:nvSpPr>
        <p:spPr>
          <a:xfrm>
            <a:off x="6812280" y="5285232"/>
            <a:ext cx="4828032" cy="24688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Two changed letters spell AI</a:t>
            </a:r>
            <a:endParaRPr lang="en-US" sz="1300" dirty="0"/>
          </a:p>
        </p:txBody>
      </p:sp>
      <p:sp>
        <p:nvSpPr>
          <p:cNvPr id="25" name="Text 21"/>
          <p:cNvSpPr txBox="1"/>
          <p:nvPr/>
        </p:nvSpPr>
        <p:spPr>
          <a:xfrm>
            <a:off x="6812280" y="5541264"/>
            <a:ext cx="4828032" cy="41148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Forward-thinking: we use AI usefully and safely, in our own way. The human star comes first.</a:t>
            </a:r>
            <a:endParaRPr lang="en-US" sz="11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The colour flows like a career.</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691640"/>
            <a:ext cx="9601200" cy="868680"/>
          </a:xfrm>
          <a:prstGeom prst="rect">
            <a:avLst/>
          </a:prstGeom>
          <a:noFill/>
          <a:ln/>
        </p:spPr>
        <p:txBody>
          <a:bodyPr wrap="square" lIns="0" tIns="0" rIns="0" bIns="0" rtlCol="0" anchor="t"/>
          <a:lstStyle/>
          <a:p>
            <a:pPr indent="0" marL="0">
              <a:buNone/>
            </a:pPr>
            <a:r>
              <a:rPr lang="en-US" sz="1600" dirty="0">
                <a:solidFill>
                  <a:srgbClr val="474557"/>
                </a:solidFill>
                <a:latin typeface="Arial" pitchFamily="34" charset="0"/>
                <a:ea typeface="Arial" pitchFamily="34" charset="-122"/>
                <a:cs typeface="Arial" pitchFamily="34" charset="-120"/>
              </a:rPr>
              <a:t>Purple is new, fun and creative. Blue is trust, experience and stability. Read the logo top to bottom and the colour deepens the way a career grows: fresh and creative at the start, steady and experienced over time.</a:t>
            </a:r>
            <a:endParaRPr lang="en-US" sz="1600" dirty="0"/>
          </a:p>
        </p:txBody>
      </p:sp>
      <p:pic>
        <p:nvPicPr>
          <p:cNvPr id="7" name="Image 1" descr="/tmp/claude-0/-home-user-HumanRise/ef620e0f-4658-549d-b913-69843549f640/scratchpad/deck/img/flow.png">    </p:cNvPr>
          <p:cNvPicPr>
            <a:picLocks noChangeAspect="1"/>
          </p:cNvPicPr>
          <p:nvPr/>
        </p:nvPicPr>
        <p:blipFill>
          <a:blip r:embed="rId2"/>
          <a:stretch>
            <a:fillRect/>
          </a:stretch>
        </p:blipFill>
        <p:spPr>
          <a:xfrm>
            <a:off x="548640" y="2788920"/>
            <a:ext cx="11094415" cy="914400"/>
          </a:xfrm>
          <a:prstGeom prst="rect">
            <a:avLst/>
          </a:prstGeom>
        </p:spPr>
      </p:pic>
      <p:sp>
        <p:nvSpPr>
          <p:cNvPr id="8" name="Text 4"/>
          <p:cNvSpPr txBox="1"/>
          <p:nvPr/>
        </p:nvSpPr>
        <p:spPr>
          <a:xfrm>
            <a:off x="594360" y="3840480"/>
            <a:ext cx="2651760" cy="274320"/>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Human Lavender</a:t>
            </a:r>
            <a:endParaRPr lang="en-US" sz="1500" dirty="0"/>
          </a:p>
        </p:txBody>
      </p:sp>
      <p:sp>
        <p:nvSpPr>
          <p:cNvPr id="9" name="Text 5"/>
          <p:cNvSpPr txBox="1"/>
          <p:nvPr/>
        </p:nvSpPr>
        <p:spPr>
          <a:xfrm>
            <a:off x="594360" y="4133088"/>
            <a:ext cx="2651760" cy="274320"/>
          </a:xfrm>
          <a:prstGeom prst="rect">
            <a:avLst/>
          </a:prstGeom>
          <a:noFill/>
          <a:ln/>
        </p:spPr>
        <p:txBody>
          <a:bodyPr wrap="square" lIns="0" tIns="0" rIns="0" bIns="0" rtlCol="0" anchor="t"/>
          <a:lstStyle/>
          <a:p>
            <a:pPr indent="0" marL="0">
              <a:buNone/>
            </a:pPr>
            <a:r>
              <a:rPr lang="en-US" sz="1150" dirty="0">
                <a:solidFill>
                  <a:srgbClr val="6A6782"/>
                </a:solidFill>
                <a:latin typeface="Arial" pitchFamily="34" charset="0"/>
                <a:ea typeface="Arial" pitchFamily="34" charset="-122"/>
                <a:cs typeface="Arial" pitchFamily="34" charset="-120"/>
              </a:rPr>
              <a:t>#8E8AAE  ·  Starting out</a:t>
            </a:r>
            <a:endParaRPr lang="en-US" sz="1150" dirty="0"/>
          </a:p>
        </p:txBody>
      </p:sp>
      <p:sp>
        <p:nvSpPr>
          <p:cNvPr id="10" name="Text 6"/>
          <p:cNvSpPr txBox="1"/>
          <p:nvPr/>
        </p:nvSpPr>
        <p:spPr>
          <a:xfrm>
            <a:off x="3367964" y="3840480"/>
            <a:ext cx="2651760" cy="274320"/>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Star Purple</a:t>
            </a:r>
            <a:endParaRPr lang="en-US" sz="1500" dirty="0"/>
          </a:p>
        </p:txBody>
      </p:sp>
      <p:sp>
        <p:nvSpPr>
          <p:cNvPr id="11" name="Text 7"/>
          <p:cNvSpPr txBox="1"/>
          <p:nvPr/>
        </p:nvSpPr>
        <p:spPr>
          <a:xfrm>
            <a:off x="3367964" y="4133088"/>
            <a:ext cx="2651760" cy="274320"/>
          </a:xfrm>
          <a:prstGeom prst="rect">
            <a:avLst/>
          </a:prstGeom>
          <a:noFill/>
          <a:ln/>
        </p:spPr>
        <p:txBody>
          <a:bodyPr wrap="square" lIns="0" tIns="0" rIns="0" bIns="0" rtlCol="0" anchor="t"/>
          <a:lstStyle/>
          <a:p>
            <a:pPr indent="0" marL="0">
              <a:buNone/>
            </a:pPr>
            <a:r>
              <a:rPr lang="en-US" sz="1150" dirty="0">
                <a:solidFill>
                  <a:srgbClr val="6A6782"/>
                </a:solidFill>
                <a:latin typeface="Arial" pitchFamily="34" charset="0"/>
                <a:ea typeface="Arial" pitchFamily="34" charset="-122"/>
                <a:cs typeface="Arial" pitchFamily="34" charset="-120"/>
              </a:rPr>
              <a:t>#7869BC  ·  Potential, energy</a:t>
            </a:r>
            <a:endParaRPr lang="en-US" sz="1150" dirty="0"/>
          </a:p>
        </p:txBody>
      </p:sp>
      <p:sp>
        <p:nvSpPr>
          <p:cNvPr id="12" name="Text 8"/>
          <p:cNvSpPr txBox="1"/>
          <p:nvPr/>
        </p:nvSpPr>
        <p:spPr>
          <a:xfrm>
            <a:off x="6141568" y="3840480"/>
            <a:ext cx="2651760" cy="274320"/>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Rise Blue</a:t>
            </a:r>
            <a:endParaRPr lang="en-US" sz="1500" dirty="0"/>
          </a:p>
        </p:txBody>
      </p:sp>
      <p:sp>
        <p:nvSpPr>
          <p:cNvPr id="13" name="Text 9"/>
          <p:cNvSpPr txBox="1"/>
          <p:nvPr/>
        </p:nvSpPr>
        <p:spPr>
          <a:xfrm>
            <a:off x="6141568" y="4133088"/>
            <a:ext cx="2651760" cy="274320"/>
          </a:xfrm>
          <a:prstGeom prst="rect">
            <a:avLst/>
          </a:prstGeom>
          <a:noFill/>
          <a:ln/>
        </p:spPr>
        <p:txBody>
          <a:bodyPr wrap="square" lIns="0" tIns="0" rIns="0" bIns="0" rtlCol="0" anchor="t"/>
          <a:lstStyle/>
          <a:p>
            <a:pPr indent="0" marL="0">
              <a:buNone/>
            </a:pPr>
            <a:r>
              <a:rPr lang="en-US" sz="1150" dirty="0">
                <a:solidFill>
                  <a:srgbClr val="6A6782"/>
                </a:solidFill>
                <a:latin typeface="Arial" pitchFamily="34" charset="0"/>
                <a:ea typeface="Arial" pitchFamily="34" charset="-122"/>
                <a:cs typeface="Arial" pitchFamily="34" charset="-120"/>
              </a:rPr>
              <a:t>#6E86AE  ·  Growing in trust</a:t>
            </a:r>
            <a:endParaRPr lang="en-US" sz="1150" dirty="0"/>
          </a:p>
        </p:txBody>
      </p:sp>
      <p:sp>
        <p:nvSpPr>
          <p:cNvPr id="14" name="Text 10"/>
          <p:cNvSpPr txBox="1"/>
          <p:nvPr/>
        </p:nvSpPr>
        <p:spPr>
          <a:xfrm>
            <a:off x="8915171" y="3840480"/>
            <a:ext cx="2651760" cy="274320"/>
          </a:xfrm>
          <a:prstGeom prst="rect">
            <a:avLst/>
          </a:prstGeom>
          <a:noFill/>
          <a:ln/>
        </p:spPr>
        <p:txBody>
          <a:bodyPr wrap="square" lIns="0" tIns="0" rIns="0" bIns="0" rtlCol="0" anchor="t"/>
          <a:lstStyle/>
          <a:p>
            <a:pPr indent="0" marL="0">
              <a:buNone/>
            </a:pPr>
            <a:r>
              <a:rPr lang="en-US" sz="1500" b="1" dirty="0">
                <a:solidFill>
                  <a:srgbClr val="23222B"/>
                </a:solidFill>
                <a:latin typeface="Arial" pitchFamily="34" charset="0"/>
                <a:ea typeface="Arial" pitchFamily="34" charset="-122"/>
                <a:cs typeface="Arial" pitchFamily="34" charset="-120"/>
              </a:rPr>
              <a:t>Deep Rise</a:t>
            </a:r>
            <a:endParaRPr lang="en-US" sz="1500" dirty="0"/>
          </a:p>
        </p:txBody>
      </p:sp>
      <p:sp>
        <p:nvSpPr>
          <p:cNvPr id="15" name="Text 11"/>
          <p:cNvSpPr txBox="1"/>
          <p:nvPr/>
        </p:nvSpPr>
        <p:spPr>
          <a:xfrm>
            <a:off x="8915171" y="4133088"/>
            <a:ext cx="2651760" cy="274320"/>
          </a:xfrm>
          <a:prstGeom prst="rect">
            <a:avLst/>
          </a:prstGeom>
          <a:noFill/>
          <a:ln/>
        </p:spPr>
        <p:txBody>
          <a:bodyPr wrap="square" lIns="0" tIns="0" rIns="0" bIns="0" rtlCol="0" anchor="t"/>
          <a:lstStyle/>
          <a:p>
            <a:pPr indent="0" marL="0">
              <a:buNone/>
            </a:pPr>
            <a:r>
              <a:rPr lang="en-US" sz="1150" dirty="0">
                <a:solidFill>
                  <a:srgbClr val="6A6782"/>
                </a:solidFill>
                <a:latin typeface="Arial" pitchFamily="34" charset="0"/>
                <a:ea typeface="Arial" pitchFamily="34" charset="-122"/>
                <a:cs typeface="Arial" pitchFamily="34" charset="-120"/>
              </a:rPr>
              <a:t>#456285  ·  Experience, stability</a:t>
            </a:r>
            <a:endParaRPr lang="en-US" sz="1150" dirty="0"/>
          </a:p>
        </p:txBody>
      </p:sp>
      <p:sp>
        <p:nvSpPr>
          <p:cNvPr id="16" name="Shape 12"/>
          <p:cNvSpPr/>
          <p:nvPr/>
        </p:nvSpPr>
        <p:spPr>
          <a:xfrm>
            <a:off x="548640" y="4754880"/>
            <a:ext cx="11094415" cy="0"/>
          </a:xfrm>
          <a:prstGeom prst="line">
            <a:avLst/>
          </a:prstGeom>
          <a:noFill/>
          <a:ln w="9525">
            <a:solidFill>
              <a:srgbClr val="E2E1EA"/>
            </a:solidFill>
            <a:prstDash val="solid"/>
          </a:ln>
        </p:spPr>
      </p:sp>
      <p:sp>
        <p:nvSpPr>
          <p:cNvPr id="17" name="Text 13"/>
          <p:cNvSpPr txBox="1"/>
          <p:nvPr/>
        </p:nvSpPr>
        <p:spPr>
          <a:xfrm>
            <a:off x="548640" y="4892040"/>
            <a:ext cx="4572000" cy="320040"/>
          </a:xfrm>
          <a:prstGeom prst="rect">
            <a:avLst/>
          </a:prstGeom>
          <a:noFill/>
          <a:ln/>
        </p:spPr>
        <p:txBody>
          <a:bodyPr wrap="square" lIns="0" tIns="0" rIns="0" bIns="0" rtlCol="0" anchor="t"/>
          <a:lstStyle/>
          <a:p>
            <a:pPr indent="0" marL="0">
              <a:buNone/>
            </a:pPr>
            <a:r>
              <a:rPr lang="en-US" sz="1500" b="1" dirty="0">
                <a:solidFill>
                  <a:srgbClr val="5A4E8D"/>
                </a:solidFill>
                <a:latin typeface="Arial" pitchFamily="34" charset="0"/>
                <a:ea typeface="Arial" pitchFamily="34" charset="-122"/>
                <a:cs typeface="Arial" pitchFamily="34" charset="-120"/>
              </a:rPr>
              <a:t>New · fun · creative</a:t>
            </a:r>
            <a:endParaRPr lang="en-US" sz="1500" dirty="0"/>
          </a:p>
        </p:txBody>
      </p:sp>
      <p:sp>
        <p:nvSpPr>
          <p:cNvPr id="18" name="Text 14"/>
          <p:cNvSpPr txBox="1"/>
          <p:nvPr/>
        </p:nvSpPr>
        <p:spPr>
          <a:xfrm>
            <a:off x="7068312" y="4892040"/>
            <a:ext cx="4572000" cy="320040"/>
          </a:xfrm>
          <a:prstGeom prst="rect">
            <a:avLst/>
          </a:prstGeom>
          <a:noFill/>
          <a:ln/>
        </p:spPr>
        <p:txBody>
          <a:bodyPr wrap="square" lIns="0" tIns="0" rIns="0" bIns="0" rtlCol="0" anchor="t"/>
          <a:lstStyle/>
          <a:p>
            <a:pPr algn="r" indent="0" marL="0">
              <a:buNone/>
            </a:pPr>
            <a:r>
              <a:rPr lang="en-US" sz="1500" b="1" dirty="0">
                <a:solidFill>
                  <a:srgbClr val="456285"/>
                </a:solidFill>
                <a:latin typeface="Arial" pitchFamily="34" charset="0"/>
                <a:ea typeface="Arial" pitchFamily="34" charset="-122"/>
                <a:cs typeface="Arial" pitchFamily="34" charset="-120"/>
              </a:rPr>
              <a:t>Trust · experience · stability</a:t>
            </a:r>
            <a:endParaRPr lang="en-US" sz="1500" dirty="0"/>
          </a:p>
        </p:txBody>
      </p:sp>
      <p:sp>
        <p:nvSpPr>
          <p:cNvPr id="19" name="Text 15"/>
          <p:cNvSpPr txBox="1"/>
          <p:nvPr/>
        </p:nvSpPr>
        <p:spPr>
          <a:xfrm>
            <a:off x="548640" y="5440680"/>
            <a:ext cx="7315200" cy="365760"/>
          </a:xfrm>
          <a:prstGeom prst="rect">
            <a:avLst/>
          </a:prstGeom>
          <a:noFill/>
          <a:ln/>
        </p:spPr>
        <p:txBody>
          <a:bodyPr wrap="square" lIns="0" tIns="0" rIns="0" bIns="0" rtlCol="0" anchor="t"/>
          <a:lstStyle/>
          <a:p>
            <a:pPr indent="0" marL="0">
              <a:buNone/>
            </a:pPr>
            <a:r>
              <a:rPr lang="en-US" sz="1400" i="1" dirty="0">
                <a:solidFill>
                  <a:srgbClr val="474557"/>
                </a:solidFill>
                <a:latin typeface="Arial" pitchFamily="34" charset="0"/>
                <a:ea typeface="Arial" pitchFamily="34" charset="-122"/>
                <a:cs typeface="Arial" pitchFamily="34" charset="-120"/>
              </a:rPr>
              <a:t>“It grows and flows like we do in our careers.”</a:t>
            </a:r>
            <a:endParaRPr lang="en-US" sz="14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Human-led. AI-assisted.</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737360"/>
            <a:ext cx="4937760" cy="2194560"/>
          </a:xfrm>
          <a:prstGeom prst="rect">
            <a:avLst/>
          </a:prstGeom>
          <a:noFill/>
          <a:ln/>
        </p:spPr>
        <p:txBody>
          <a:bodyPr wrap="square" lIns="0" tIns="0" rIns="0" bIns="0" rtlCol="0" anchor="t"/>
          <a:lstStyle/>
          <a:p>
            <a:pPr indent="0" marL="0">
              <a:lnSpc>
                <a:spcPct val="110000"/>
              </a:lnSpc>
              <a:buNone/>
            </a:pPr>
            <a:r>
              <a:rPr lang="en-US" sz="1600" dirty="0">
                <a:solidFill>
                  <a:srgbClr val="474557"/>
                </a:solidFill>
                <a:latin typeface="Arial" pitchFamily="34" charset="0"/>
                <a:ea typeface="Arial" pitchFamily="34" charset="-122"/>
                <a:cs typeface="Arial" pitchFamily="34" charset="-120"/>
              </a:rPr>
              <a:t>The A and the I in our logo are a promise about technology. We use AI where it makes us faster, fairer and more careful: sorting applications, drafting documents, scheduling, spotting patterns. People make the decisions that affect people.</a:t>
            </a:r>
            <a:endParaRPr lang="en-US" sz="1600" dirty="0"/>
          </a:p>
        </p:txBody>
      </p:sp>
      <p:sp>
        <p:nvSpPr>
          <p:cNvPr id="7" name="Shape 4"/>
          <p:cNvSpPr/>
          <p:nvPr/>
        </p:nvSpPr>
        <p:spPr>
          <a:xfrm>
            <a:off x="548640" y="4343400"/>
            <a:ext cx="4937760" cy="1234440"/>
          </a:xfrm>
          <a:prstGeom prst="roundRect">
            <a:avLst>
              <a:gd name="adj" fmla="val 8889"/>
            </a:avLst>
          </a:prstGeom>
          <a:solidFill>
            <a:srgbClr val="F7F6FB"/>
          </a:solidFill>
          <a:ln w="9525">
            <a:solidFill>
              <a:srgbClr val="E2E1EA"/>
            </a:solidFill>
            <a:prstDash val="solid"/>
          </a:ln>
        </p:spPr>
      </p:sp>
      <p:pic>
        <p:nvPicPr>
          <p:cNvPr id="8" name="Image 1" descr="preencoded.png">    </p:cNvPr>
          <p:cNvPicPr>
            <a:picLocks noChangeAspect="1"/>
          </p:cNvPicPr>
          <p:nvPr/>
        </p:nvPicPr>
        <p:blipFill>
          <a:blip r:embed="rId2"/>
          <a:stretch>
            <a:fillRect/>
          </a:stretch>
        </p:blipFill>
        <p:spPr>
          <a:xfrm>
            <a:off x="749808" y="4553712"/>
            <a:ext cx="310896" cy="310896"/>
          </a:xfrm>
          <a:prstGeom prst="rect">
            <a:avLst/>
          </a:prstGeom>
        </p:spPr>
      </p:pic>
      <p:sp>
        <p:nvSpPr>
          <p:cNvPr id="9" name="Text 5"/>
          <p:cNvSpPr txBox="1"/>
          <p:nvPr/>
        </p:nvSpPr>
        <p:spPr>
          <a:xfrm>
            <a:off x="1207008" y="4507992"/>
            <a:ext cx="4114800" cy="96012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This keeps us in line with section 71 of POPIA, which limits decisions about a person that are based solely on automated processing.</a:t>
            </a:r>
            <a:endParaRPr lang="en-US" sz="1200" dirty="0"/>
          </a:p>
        </p:txBody>
      </p:sp>
      <p:sp>
        <p:nvSpPr>
          <p:cNvPr id="10" name="Shape 6"/>
          <p:cNvSpPr/>
          <p:nvPr/>
        </p:nvSpPr>
        <p:spPr>
          <a:xfrm>
            <a:off x="5897880" y="1737360"/>
            <a:ext cx="5742432" cy="1170432"/>
          </a:xfrm>
          <a:prstGeom prst="roundRect">
            <a:avLst>
              <a:gd name="adj" fmla="val 9375"/>
            </a:avLst>
          </a:prstGeom>
          <a:solidFill>
            <a:srgbClr val="F7F6FB"/>
          </a:solidFill>
          <a:ln w="9525">
            <a:solidFill>
              <a:srgbClr val="E2E1EA"/>
            </a:solidFill>
            <a:prstDash val="solid"/>
          </a:ln>
        </p:spPr>
      </p:sp>
      <p:pic>
        <p:nvPicPr>
          <p:cNvPr id="11" name="Image 2" descr="/tmp/claude-0/-home-user-HumanRise/ef620e0f-4658-549d-b913-69843549f640/scratchpad/deck/img/star-purple-300.png">    </p:cNvPr>
          <p:cNvPicPr>
            <a:picLocks noChangeAspect="1"/>
          </p:cNvPicPr>
          <p:nvPr/>
        </p:nvPicPr>
        <p:blipFill>
          <a:blip r:embed="rId3"/>
          <a:stretch>
            <a:fillRect/>
          </a:stretch>
        </p:blipFill>
        <p:spPr>
          <a:xfrm>
            <a:off x="6053328" y="1920240"/>
            <a:ext cx="777240" cy="777240"/>
          </a:xfrm>
          <a:prstGeom prst="rect">
            <a:avLst/>
          </a:prstGeom>
        </p:spPr>
      </p:pic>
      <p:sp>
        <p:nvSpPr>
          <p:cNvPr id="12" name="Text 7"/>
          <p:cNvSpPr txBox="1"/>
          <p:nvPr/>
        </p:nvSpPr>
        <p:spPr>
          <a:xfrm>
            <a:off x="6995160" y="1892808"/>
            <a:ext cx="4480560" cy="274320"/>
          </a:xfrm>
          <a:prstGeom prst="rect">
            <a:avLst/>
          </a:prstGeom>
          <a:noFill/>
          <a:ln/>
        </p:spPr>
        <p:txBody>
          <a:bodyPr wrap="square" lIns="0" tIns="0" rIns="0" bIns="0" rtlCol="0" anchor="t"/>
          <a:lstStyle/>
          <a:p>
            <a:pPr indent="0" marL="0">
              <a:buNone/>
            </a:pPr>
            <a:r>
              <a:rPr lang="en-US" sz="1400" b="1" dirty="0">
                <a:solidFill>
                  <a:srgbClr val="23222B"/>
                </a:solidFill>
                <a:latin typeface="Arial" pitchFamily="34" charset="0"/>
                <a:ea typeface="Arial" pitchFamily="34" charset="-122"/>
                <a:cs typeface="Arial" pitchFamily="34" charset="-120"/>
              </a:rPr>
              <a:t>A person makes the call</a:t>
            </a:r>
            <a:endParaRPr lang="en-US" sz="1400" dirty="0"/>
          </a:p>
        </p:txBody>
      </p:sp>
      <p:sp>
        <p:nvSpPr>
          <p:cNvPr id="13" name="Text 8"/>
          <p:cNvSpPr txBox="1"/>
          <p:nvPr/>
        </p:nvSpPr>
        <p:spPr>
          <a:xfrm>
            <a:off x="6995160" y="2194560"/>
            <a:ext cx="4480560" cy="64008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A HumanRise consultant reviews every CV, shortlist and HR recommendation. AI supports that work and never replaces it.</a:t>
            </a:r>
            <a:endParaRPr lang="en-US" sz="1200" dirty="0"/>
          </a:p>
        </p:txBody>
      </p:sp>
      <p:sp>
        <p:nvSpPr>
          <p:cNvPr id="14" name="Shape 9"/>
          <p:cNvSpPr/>
          <p:nvPr/>
        </p:nvSpPr>
        <p:spPr>
          <a:xfrm>
            <a:off x="5897880" y="3063240"/>
            <a:ext cx="5742432" cy="1170432"/>
          </a:xfrm>
          <a:prstGeom prst="roundRect">
            <a:avLst>
              <a:gd name="adj" fmla="val 9375"/>
            </a:avLst>
          </a:prstGeom>
          <a:solidFill>
            <a:srgbClr val="F7F6FB"/>
          </a:solidFill>
          <a:ln w="9525">
            <a:solidFill>
              <a:srgbClr val="E2E1EA"/>
            </a:solidFill>
            <a:prstDash val="solid"/>
          </a:ln>
        </p:spPr>
      </p:sp>
      <p:pic>
        <p:nvPicPr>
          <p:cNvPr id="15" name="Image 3" descr="/tmp/claude-0/-home-user-HumanRise/ef620e0f-4658-549d-b913-69843549f640/scratchpad/deck/img/star-slate-300.png">    </p:cNvPr>
          <p:cNvPicPr>
            <a:picLocks noChangeAspect="1"/>
          </p:cNvPicPr>
          <p:nvPr/>
        </p:nvPicPr>
        <p:blipFill>
          <a:blip r:embed="rId4"/>
          <a:stretch>
            <a:fillRect/>
          </a:stretch>
        </p:blipFill>
        <p:spPr>
          <a:xfrm>
            <a:off x="6053328" y="3246120"/>
            <a:ext cx="777240" cy="777240"/>
          </a:xfrm>
          <a:prstGeom prst="rect">
            <a:avLst/>
          </a:prstGeom>
        </p:spPr>
      </p:pic>
      <p:sp>
        <p:nvSpPr>
          <p:cNvPr id="16" name="Text 10"/>
          <p:cNvSpPr txBox="1"/>
          <p:nvPr/>
        </p:nvSpPr>
        <p:spPr>
          <a:xfrm>
            <a:off x="6995160" y="3218688"/>
            <a:ext cx="4480560" cy="274320"/>
          </a:xfrm>
          <a:prstGeom prst="rect">
            <a:avLst/>
          </a:prstGeom>
          <a:noFill/>
          <a:ln/>
        </p:spPr>
        <p:txBody>
          <a:bodyPr wrap="square" lIns="0" tIns="0" rIns="0" bIns="0" rtlCol="0" anchor="t"/>
          <a:lstStyle/>
          <a:p>
            <a:pPr indent="0" marL="0">
              <a:buNone/>
            </a:pPr>
            <a:r>
              <a:rPr lang="en-US" sz="1400" b="1" dirty="0">
                <a:solidFill>
                  <a:srgbClr val="23222B"/>
                </a:solidFill>
                <a:latin typeface="Arial" pitchFamily="34" charset="0"/>
                <a:ea typeface="Arial" pitchFamily="34" charset="-122"/>
                <a:cs typeface="Arial" pitchFamily="34" charset="-120"/>
              </a:rPr>
              <a:t>We’re open about it</a:t>
            </a:r>
            <a:endParaRPr lang="en-US" sz="1400" dirty="0"/>
          </a:p>
        </p:txBody>
      </p:sp>
      <p:sp>
        <p:nvSpPr>
          <p:cNvPr id="17" name="Text 11"/>
          <p:cNvSpPr txBox="1"/>
          <p:nvPr/>
        </p:nvSpPr>
        <p:spPr>
          <a:xfrm>
            <a:off x="6995160" y="3520440"/>
            <a:ext cx="4480560" cy="64008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When AI plays a part in a process that affects someone, we say so in plain language.</a:t>
            </a:r>
            <a:endParaRPr lang="en-US" sz="1200" dirty="0"/>
          </a:p>
        </p:txBody>
      </p:sp>
      <p:sp>
        <p:nvSpPr>
          <p:cNvPr id="18" name="Shape 12"/>
          <p:cNvSpPr/>
          <p:nvPr/>
        </p:nvSpPr>
        <p:spPr>
          <a:xfrm>
            <a:off x="5897880" y="4389120"/>
            <a:ext cx="5742432" cy="1170432"/>
          </a:xfrm>
          <a:prstGeom prst="roundRect">
            <a:avLst>
              <a:gd name="adj" fmla="val 9375"/>
            </a:avLst>
          </a:prstGeom>
          <a:solidFill>
            <a:srgbClr val="F7F6FB"/>
          </a:solidFill>
          <a:ln w="9525">
            <a:solidFill>
              <a:srgbClr val="E2E1EA"/>
            </a:solidFill>
            <a:prstDash val="solid"/>
          </a:ln>
        </p:spPr>
      </p:sp>
      <p:pic>
        <p:nvPicPr>
          <p:cNvPr id="19" name="Image 4" descr="/tmp/claude-0/-home-user-HumanRise/ef620e0f-4658-549d-b913-69843549f640/scratchpad/deck/img/star-deep-300.png">    </p:cNvPr>
          <p:cNvPicPr>
            <a:picLocks noChangeAspect="1"/>
          </p:cNvPicPr>
          <p:nvPr/>
        </p:nvPicPr>
        <p:blipFill>
          <a:blip r:embed="rId5"/>
          <a:stretch>
            <a:fillRect/>
          </a:stretch>
        </p:blipFill>
        <p:spPr>
          <a:xfrm>
            <a:off x="6053328" y="4572000"/>
            <a:ext cx="777240" cy="777240"/>
          </a:xfrm>
          <a:prstGeom prst="rect">
            <a:avLst/>
          </a:prstGeom>
        </p:spPr>
      </p:pic>
      <p:sp>
        <p:nvSpPr>
          <p:cNvPr id="20" name="Text 13"/>
          <p:cNvSpPr txBox="1"/>
          <p:nvPr/>
        </p:nvSpPr>
        <p:spPr>
          <a:xfrm>
            <a:off x="6995160" y="4544568"/>
            <a:ext cx="4480560" cy="274320"/>
          </a:xfrm>
          <a:prstGeom prst="rect">
            <a:avLst/>
          </a:prstGeom>
          <a:noFill/>
          <a:ln/>
        </p:spPr>
        <p:txBody>
          <a:bodyPr wrap="square" lIns="0" tIns="0" rIns="0" bIns="0" rtlCol="0" anchor="t"/>
          <a:lstStyle/>
          <a:p>
            <a:pPr indent="0" marL="0">
              <a:buNone/>
            </a:pPr>
            <a:r>
              <a:rPr lang="en-US" sz="1400" b="1" dirty="0">
                <a:solidFill>
                  <a:srgbClr val="23222B"/>
                </a:solidFill>
                <a:latin typeface="Arial" pitchFamily="34" charset="0"/>
                <a:ea typeface="Arial" pitchFamily="34" charset="-122"/>
                <a:cs typeface="Arial" pitchFamily="34" charset="-120"/>
              </a:rPr>
              <a:t>Data stays protected</a:t>
            </a:r>
            <a:endParaRPr lang="en-US" sz="1400" dirty="0"/>
          </a:p>
        </p:txBody>
      </p:sp>
      <p:sp>
        <p:nvSpPr>
          <p:cNvPr id="21" name="Text 14"/>
          <p:cNvSpPr txBox="1"/>
          <p:nvPr/>
        </p:nvSpPr>
        <p:spPr>
          <a:xfrm>
            <a:off x="6995160" y="4846320"/>
            <a:ext cx="4480560" cy="64008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We only use tools that meet our POPIA obligations, and keep personal information out of tools that don’t.</a:t>
            </a:r>
            <a:endParaRPr lang="en-US" sz="12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What we stand for.</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37360"/>
            <a:ext cx="5440680" cy="1965960"/>
          </a:xfrm>
          <a:prstGeom prst="roundRect">
            <a:avLst>
              <a:gd name="adj" fmla="val 5581"/>
            </a:avLst>
          </a:prstGeom>
          <a:solidFill>
            <a:srgbClr val="F7F6FB"/>
          </a:solidFill>
          <a:ln w="9525">
            <a:solidFill>
              <a:srgbClr val="E2E1EA"/>
            </a:solidFill>
            <a:prstDash val="solid"/>
          </a:ln>
        </p:spPr>
      </p:sp>
      <p:pic>
        <p:nvPicPr>
          <p:cNvPr id="7" name="Image 1" descr="/tmp/claude-0/-home-user-HumanRise/ef620e0f-4658-549d-b913-69843549f640/scratchpad/deck/img/star-purple-300.png">    </p:cNvPr>
          <p:cNvPicPr>
            <a:picLocks noChangeAspect="1"/>
          </p:cNvPicPr>
          <p:nvPr/>
        </p:nvPicPr>
        <p:blipFill>
          <a:blip r:embed="rId2"/>
          <a:stretch>
            <a:fillRect/>
          </a:stretch>
        </p:blipFill>
        <p:spPr>
          <a:xfrm>
            <a:off x="731520" y="1938528"/>
            <a:ext cx="658368" cy="658368"/>
          </a:xfrm>
          <a:prstGeom prst="rect">
            <a:avLst/>
          </a:prstGeom>
        </p:spPr>
      </p:pic>
      <p:sp>
        <p:nvSpPr>
          <p:cNvPr id="8" name="Text 4"/>
          <p:cNvSpPr txBox="1"/>
          <p:nvPr/>
        </p:nvSpPr>
        <p:spPr>
          <a:xfrm>
            <a:off x="1554480" y="1965960"/>
            <a:ext cx="4206240" cy="310896"/>
          </a:xfrm>
          <a:prstGeom prst="rect">
            <a:avLst/>
          </a:prstGeom>
          <a:noFill/>
          <a:ln/>
        </p:spPr>
        <p:txBody>
          <a:bodyPr wrap="square" lIns="0" tIns="0" rIns="0" bIns="0" rtlCol="0" anchor="t"/>
          <a:lstStyle/>
          <a:p>
            <a:pPr indent="0" marL="0">
              <a:buNone/>
            </a:pPr>
            <a:r>
              <a:rPr lang="en-US" sz="1700" b="1" dirty="0">
                <a:solidFill>
                  <a:srgbClr val="23222B"/>
                </a:solidFill>
                <a:latin typeface="Arial" pitchFamily="34" charset="0"/>
                <a:ea typeface="Arial" pitchFamily="34" charset="-122"/>
                <a:cs typeface="Arial" pitchFamily="34" charset="-120"/>
              </a:rPr>
              <a:t>People first</a:t>
            </a:r>
            <a:endParaRPr lang="en-US" sz="1700" dirty="0"/>
          </a:p>
        </p:txBody>
      </p:sp>
      <p:sp>
        <p:nvSpPr>
          <p:cNvPr id="9" name="Text 5"/>
          <p:cNvSpPr txBox="1"/>
          <p:nvPr/>
        </p:nvSpPr>
        <p:spPr>
          <a:xfrm>
            <a:off x="1554480" y="2331720"/>
            <a:ext cx="4206240" cy="59436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We treat candidates and clients as people, not transactions, with honesty at every step.</a:t>
            </a:r>
            <a:endParaRPr lang="en-US" sz="1250" dirty="0"/>
          </a:p>
        </p:txBody>
      </p:sp>
      <p:sp>
        <p:nvSpPr>
          <p:cNvPr id="10" name="Text 6"/>
          <p:cNvSpPr txBox="1"/>
          <p:nvPr/>
        </p:nvSpPr>
        <p:spPr>
          <a:xfrm>
            <a:off x="1554480" y="2953512"/>
            <a:ext cx="4206240" cy="640080"/>
          </a:xfrm>
          <a:prstGeom prst="rect">
            <a:avLst/>
          </a:prstGeom>
          <a:noFill/>
          <a:ln/>
        </p:spPr>
        <p:txBody>
          <a:bodyPr wrap="square" lIns="0" tIns="0" rIns="0" bIns="0" rtlCol="0" anchor="t"/>
          <a:lstStyle/>
          <a:p>
            <a:pPr indent="0" marL="0">
              <a:buNone/>
            </a:pPr>
            <a:r>
              <a:rPr lang="en-US" sz="1100" b="1" dirty="0">
                <a:solidFill>
                  <a:srgbClr val="23222B"/>
                </a:solidFill>
                <a:latin typeface="Arial" pitchFamily="34" charset="0"/>
                <a:ea typeface="Arial" pitchFamily="34" charset="-122"/>
                <a:cs typeface="Arial" pitchFamily="34" charset="-120"/>
              </a:rPr>
              <a:t>Shows up as: </a:t>
            </a:r>
            <a:r>
              <a:rPr lang="en-US" sz="1100" dirty="0">
                <a:solidFill>
                  <a:srgbClr val="6A6782"/>
                </a:solidFill>
                <a:latin typeface="Arial" pitchFamily="34" charset="0"/>
                <a:ea typeface="Arial" pitchFamily="34" charset="-122"/>
                <a:cs typeface="Arial" pitchFamily="34" charset="-120"/>
              </a:rPr>
              <a:t>Real conversations before shortlists, plain-language updates and a consultant on every CV.</a:t>
            </a:r>
            <a:endParaRPr lang="en-US" sz="1100" dirty="0"/>
          </a:p>
        </p:txBody>
      </p:sp>
      <p:sp>
        <p:nvSpPr>
          <p:cNvPr id="11" name="Shape 7"/>
          <p:cNvSpPr/>
          <p:nvPr/>
        </p:nvSpPr>
        <p:spPr>
          <a:xfrm>
            <a:off x="6199632" y="1737360"/>
            <a:ext cx="5440680" cy="1965960"/>
          </a:xfrm>
          <a:prstGeom prst="roundRect">
            <a:avLst>
              <a:gd name="adj" fmla="val 5581"/>
            </a:avLst>
          </a:prstGeom>
          <a:solidFill>
            <a:srgbClr val="F7F6FB"/>
          </a:solidFill>
          <a:ln w="9525">
            <a:solidFill>
              <a:srgbClr val="E2E1EA"/>
            </a:solidFill>
            <a:prstDash val="solid"/>
          </a:ln>
        </p:spPr>
      </p:sp>
      <p:pic>
        <p:nvPicPr>
          <p:cNvPr id="12" name="Image 2" descr="/tmp/claude-0/-home-user-HumanRise/ef620e0f-4658-549d-b913-69843549f640/scratchpad/deck/img/star-slate-300.png">    </p:cNvPr>
          <p:cNvPicPr>
            <a:picLocks noChangeAspect="1"/>
          </p:cNvPicPr>
          <p:nvPr/>
        </p:nvPicPr>
        <p:blipFill>
          <a:blip r:embed="rId3"/>
          <a:stretch>
            <a:fillRect/>
          </a:stretch>
        </p:blipFill>
        <p:spPr>
          <a:xfrm>
            <a:off x="6382512" y="1938528"/>
            <a:ext cx="658368" cy="658368"/>
          </a:xfrm>
          <a:prstGeom prst="rect">
            <a:avLst/>
          </a:prstGeom>
        </p:spPr>
      </p:pic>
      <p:sp>
        <p:nvSpPr>
          <p:cNvPr id="13" name="Text 8"/>
          <p:cNvSpPr txBox="1"/>
          <p:nvPr/>
        </p:nvSpPr>
        <p:spPr>
          <a:xfrm>
            <a:off x="7205472" y="1965960"/>
            <a:ext cx="4206240" cy="310896"/>
          </a:xfrm>
          <a:prstGeom prst="rect">
            <a:avLst/>
          </a:prstGeom>
          <a:noFill/>
          <a:ln/>
        </p:spPr>
        <p:txBody>
          <a:bodyPr wrap="square" lIns="0" tIns="0" rIns="0" bIns="0" rtlCol="0" anchor="t"/>
          <a:lstStyle/>
          <a:p>
            <a:pPr indent="0" marL="0">
              <a:buNone/>
            </a:pPr>
            <a:r>
              <a:rPr lang="en-US" sz="1700" b="1" dirty="0">
                <a:solidFill>
                  <a:srgbClr val="23222B"/>
                </a:solidFill>
                <a:latin typeface="Arial" pitchFamily="34" charset="0"/>
                <a:ea typeface="Arial" pitchFamily="34" charset="-122"/>
                <a:cs typeface="Arial" pitchFamily="34" charset="-120"/>
              </a:rPr>
              <a:t>Fit over filling</a:t>
            </a:r>
            <a:endParaRPr lang="en-US" sz="1700" dirty="0"/>
          </a:p>
        </p:txBody>
      </p:sp>
      <p:sp>
        <p:nvSpPr>
          <p:cNvPr id="14" name="Text 9"/>
          <p:cNvSpPr txBox="1"/>
          <p:nvPr/>
        </p:nvSpPr>
        <p:spPr>
          <a:xfrm>
            <a:off x="7205472" y="2331720"/>
            <a:ext cx="4206240" cy="59436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The right match beats a fast one. We aim for retention, not just placement count.</a:t>
            </a:r>
            <a:endParaRPr lang="en-US" sz="1250" dirty="0"/>
          </a:p>
        </p:txBody>
      </p:sp>
      <p:sp>
        <p:nvSpPr>
          <p:cNvPr id="15" name="Text 10"/>
          <p:cNvSpPr txBox="1"/>
          <p:nvPr/>
        </p:nvSpPr>
        <p:spPr>
          <a:xfrm>
            <a:off x="7205472" y="2953512"/>
            <a:ext cx="4206240" cy="640080"/>
          </a:xfrm>
          <a:prstGeom prst="rect">
            <a:avLst/>
          </a:prstGeom>
          <a:noFill/>
          <a:ln/>
        </p:spPr>
        <p:txBody>
          <a:bodyPr wrap="square" lIns="0" tIns="0" rIns="0" bIns="0" rtlCol="0" anchor="t"/>
          <a:lstStyle/>
          <a:p>
            <a:pPr indent="0" marL="0">
              <a:buNone/>
            </a:pPr>
            <a:r>
              <a:rPr lang="en-US" sz="1100" b="1" dirty="0">
                <a:solidFill>
                  <a:srgbClr val="23222B"/>
                </a:solidFill>
                <a:latin typeface="Arial" pitchFamily="34" charset="0"/>
                <a:ea typeface="Arial" pitchFamily="34" charset="-122"/>
                <a:cs typeface="Arial" pitchFamily="34" charset="-120"/>
              </a:rPr>
              <a:t>Shows up as: </a:t>
            </a:r>
            <a:r>
              <a:rPr lang="en-US" sz="1100" dirty="0">
                <a:solidFill>
                  <a:srgbClr val="6A6782"/>
                </a:solidFill>
                <a:latin typeface="Arial" pitchFamily="34" charset="0"/>
                <a:ea typeface="Arial" pitchFamily="34" charset="-122"/>
                <a:cs typeface="Arial" pitchFamily="34" charset="-120"/>
              </a:rPr>
              <a:t>Skills and culture-fit matching, psychometric testing, and checking in well beyond day one.</a:t>
            </a:r>
            <a:endParaRPr lang="en-US" sz="1100" dirty="0"/>
          </a:p>
        </p:txBody>
      </p:sp>
      <p:sp>
        <p:nvSpPr>
          <p:cNvPr id="16" name="Shape 11"/>
          <p:cNvSpPr/>
          <p:nvPr/>
        </p:nvSpPr>
        <p:spPr>
          <a:xfrm>
            <a:off x="548640" y="3886200"/>
            <a:ext cx="5440680" cy="1965960"/>
          </a:xfrm>
          <a:prstGeom prst="roundRect">
            <a:avLst>
              <a:gd name="adj" fmla="val 5581"/>
            </a:avLst>
          </a:prstGeom>
          <a:solidFill>
            <a:srgbClr val="F7F6FB"/>
          </a:solidFill>
          <a:ln w="9525">
            <a:solidFill>
              <a:srgbClr val="E2E1EA"/>
            </a:solidFill>
            <a:prstDash val="solid"/>
          </a:ln>
        </p:spPr>
      </p:sp>
      <p:pic>
        <p:nvPicPr>
          <p:cNvPr id="17" name="Image 3" descr="/tmp/claude-0/-home-user-HumanRise/ef620e0f-4658-549d-b913-69843549f640/scratchpad/deck/img/star-deep-300.png">    </p:cNvPr>
          <p:cNvPicPr>
            <a:picLocks noChangeAspect="1"/>
          </p:cNvPicPr>
          <p:nvPr/>
        </p:nvPicPr>
        <p:blipFill>
          <a:blip r:embed="rId4"/>
          <a:stretch>
            <a:fillRect/>
          </a:stretch>
        </p:blipFill>
        <p:spPr>
          <a:xfrm>
            <a:off x="731520" y="4087368"/>
            <a:ext cx="658368" cy="658368"/>
          </a:xfrm>
          <a:prstGeom prst="rect">
            <a:avLst/>
          </a:prstGeom>
        </p:spPr>
      </p:pic>
      <p:sp>
        <p:nvSpPr>
          <p:cNvPr id="18" name="Text 12"/>
          <p:cNvSpPr txBox="1"/>
          <p:nvPr/>
        </p:nvSpPr>
        <p:spPr>
          <a:xfrm>
            <a:off x="1554480" y="4114800"/>
            <a:ext cx="4206240" cy="310896"/>
          </a:xfrm>
          <a:prstGeom prst="rect">
            <a:avLst/>
          </a:prstGeom>
          <a:noFill/>
          <a:ln/>
        </p:spPr>
        <p:txBody>
          <a:bodyPr wrap="square" lIns="0" tIns="0" rIns="0" bIns="0" rtlCol="0" anchor="t"/>
          <a:lstStyle/>
          <a:p>
            <a:pPr indent="0" marL="0">
              <a:buNone/>
            </a:pPr>
            <a:r>
              <a:rPr lang="en-US" sz="1700" b="1" dirty="0">
                <a:solidFill>
                  <a:srgbClr val="23222B"/>
                </a:solidFill>
                <a:latin typeface="Arial" pitchFamily="34" charset="0"/>
                <a:ea typeface="Arial" pitchFamily="34" charset="-122"/>
                <a:cs typeface="Arial" pitchFamily="34" charset="-120"/>
              </a:rPr>
              <a:t>Compliance built in</a:t>
            </a:r>
            <a:endParaRPr lang="en-US" sz="1700" dirty="0"/>
          </a:p>
        </p:txBody>
      </p:sp>
      <p:sp>
        <p:nvSpPr>
          <p:cNvPr id="19" name="Text 13"/>
          <p:cNvSpPr txBox="1"/>
          <p:nvPr/>
        </p:nvSpPr>
        <p:spPr>
          <a:xfrm>
            <a:off x="1554480" y="4480560"/>
            <a:ext cx="4206240" cy="59436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POPIA-ready processes and ethical data handling are part of how we work from the start.</a:t>
            </a:r>
            <a:endParaRPr lang="en-US" sz="1250" dirty="0"/>
          </a:p>
        </p:txBody>
      </p:sp>
      <p:sp>
        <p:nvSpPr>
          <p:cNvPr id="20" name="Text 14"/>
          <p:cNvSpPr txBox="1"/>
          <p:nvPr/>
        </p:nvSpPr>
        <p:spPr>
          <a:xfrm>
            <a:off x="1554480" y="5102352"/>
            <a:ext cx="4206240" cy="640080"/>
          </a:xfrm>
          <a:prstGeom prst="rect">
            <a:avLst/>
          </a:prstGeom>
          <a:noFill/>
          <a:ln/>
        </p:spPr>
        <p:txBody>
          <a:bodyPr wrap="square" lIns="0" tIns="0" rIns="0" bIns="0" rtlCol="0" anchor="t"/>
          <a:lstStyle/>
          <a:p>
            <a:pPr indent="0" marL="0">
              <a:buNone/>
            </a:pPr>
            <a:r>
              <a:rPr lang="en-US" sz="1100" b="1" dirty="0">
                <a:solidFill>
                  <a:srgbClr val="23222B"/>
                </a:solidFill>
                <a:latin typeface="Arial" pitchFamily="34" charset="0"/>
                <a:ea typeface="Arial" pitchFamily="34" charset="-122"/>
                <a:cs typeface="Arial" pitchFamily="34" charset="-120"/>
              </a:rPr>
              <a:t>Shows up as: </a:t>
            </a:r>
            <a:r>
              <a:rPr lang="en-US" sz="1100" dirty="0">
                <a:solidFill>
                  <a:srgbClr val="6A6782"/>
                </a:solidFill>
                <a:latin typeface="Arial" pitchFamily="34" charset="0"/>
                <a:ea typeface="Arial" pitchFamily="34" charset="-122"/>
                <a:cs typeface="Arial" pitchFamily="34" charset="-120"/>
              </a:rPr>
              <a:t>Consent on every form, lawful and fair disciplinary processes, accredited training where it counts.</a:t>
            </a:r>
            <a:endParaRPr lang="en-US" sz="1100" dirty="0"/>
          </a:p>
        </p:txBody>
      </p:sp>
      <p:sp>
        <p:nvSpPr>
          <p:cNvPr id="21" name="Shape 15"/>
          <p:cNvSpPr/>
          <p:nvPr/>
        </p:nvSpPr>
        <p:spPr>
          <a:xfrm>
            <a:off x="6199632" y="3886200"/>
            <a:ext cx="5440680" cy="1965960"/>
          </a:xfrm>
          <a:prstGeom prst="roundRect">
            <a:avLst>
              <a:gd name="adj" fmla="val 5581"/>
            </a:avLst>
          </a:prstGeom>
          <a:solidFill>
            <a:srgbClr val="F7F6FB"/>
          </a:solidFill>
          <a:ln w="9525">
            <a:solidFill>
              <a:srgbClr val="E2E1EA"/>
            </a:solidFill>
            <a:prstDash val="solid"/>
          </a:ln>
        </p:spPr>
      </p:sp>
      <p:pic>
        <p:nvPicPr>
          <p:cNvPr id="22" name="Image 4" descr="/tmp/claude-0/-home-user-HumanRise/ef620e0f-4658-549d-b913-69843549f640/scratchpad/deck/img/star-purple-300.png">    </p:cNvPr>
          <p:cNvPicPr>
            <a:picLocks noChangeAspect="1"/>
          </p:cNvPicPr>
          <p:nvPr/>
        </p:nvPicPr>
        <p:blipFill>
          <a:blip r:embed="rId5"/>
          <a:stretch>
            <a:fillRect/>
          </a:stretch>
        </p:blipFill>
        <p:spPr>
          <a:xfrm>
            <a:off x="6382512" y="4087368"/>
            <a:ext cx="658368" cy="658368"/>
          </a:xfrm>
          <a:prstGeom prst="rect">
            <a:avLst/>
          </a:prstGeom>
        </p:spPr>
      </p:pic>
      <p:sp>
        <p:nvSpPr>
          <p:cNvPr id="23" name="Text 16"/>
          <p:cNvSpPr txBox="1"/>
          <p:nvPr/>
        </p:nvSpPr>
        <p:spPr>
          <a:xfrm>
            <a:off x="7205472" y="4114800"/>
            <a:ext cx="4206240" cy="310896"/>
          </a:xfrm>
          <a:prstGeom prst="rect">
            <a:avLst/>
          </a:prstGeom>
          <a:noFill/>
          <a:ln/>
        </p:spPr>
        <p:txBody>
          <a:bodyPr wrap="square" lIns="0" tIns="0" rIns="0" bIns="0" rtlCol="0" anchor="t"/>
          <a:lstStyle/>
          <a:p>
            <a:pPr indent="0" marL="0">
              <a:buNone/>
            </a:pPr>
            <a:r>
              <a:rPr lang="en-US" sz="1700" b="1" dirty="0">
                <a:solidFill>
                  <a:srgbClr val="23222B"/>
                </a:solidFill>
                <a:latin typeface="Arial" pitchFamily="34" charset="0"/>
                <a:ea typeface="Arial" pitchFamily="34" charset="-122"/>
                <a:cs typeface="Arial" pitchFamily="34" charset="-120"/>
              </a:rPr>
              <a:t>Practical &amp; affordable</a:t>
            </a:r>
            <a:endParaRPr lang="en-US" sz="1700" dirty="0"/>
          </a:p>
        </p:txBody>
      </p:sp>
      <p:sp>
        <p:nvSpPr>
          <p:cNvPr id="24" name="Text 17"/>
          <p:cNvSpPr txBox="1"/>
          <p:nvPr/>
        </p:nvSpPr>
        <p:spPr>
          <a:xfrm>
            <a:off x="7205472" y="4480560"/>
            <a:ext cx="4206240" cy="59436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Advice that works in a real business, at a price a small team can manage.</a:t>
            </a:r>
            <a:endParaRPr lang="en-US" sz="1250" dirty="0"/>
          </a:p>
        </p:txBody>
      </p:sp>
      <p:sp>
        <p:nvSpPr>
          <p:cNvPr id="25" name="Text 18"/>
          <p:cNvSpPr txBox="1"/>
          <p:nvPr/>
        </p:nvSpPr>
        <p:spPr>
          <a:xfrm>
            <a:off x="7205472" y="5102352"/>
            <a:ext cx="4206240" cy="640080"/>
          </a:xfrm>
          <a:prstGeom prst="rect">
            <a:avLst/>
          </a:prstGeom>
          <a:noFill/>
          <a:ln/>
        </p:spPr>
        <p:txBody>
          <a:bodyPr wrap="square" lIns="0" tIns="0" rIns="0" bIns="0" rtlCol="0" anchor="t"/>
          <a:lstStyle/>
          <a:p>
            <a:pPr indent="0" marL="0">
              <a:buNone/>
            </a:pPr>
            <a:r>
              <a:rPr lang="en-US" sz="1100" b="1" dirty="0">
                <a:solidFill>
                  <a:srgbClr val="23222B"/>
                </a:solidFill>
                <a:latin typeface="Arial" pitchFamily="34" charset="0"/>
                <a:ea typeface="Arial" pitchFamily="34" charset="-122"/>
                <a:cs typeface="Arial" pitchFamily="34" charset="-120"/>
              </a:rPr>
              <a:t>Shows up as: </a:t>
            </a:r>
            <a:r>
              <a:rPr lang="en-US" sz="1100" dirty="0">
                <a:solidFill>
                  <a:srgbClr val="6A6782"/>
                </a:solidFill>
                <a:latin typeface="Arial" pitchFamily="34" charset="0"/>
                <a:ea typeface="Arial" pitchFamily="34" charset="-122"/>
                <a:cs typeface="Arial" pitchFamily="34" charset="-120"/>
              </a:rPr>
              <a:t>Clear quotes, SMME-friendly options and no jargon.</a:t>
            </a:r>
            <a:endParaRPr lang="en-US" sz="11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Our personality.</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914400"/>
        </p:xfrm>
        <a:graphic>
          <a:graphicData uri="http://schemas.openxmlformats.org/drawingml/2006/table">
            <a:tbl>
              <a:tblPr/>
              <a:tblGrid>
                <a:gridCol w="1463040"/>
                <a:gridCol w="1645920"/>
                <a:gridCol w="4114800"/>
              </a:tblGrid>
              <a:tr h="502920">
                <a:tc>
                  <a:txBody>
                    <a:bodyPr/>
                    <a:lstStyle/>
                    <a:p>
                      <a:pPr indent="0" marL="0">
                        <a:buNone/>
                      </a:pPr>
                      <a:r>
                        <a:rPr lang="en-US" sz="1200" b="1" dirty="0">
                          <a:solidFill>
                            <a:srgbClr val="23222B"/>
                          </a:solidFill>
                          <a:latin typeface="Arial" pitchFamily="34" charset="0"/>
                          <a:ea typeface="Arial" pitchFamily="34" charset="-122"/>
                          <a:cs typeface="Arial" pitchFamily="34" charset="-120"/>
                        </a:rPr>
                        <a:t>We are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We are not</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In practice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502920">
                <a:tc>
                  <a:txBody>
                    <a:bodyPr/>
                    <a:lstStyle/>
                    <a:p>
                      <a:pPr indent="0" marL="0">
                        <a:buNone/>
                      </a:pPr>
                      <a:r>
                        <a:rPr lang="en-US" sz="1250" b="1" dirty="0">
                          <a:solidFill>
                            <a:srgbClr val="23222B"/>
                          </a:solidFill>
                          <a:latin typeface="Arial" pitchFamily="34" charset="0"/>
                          <a:ea typeface="Arial" pitchFamily="34" charset="-122"/>
                          <a:cs typeface="Arial" pitchFamily="34" charset="-120"/>
                        </a:rPr>
                        <a:t>Warm</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Over-familiar</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Friendly and kind, without slang or forced jokes.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02920">
                <a:tc>
                  <a:txBody>
                    <a:bodyPr/>
                    <a:lstStyle/>
                    <a:p>
                      <a:pPr indent="0" marL="0">
                        <a:buNone/>
                      </a:pPr>
                      <a:r>
                        <a:rPr lang="en-US" sz="1250" b="1" dirty="0">
                          <a:solidFill>
                            <a:srgbClr val="23222B"/>
                          </a:solidFill>
                          <a:latin typeface="Arial" pitchFamily="34" charset="0"/>
                          <a:ea typeface="Arial" pitchFamily="34" charset="-122"/>
                          <a:cs typeface="Arial" pitchFamily="34" charset="-120"/>
                        </a:rPr>
                        <a:t>Professional</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Corporate or cold</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Expert and precise, in plain words.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02920">
                <a:tc>
                  <a:txBody>
                    <a:bodyPr/>
                    <a:lstStyle/>
                    <a:p>
                      <a:pPr indent="0" marL="0">
                        <a:buNone/>
                      </a:pPr>
                      <a:r>
                        <a:rPr lang="en-US" sz="1250" b="1" dirty="0">
                          <a:solidFill>
                            <a:srgbClr val="23222B"/>
                          </a:solidFill>
                          <a:latin typeface="Arial" pitchFamily="34" charset="0"/>
                          <a:ea typeface="Arial" pitchFamily="34" charset="-122"/>
                          <a:cs typeface="Arial" pitchFamily="34" charset="-120"/>
                        </a:rPr>
                        <a:t>Confident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Pushy</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A clear recommendation, and respect for the decision.</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02920">
                <a:tc>
                  <a:txBody>
                    <a:bodyPr/>
                    <a:lstStyle/>
                    <a:p>
                      <a:pPr indent="0" marL="0">
                        <a:buNone/>
                      </a:pPr>
                      <a:r>
                        <a:rPr lang="en-US" sz="1250" b="1" dirty="0">
                          <a:solidFill>
                            <a:srgbClr val="23222B"/>
                          </a:solidFill>
                          <a:latin typeface="Arial" pitchFamily="34" charset="0"/>
                          <a:ea typeface="Arial" pitchFamily="34" charset="-122"/>
                          <a:cs typeface="Arial" pitchFamily="34" charset="-120"/>
                        </a:rPr>
                        <a:t>Clear</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Simplistic</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Short sentences that still carry the detail people need.</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02920">
                <a:tc>
                  <a:txBody>
                    <a:bodyPr/>
                    <a:lstStyle/>
                    <a:p>
                      <a:pPr indent="0" marL="0">
                        <a:buNone/>
                      </a:pPr>
                      <a:r>
                        <a:rPr lang="en-US" sz="1250" b="1" dirty="0">
                          <a:solidFill>
                            <a:srgbClr val="23222B"/>
                          </a:solidFill>
                          <a:latin typeface="Arial" pitchFamily="34" charset="0"/>
                          <a:ea typeface="Arial" pitchFamily="34" charset="-122"/>
                          <a:cs typeface="Arial" pitchFamily="34" charset="-120"/>
                        </a:rPr>
                        <a:t>Modern</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Trend-chasing</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Clean, current design and tools, AI included, used with care.</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02920">
                <a:tc>
                  <a:txBody>
                    <a:bodyPr/>
                    <a:lstStyle/>
                    <a:p>
                      <a:pPr indent="0" marL="0">
                        <a:buNone/>
                      </a:pPr>
                      <a:r>
                        <a:rPr lang="en-US" sz="1250" b="1" dirty="0">
                          <a:solidFill>
                            <a:srgbClr val="23222B"/>
                          </a:solidFill>
                          <a:latin typeface="Arial" pitchFamily="34" charset="0"/>
                          <a:ea typeface="Arial" pitchFamily="34" charset="-122"/>
                          <a:cs typeface="Arial" pitchFamily="34" charset="-120"/>
                        </a:rPr>
                        <a:t>Supportive</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Patronising</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We guide and encourage, and treat people as capable adults.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7" name="Shape 3"/>
          <p:cNvSpPr/>
          <p:nvPr/>
        </p:nvSpPr>
        <p:spPr>
          <a:xfrm>
            <a:off x="8092440" y="1737360"/>
            <a:ext cx="3547872" cy="3520440"/>
          </a:xfrm>
          <a:prstGeom prst="roundRect">
            <a:avLst>
              <a:gd name="adj" fmla="val 3117"/>
            </a:avLst>
          </a:prstGeom>
          <a:solidFill>
            <a:srgbClr val="F7F6FB"/>
          </a:solidFill>
          <a:ln w="9525">
            <a:solidFill>
              <a:srgbClr val="E2E1EA"/>
            </a:solidFill>
            <a:prstDash val="solid"/>
          </a:ln>
        </p:spPr>
      </p:sp>
      <p:pic>
        <p:nvPicPr>
          <p:cNvPr id="8" name="Image 1" descr="preencoded.png">    </p:cNvPr>
          <p:cNvPicPr>
            <a:picLocks noChangeAspect="1"/>
          </p:cNvPicPr>
          <p:nvPr/>
        </p:nvPicPr>
        <p:blipFill>
          <a:blip r:embed="rId2"/>
          <a:stretch>
            <a:fillRect/>
          </a:stretch>
        </p:blipFill>
        <p:spPr>
          <a:xfrm>
            <a:off x="8302752" y="1938528"/>
            <a:ext cx="329184" cy="329184"/>
          </a:xfrm>
          <a:prstGeom prst="rect">
            <a:avLst/>
          </a:prstGeom>
        </p:spPr>
      </p:pic>
      <p:sp>
        <p:nvSpPr>
          <p:cNvPr id="9" name="Text 4"/>
          <p:cNvSpPr txBox="1"/>
          <p:nvPr/>
        </p:nvSpPr>
        <p:spPr>
          <a:xfrm>
            <a:off x="8732520" y="1965960"/>
            <a:ext cx="2651760" cy="274320"/>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POSITIONING</a:t>
            </a:r>
            <a:endParaRPr lang="en-US" sz="950" dirty="0"/>
          </a:p>
        </p:txBody>
      </p:sp>
      <p:sp>
        <p:nvSpPr>
          <p:cNvPr id="10" name="Text 5"/>
          <p:cNvSpPr txBox="1"/>
          <p:nvPr/>
        </p:nvSpPr>
        <p:spPr>
          <a:xfrm>
            <a:off x="8302752" y="2423160"/>
            <a:ext cx="3154680" cy="2697480"/>
          </a:xfrm>
          <a:prstGeom prst="rect">
            <a:avLst/>
          </a:prstGeom>
          <a:noFill/>
          <a:ln/>
        </p:spPr>
        <p:txBody>
          <a:bodyPr wrap="square" lIns="0" tIns="0" rIns="0" bIns="0" rtlCol="0" anchor="t"/>
          <a:lstStyle/>
          <a:p>
            <a:pPr indent="0" marL="0">
              <a:buNone/>
            </a:pPr>
            <a:r>
              <a:rPr lang="en-US" sz="1550" b="1" dirty="0">
                <a:solidFill>
                  <a:srgbClr val="23222B"/>
                </a:solidFill>
                <a:latin typeface="Arial" pitchFamily="34" charset="0"/>
                <a:ea typeface="Arial" pitchFamily="34" charset="-122"/>
                <a:cs typeface="Arial" pitchFamily="34" charset="-120"/>
              </a:rPr>
              <a:t>For South African businesses and job seekers who want more than a CV shuffle, HumanRise is the people-first HR and recruitment partner that matches on fit, builds compliance in and stays involved long after the placement.</a:t>
            </a:r>
            <a:endParaRPr lang="en-US" sz="15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Who we talk to.</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37360"/>
            <a:ext cx="3520440" cy="4206240"/>
          </a:xfrm>
          <a:prstGeom prst="roundRect">
            <a:avLst>
              <a:gd name="adj" fmla="val 3117"/>
            </a:avLst>
          </a:prstGeom>
          <a:solidFill>
            <a:srgbClr val="F7F6FB"/>
          </a:solidFill>
          <a:ln w="9525">
            <a:solidFill>
              <a:srgbClr val="E2E1EA"/>
            </a:solidFill>
            <a:prstDash val="solid"/>
          </a:ln>
        </p:spPr>
      </p:sp>
      <p:sp>
        <p:nvSpPr>
          <p:cNvPr id="7" name="Text 4"/>
          <p:cNvSpPr txBox="1"/>
          <p:nvPr/>
        </p:nvSpPr>
        <p:spPr>
          <a:xfrm>
            <a:off x="804672" y="1938528"/>
            <a:ext cx="3017520"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BUSINESSES</a:t>
            </a:r>
            <a:endParaRPr lang="en-US" sz="950" dirty="0"/>
          </a:p>
        </p:txBody>
      </p:sp>
      <p:sp>
        <p:nvSpPr>
          <p:cNvPr id="8" name="Text 5"/>
          <p:cNvSpPr txBox="1"/>
          <p:nvPr/>
        </p:nvSpPr>
        <p:spPr>
          <a:xfrm>
            <a:off x="804672" y="2240280"/>
            <a:ext cx="301752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Owners, directors, managers and HR</a:t>
            </a:r>
            <a:endParaRPr lang="en-US" sz="1600" dirty="0"/>
          </a:p>
        </p:txBody>
      </p:sp>
      <p:sp>
        <p:nvSpPr>
          <p:cNvPr id="9" name="Text 6"/>
          <p:cNvSpPr txBox="1"/>
          <p:nvPr/>
        </p:nvSpPr>
        <p:spPr>
          <a:xfrm>
            <a:off x="804672" y="2926080"/>
            <a:ext cx="3017520" cy="169164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SMMEs, startups, corporates, retailers, manufacturers and professional services. They want to save time and money, improve efficiency and hire people who stay, while staying compliant.</a:t>
            </a:r>
            <a:endParaRPr lang="en-US" sz="1200" dirty="0"/>
          </a:p>
        </p:txBody>
      </p:sp>
      <p:sp>
        <p:nvSpPr>
          <p:cNvPr id="10" name="Text 7"/>
          <p:cNvSpPr txBox="1"/>
          <p:nvPr/>
        </p:nvSpPr>
        <p:spPr>
          <a:xfrm>
            <a:off x="804672" y="4681728"/>
            <a:ext cx="3017520" cy="228600"/>
          </a:xfrm>
          <a:prstGeom prst="rect">
            <a:avLst/>
          </a:prstGeom>
          <a:noFill/>
          <a:ln/>
        </p:spPr>
        <p:txBody>
          <a:bodyPr wrap="square" lIns="0" tIns="0" rIns="0" bIns="0" rtlCol="0" anchor="t"/>
          <a:lstStyle/>
          <a:p>
            <a:pPr indent="0" marL="0">
              <a:buNone/>
            </a:pPr>
            <a:r>
              <a:rPr lang="en-US" sz="900" b="1" spc="200" kern="0" dirty="0">
                <a:solidFill>
                  <a:srgbClr val="5A4E8D"/>
                </a:solidFill>
                <a:latin typeface="Arial" pitchFamily="34" charset="0"/>
                <a:ea typeface="Arial" pitchFamily="34" charset="-122"/>
                <a:cs typeface="Arial" pitchFamily="34" charset="-120"/>
              </a:rPr>
              <a:t>TELL THEM</a:t>
            </a:r>
            <a:endParaRPr lang="en-US" sz="900" dirty="0"/>
          </a:p>
        </p:txBody>
      </p:sp>
      <p:sp>
        <p:nvSpPr>
          <p:cNvPr id="11" name="Text 8"/>
          <p:cNvSpPr txBox="1"/>
          <p:nvPr/>
        </p:nvSpPr>
        <p:spPr>
          <a:xfrm>
            <a:off x="804672" y="4937760"/>
            <a:ext cx="3017520" cy="868680"/>
          </a:xfrm>
          <a:prstGeom prst="rect">
            <a:avLst/>
          </a:prstGeom>
          <a:noFill/>
          <a:ln/>
        </p:spPr>
        <p:txBody>
          <a:bodyPr wrap="square" lIns="0" tIns="0" rIns="0" bIns="0" rtlCol="0" anchor="t"/>
          <a:lstStyle/>
          <a:p>
            <a:pPr indent="0" marL="0">
              <a:buNone/>
            </a:pPr>
            <a:r>
              <a:rPr lang="en-US" sz="1250" b="1" dirty="0">
                <a:solidFill>
                  <a:srgbClr val="7869BC"/>
                </a:solidFill>
                <a:latin typeface="Arial" pitchFamily="34" charset="0"/>
                <a:ea typeface="Arial" pitchFamily="34" charset="-122"/>
                <a:cs typeface="Arial" pitchFamily="34" charset="-120"/>
              </a:rPr>
              <a:t>“We find people who raise the room, and we handle the HR detail.”</a:t>
            </a:r>
            <a:endParaRPr lang="en-US" sz="1250" dirty="0"/>
          </a:p>
        </p:txBody>
      </p:sp>
      <p:sp>
        <p:nvSpPr>
          <p:cNvPr id="12" name="Shape 9"/>
          <p:cNvSpPr/>
          <p:nvPr/>
        </p:nvSpPr>
        <p:spPr>
          <a:xfrm>
            <a:off x="4334256" y="1737360"/>
            <a:ext cx="3520440" cy="4206240"/>
          </a:xfrm>
          <a:prstGeom prst="roundRect">
            <a:avLst>
              <a:gd name="adj" fmla="val 3117"/>
            </a:avLst>
          </a:prstGeom>
          <a:solidFill>
            <a:srgbClr val="F7F6FB"/>
          </a:solidFill>
          <a:ln w="9525">
            <a:solidFill>
              <a:srgbClr val="E2E1EA"/>
            </a:solidFill>
            <a:prstDash val="solid"/>
          </a:ln>
        </p:spPr>
      </p:sp>
      <p:sp>
        <p:nvSpPr>
          <p:cNvPr id="13" name="Text 10"/>
          <p:cNvSpPr txBox="1"/>
          <p:nvPr/>
        </p:nvSpPr>
        <p:spPr>
          <a:xfrm>
            <a:off x="4590288" y="1938528"/>
            <a:ext cx="3017520"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INDIVIDUALS</a:t>
            </a:r>
            <a:endParaRPr lang="en-US" sz="950" dirty="0"/>
          </a:p>
        </p:txBody>
      </p:sp>
      <p:sp>
        <p:nvSpPr>
          <p:cNvPr id="14" name="Text 11"/>
          <p:cNvSpPr txBox="1"/>
          <p:nvPr/>
        </p:nvSpPr>
        <p:spPr>
          <a:xfrm>
            <a:off x="4590288" y="2240280"/>
            <a:ext cx="301752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Job seekers and working professionals</a:t>
            </a:r>
            <a:endParaRPr lang="en-US" sz="1600" dirty="0"/>
          </a:p>
        </p:txBody>
      </p:sp>
      <p:sp>
        <p:nvSpPr>
          <p:cNvPr id="15" name="Text 12"/>
          <p:cNvSpPr txBox="1"/>
          <p:nvPr/>
        </p:nvSpPr>
        <p:spPr>
          <a:xfrm>
            <a:off x="4590288" y="2926080"/>
            <a:ext cx="3017520" cy="169164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All ages and career stages. They value quality, speed, trust and a personal connection, and often want guidance, mentoring or coaching.</a:t>
            </a:r>
            <a:endParaRPr lang="en-US" sz="1200" dirty="0"/>
          </a:p>
        </p:txBody>
      </p:sp>
      <p:sp>
        <p:nvSpPr>
          <p:cNvPr id="16" name="Text 13"/>
          <p:cNvSpPr txBox="1"/>
          <p:nvPr/>
        </p:nvSpPr>
        <p:spPr>
          <a:xfrm>
            <a:off x="4590288" y="4681728"/>
            <a:ext cx="3017520" cy="228600"/>
          </a:xfrm>
          <a:prstGeom prst="rect">
            <a:avLst/>
          </a:prstGeom>
          <a:noFill/>
          <a:ln/>
        </p:spPr>
        <p:txBody>
          <a:bodyPr wrap="square" lIns="0" tIns="0" rIns="0" bIns="0" rtlCol="0" anchor="t"/>
          <a:lstStyle/>
          <a:p>
            <a:pPr indent="0" marL="0">
              <a:buNone/>
            </a:pPr>
            <a:r>
              <a:rPr lang="en-US" sz="900" b="1" spc="200" kern="0" dirty="0">
                <a:solidFill>
                  <a:srgbClr val="5A4E8D"/>
                </a:solidFill>
                <a:latin typeface="Arial" pitchFamily="34" charset="0"/>
                <a:ea typeface="Arial" pitchFamily="34" charset="-122"/>
                <a:cs typeface="Arial" pitchFamily="34" charset="-120"/>
              </a:rPr>
              <a:t>TELL THEM</a:t>
            </a:r>
            <a:endParaRPr lang="en-US" sz="900" dirty="0"/>
          </a:p>
        </p:txBody>
      </p:sp>
      <p:sp>
        <p:nvSpPr>
          <p:cNvPr id="17" name="Text 14"/>
          <p:cNvSpPr txBox="1"/>
          <p:nvPr/>
        </p:nvSpPr>
        <p:spPr>
          <a:xfrm>
            <a:off x="4590288" y="4937760"/>
            <a:ext cx="3017520" cy="868680"/>
          </a:xfrm>
          <a:prstGeom prst="rect">
            <a:avLst/>
          </a:prstGeom>
          <a:noFill/>
          <a:ln/>
        </p:spPr>
        <p:txBody>
          <a:bodyPr wrap="square" lIns="0" tIns="0" rIns="0" bIns="0" rtlCol="0" anchor="t"/>
          <a:lstStyle/>
          <a:p>
            <a:pPr indent="0" marL="0">
              <a:buNone/>
            </a:pPr>
            <a:r>
              <a:rPr lang="en-US" sz="1250" b="1" dirty="0">
                <a:solidFill>
                  <a:srgbClr val="7869BC"/>
                </a:solidFill>
                <a:latin typeface="Arial" pitchFamily="34" charset="0"/>
                <a:ea typeface="Arial" pitchFamily="34" charset="-122"/>
                <a:cs typeface="Arial" pitchFamily="34" charset="-120"/>
              </a:rPr>
              <a:t>“A real consultant reads your CV and matches you to roles that fit.”</a:t>
            </a:r>
            <a:endParaRPr lang="en-US" sz="1250" dirty="0"/>
          </a:p>
        </p:txBody>
      </p:sp>
      <p:sp>
        <p:nvSpPr>
          <p:cNvPr id="18" name="Shape 15"/>
          <p:cNvSpPr/>
          <p:nvPr/>
        </p:nvSpPr>
        <p:spPr>
          <a:xfrm>
            <a:off x="8119872" y="1737360"/>
            <a:ext cx="3520440" cy="4206240"/>
          </a:xfrm>
          <a:prstGeom prst="roundRect">
            <a:avLst>
              <a:gd name="adj" fmla="val 3117"/>
            </a:avLst>
          </a:prstGeom>
          <a:solidFill>
            <a:srgbClr val="F7F6FB"/>
          </a:solidFill>
          <a:ln w="9525">
            <a:solidFill>
              <a:srgbClr val="E2E1EA"/>
            </a:solidFill>
            <a:prstDash val="solid"/>
          </a:ln>
        </p:spPr>
      </p:sp>
      <p:sp>
        <p:nvSpPr>
          <p:cNvPr id="19" name="Text 16"/>
          <p:cNvSpPr txBox="1"/>
          <p:nvPr/>
        </p:nvSpPr>
        <p:spPr>
          <a:xfrm>
            <a:off x="8375904" y="1938528"/>
            <a:ext cx="3017520"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LEARNERS</a:t>
            </a:r>
            <a:endParaRPr lang="en-US" sz="950" dirty="0"/>
          </a:p>
        </p:txBody>
      </p:sp>
      <p:sp>
        <p:nvSpPr>
          <p:cNvPr id="20" name="Text 17"/>
          <p:cNvSpPr txBox="1"/>
          <p:nvPr/>
        </p:nvSpPr>
        <p:spPr>
          <a:xfrm>
            <a:off x="8375904" y="2240280"/>
            <a:ext cx="301752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Teams, managers and first-time job seekers</a:t>
            </a:r>
            <a:endParaRPr lang="en-US" sz="1600" dirty="0"/>
          </a:p>
        </p:txBody>
      </p:sp>
      <p:sp>
        <p:nvSpPr>
          <p:cNvPr id="21" name="Text 18"/>
          <p:cNvSpPr txBox="1"/>
          <p:nvPr/>
        </p:nvSpPr>
        <p:spPr>
          <a:xfrm>
            <a:off x="8375904" y="2926080"/>
            <a:ext cx="3017520" cy="1691640"/>
          </a:xfrm>
          <a:prstGeom prst="rect">
            <a:avLst/>
          </a:prstGeom>
          <a:noFill/>
          <a:ln/>
        </p:spPr>
        <p:txBody>
          <a:bodyPr wrap="square" lIns="0" tIns="0" rIns="0" bIns="0" rtlCol="0" anchor="t"/>
          <a:lstStyle/>
          <a:p>
            <a:pPr indent="0" marL="0">
              <a:buNone/>
            </a:pPr>
            <a:r>
              <a:rPr lang="en-US" sz="1200" dirty="0">
                <a:solidFill>
                  <a:srgbClr val="474557"/>
                </a:solidFill>
                <a:latin typeface="Arial" pitchFamily="34" charset="0"/>
                <a:ea typeface="Arial" pitchFamily="34" charset="-122"/>
                <a:cs typeface="Arial" pitchFamily="34" charset="-120"/>
              </a:rPr>
              <a:t>HR practitioners, supervisors, recruiters, entry-level employees and unemployed youth who want practical, recognised skills.</a:t>
            </a:r>
            <a:endParaRPr lang="en-US" sz="1200" dirty="0"/>
          </a:p>
        </p:txBody>
      </p:sp>
      <p:sp>
        <p:nvSpPr>
          <p:cNvPr id="22" name="Text 19"/>
          <p:cNvSpPr txBox="1"/>
          <p:nvPr/>
        </p:nvSpPr>
        <p:spPr>
          <a:xfrm>
            <a:off x="8375904" y="4681728"/>
            <a:ext cx="3017520" cy="228600"/>
          </a:xfrm>
          <a:prstGeom prst="rect">
            <a:avLst/>
          </a:prstGeom>
          <a:noFill/>
          <a:ln/>
        </p:spPr>
        <p:txBody>
          <a:bodyPr wrap="square" lIns="0" tIns="0" rIns="0" bIns="0" rtlCol="0" anchor="t"/>
          <a:lstStyle/>
          <a:p>
            <a:pPr indent="0" marL="0">
              <a:buNone/>
            </a:pPr>
            <a:r>
              <a:rPr lang="en-US" sz="900" b="1" spc="200" kern="0" dirty="0">
                <a:solidFill>
                  <a:srgbClr val="5A4E8D"/>
                </a:solidFill>
                <a:latin typeface="Arial" pitchFamily="34" charset="0"/>
                <a:ea typeface="Arial" pitchFamily="34" charset="-122"/>
                <a:cs typeface="Arial" pitchFamily="34" charset="-120"/>
              </a:rPr>
              <a:t>TELL THEM</a:t>
            </a:r>
            <a:endParaRPr lang="en-US" sz="900" dirty="0"/>
          </a:p>
        </p:txBody>
      </p:sp>
      <p:sp>
        <p:nvSpPr>
          <p:cNvPr id="23" name="Text 20"/>
          <p:cNvSpPr txBox="1"/>
          <p:nvPr/>
        </p:nvSpPr>
        <p:spPr>
          <a:xfrm>
            <a:off x="8375904" y="4937760"/>
            <a:ext cx="3017520" cy="868680"/>
          </a:xfrm>
          <a:prstGeom prst="rect">
            <a:avLst/>
          </a:prstGeom>
          <a:noFill/>
          <a:ln/>
        </p:spPr>
        <p:txBody>
          <a:bodyPr wrap="square" lIns="0" tIns="0" rIns="0" bIns="0" rtlCol="0" anchor="t"/>
          <a:lstStyle/>
          <a:p>
            <a:pPr indent="0" marL="0">
              <a:buNone/>
            </a:pPr>
            <a:r>
              <a:rPr lang="en-US" sz="1250" b="1" dirty="0">
                <a:solidFill>
                  <a:srgbClr val="7869BC"/>
                </a:solidFill>
                <a:latin typeface="Arial" pitchFamily="34" charset="0"/>
                <a:ea typeface="Arial" pitchFamily="34" charset="-122"/>
                <a:cs typeface="Arial" pitchFamily="34" charset="-120"/>
              </a:rPr>
              <a:t>“Practical training, accredited where it counts.”</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OUR STORY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One master brand.</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4270248" y="1691640"/>
            <a:ext cx="3657600" cy="868680"/>
          </a:xfrm>
          <a:prstGeom prst="roundRect">
            <a:avLst>
              <a:gd name="adj" fmla="val 12632"/>
            </a:avLst>
          </a:prstGeom>
          <a:solidFill>
            <a:srgbClr val="456285"/>
          </a:solidFill>
          <a:ln w="9525">
            <a:solidFill>
              <a:srgbClr val="456285"/>
            </a:solidFill>
            <a:prstDash val="solid"/>
          </a:ln>
        </p:spPr>
      </p:sp>
      <p:pic>
        <p:nvPicPr>
          <p:cNvPr id="7" name="Image 1" descr="/tmp/claude-0/-home-user-HumanRise/ef620e0f-4658-549d-b913-69843549f640/scratchpad/deck/img/logo-white-800.png">    </p:cNvPr>
          <p:cNvPicPr>
            <a:picLocks noChangeAspect="1"/>
          </p:cNvPicPr>
          <p:nvPr/>
        </p:nvPicPr>
        <p:blipFill>
          <a:blip r:embed="rId2"/>
          <a:stretch>
            <a:fillRect/>
          </a:stretch>
        </p:blipFill>
        <p:spPr>
          <a:xfrm>
            <a:off x="4480560" y="1773936"/>
            <a:ext cx="1115568" cy="708660"/>
          </a:xfrm>
          <a:prstGeom prst="rect">
            <a:avLst/>
          </a:prstGeom>
        </p:spPr>
      </p:pic>
      <p:sp>
        <p:nvSpPr>
          <p:cNvPr id="8" name="Text 4"/>
          <p:cNvSpPr txBox="1"/>
          <p:nvPr/>
        </p:nvSpPr>
        <p:spPr>
          <a:xfrm>
            <a:off x="5715000" y="1828800"/>
            <a:ext cx="2148840" cy="6400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HumanRise</a:t>
            </a:r>
            <a:endParaRPr lang="en-US" sz="1600" dirty="0"/>
          </a:p>
          <a:p>
            <a:pPr indent="0" marL="0">
              <a:buNone/>
            </a:pPr>
            <a:r>
              <a:rPr lang="en-US" sz="1100" dirty="0">
                <a:solidFill>
                  <a:srgbClr val="DAE0EA"/>
                </a:solidFill>
                <a:latin typeface="Arial" pitchFamily="34" charset="0"/>
                <a:ea typeface="Arial" pitchFamily="34" charset="-122"/>
                <a:cs typeface="Arial" pitchFamily="34" charset="-120"/>
              </a:rPr>
              <a:t>Master brand: the logo, always present</a:t>
            </a:r>
            <a:endParaRPr lang="en-US" sz="1600" dirty="0"/>
          </a:p>
        </p:txBody>
      </p:sp>
      <p:sp>
        <p:nvSpPr>
          <p:cNvPr id="9" name="Shape 5"/>
          <p:cNvSpPr/>
          <p:nvPr/>
        </p:nvSpPr>
        <p:spPr>
          <a:xfrm>
            <a:off x="6099048" y="2560320"/>
            <a:ext cx="0" cy="274320"/>
          </a:xfrm>
          <a:prstGeom prst="line">
            <a:avLst/>
          </a:prstGeom>
          <a:noFill/>
          <a:ln w="19050">
            <a:solidFill>
              <a:srgbClr val="C6C4D6"/>
            </a:solidFill>
            <a:prstDash val="solid"/>
          </a:ln>
        </p:spPr>
      </p:sp>
      <p:sp>
        <p:nvSpPr>
          <p:cNvPr id="10" name="Shape 6"/>
          <p:cNvSpPr/>
          <p:nvPr/>
        </p:nvSpPr>
        <p:spPr>
          <a:xfrm>
            <a:off x="2286000" y="2834640"/>
            <a:ext cx="7626096" cy="0"/>
          </a:xfrm>
          <a:prstGeom prst="line">
            <a:avLst/>
          </a:prstGeom>
          <a:noFill/>
          <a:ln w="19050">
            <a:solidFill>
              <a:srgbClr val="C6C4D6"/>
            </a:solidFill>
            <a:prstDash val="solid"/>
          </a:ln>
        </p:spPr>
      </p:sp>
      <p:sp>
        <p:nvSpPr>
          <p:cNvPr id="11" name="Shape 7"/>
          <p:cNvSpPr/>
          <p:nvPr/>
        </p:nvSpPr>
        <p:spPr>
          <a:xfrm>
            <a:off x="2286000" y="2834640"/>
            <a:ext cx="0" cy="274320"/>
          </a:xfrm>
          <a:prstGeom prst="line">
            <a:avLst/>
          </a:prstGeom>
          <a:noFill/>
          <a:ln w="19050">
            <a:solidFill>
              <a:srgbClr val="C6C4D6"/>
            </a:solidFill>
            <a:prstDash val="solid"/>
          </a:ln>
        </p:spPr>
      </p:sp>
      <p:sp>
        <p:nvSpPr>
          <p:cNvPr id="12" name="Shape 8"/>
          <p:cNvSpPr/>
          <p:nvPr/>
        </p:nvSpPr>
        <p:spPr>
          <a:xfrm>
            <a:off x="548640" y="3108960"/>
            <a:ext cx="3474720" cy="566928"/>
          </a:xfrm>
          <a:prstGeom prst="roundRect">
            <a:avLst>
              <a:gd name="adj" fmla="val 19355"/>
            </a:avLst>
          </a:prstGeom>
          <a:solidFill>
            <a:srgbClr val="F7F6FB"/>
          </a:solidFill>
          <a:ln w="9525">
            <a:solidFill>
              <a:srgbClr val="E2E1EA"/>
            </a:solidFill>
            <a:prstDash val="solid"/>
          </a:ln>
        </p:spPr>
      </p:sp>
      <p:sp>
        <p:nvSpPr>
          <p:cNvPr id="13" name="Text 9"/>
          <p:cNvSpPr txBox="1"/>
          <p:nvPr/>
        </p:nvSpPr>
        <p:spPr>
          <a:xfrm>
            <a:off x="548640" y="3108960"/>
            <a:ext cx="3474720" cy="566928"/>
          </a:xfrm>
          <a:prstGeom prst="rect">
            <a:avLst/>
          </a:prstGeom>
          <a:noFill/>
          <a:ln/>
        </p:spPr>
        <p:txBody>
          <a:bodyPr wrap="square" lIns="0" tIns="0" rIns="0" bIns="0" rtlCol="0" anchor="ctr"/>
          <a:lstStyle/>
          <a:p>
            <a:pPr algn="ctr" indent="0" marL="0">
              <a:buNone/>
            </a:pPr>
            <a:r>
              <a:rPr lang="en-US" sz="1500" b="1" dirty="0">
                <a:solidFill>
                  <a:srgbClr val="23222B"/>
                </a:solidFill>
                <a:latin typeface="Arial" pitchFamily="34" charset="0"/>
                <a:ea typeface="Arial" pitchFamily="34" charset="-122"/>
                <a:cs typeface="Arial" pitchFamily="34" charset="-120"/>
              </a:rPr>
              <a:t>Recruitment</a:t>
            </a:r>
            <a:endParaRPr lang="en-US" sz="1500" dirty="0"/>
          </a:p>
        </p:txBody>
      </p:sp>
      <p:sp>
        <p:nvSpPr>
          <p:cNvPr id="14" name="Text 10"/>
          <p:cNvSpPr txBox="1"/>
          <p:nvPr/>
        </p:nvSpPr>
        <p:spPr>
          <a:xfrm>
            <a:off x="640080" y="3794760"/>
            <a:ext cx="3291840" cy="914400"/>
          </a:xfrm>
          <a:prstGeom prst="rect">
            <a:avLst/>
          </a:prstGeom>
          <a:noFill/>
          <a:ln/>
        </p:spPr>
        <p:txBody>
          <a:bodyPr wrap="square" lIns="0" tIns="0" rIns="0" bIns="0" rtlCol="0" anchor="t"/>
          <a:lstStyle/>
          <a:p>
            <a:pPr algn="ctr" indent="0" marL="0">
              <a:buNone/>
            </a:pPr>
            <a:r>
              <a:rPr lang="en-US" sz="1100" dirty="0">
                <a:solidFill>
                  <a:srgbClr val="474557"/>
                </a:solidFill>
                <a:latin typeface="Arial" pitchFamily="34" charset="0"/>
                <a:ea typeface="Arial" pitchFamily="34" charset="-122"/>
                <a:cs typeface="Arial" pitchFamily="34" charset="-120"/>
              </a:rPr>
              <a:t>Permanent, temporary and contract placement · psychometric testing · skills and culture-fit matching</a:t>
            </a:r>
            <a:endParaRPr lang="en-US" sz="1100" dirty="0"/>
          </a:p>
        </p:txBody>
      </p:sp>
      <p:sp>
        <p:nvSpPr>
          <p:cNvPr id="15" name="Shape 11"/>
          <p:cNvSpPr/>
          <p:nvPr/>
        </p:nvSpPr>
        <p:spPr>
          <a:xfrm>
            <a:off x="6099048" y="2834640"/>
            <a:ext cx="0" cy="274320"/>
          </a:xfrm>
          <a:prstGeom prst="line">
            <a:avLst/>
          </a:prstGeom>
          <a:noFill/>
          <a:ln w="19050">
            <a:solidFill>
              <a:srgbClr val="C6C4D6"/>
            </a:solidFill>
            <a:prstDash val="solid"/>
          </a:ln>
        </p:spPr>
      </p:sp>
      <p:sp>
        <p:nvSpPr>
          <p:cNvPr id="16" name="Shape 12"/>
          <p:cNvSpPr/>
          <p:nvPr/>
        </p:nvSpPr>
        <p:spPr>
          <a:xfrm>
            <a:off x="4361688" y="3108960"/>
            <a:ext cx="3474720" cy="566928"/>
          </a:xfrm>
          <a:prstGeom prst="roundRect">
            <a:avLst>
              <a:gd name="adj" fmla="val 19355"/>
            </a:avLst>
          </a:prstGeom>
          <a:solidFill>
            <a:srgbClr val="F7F6FB"/>
          </a:solidFill>
          <a:ln w="9525">
            <a:solidFill>
              <a:srgbClr val="E2E1EA"/>
            </a:solidFill>
            <a:prstDash val="solid"/>
          </a:ln>
        </p:spPr>
      </p:sp>
      <p:sp>
        <p:nvSpPr>
          <p:cNvPr id="17" name="Text 13"/>
          <p:cNvSpPr txBox="1"/>
          <p:nvPr/>
        </p:nvSpPr>
        <p:spPr>
          <a:xfrm>
            <a:off x="4361688" y="3108960"/>
            <a:ext cx="3474720" cy="566928"/>
          </a:xfrm>
          <a:prstGeom prst="rect">
            <a:avLst/>
          </a:prstGeom>
          <a:noFill/>
          <a:ln/>
        </p:spPr>
        <p:txBody>
          <a:bodyPr wrap="square" lIns="0" tIns="0" rIns="0" bIns="0" rtlCol="0" anchor="ctr"/>
          <a:lstStyle/>
          <a:p>
            <a:pPr algn="ctr" indent="0" marL="0">
              <a:buNone/>
            </a:pPr>
            <a:r>
              <a:rPr lang="en-US" sz="1500" b="1" dirty="0">
                <a:solidFill>
                  <a:srgbClr val="23222B"/>
                </a:solidFill>
                <a:latin typeface="Arial" pitchFamily="34" charset="0"/>
                <a:ea typeface="Arial" pitchFamily="34" charset="-122"/>
                <a:cs typeface="Arial" pitchFamily="34" charset="-120"/>
              </a:rPr>
              <a:t>HR &amp; Compliance</a:t>
            </a:r>
            <a:endParaRPr lang="en-US" sz="1500" dirty="0"/>
          </a:p>
        </p:txBody>
      </p:sp>
      <p:sp>
        <p:nvSpPr>
          <p:cNvPr id="18" name="Text 14"/>
          <p:cNvSpPr txBox="1"/>
          <p:nvPr/>
        </p:nvSpPr>
        <p:spPr>
          <a:xfrm>
            <a:off x="4453128" y="3794760"/>
            <a:ext cx="3291840" cy="914400"/>
          </a:xfrm>
          <a:prstGeom prst="rect">
            <a:avLst/>
          </a:prstGeom>
          <a:noFill/>
          <a:ln/>
        </p:spPr>
        <p:txBody>
          <a:bodyPr wrap="square" lIns="0" tIns="0" rIns="0" bIns="0" rtlCol="0" anchor="t"/>
          <a:lstStyle/>
          <a:p>
            <a:pPr algn="ctr" indent="0" marL="0">
              <a:buNone/>
            </a:pPr>
            <a:r>
              <a:rPr lang="en-US" sz="1100" dirty="0">
                <a:solidFill>
                  <a:srgbClr val="474557"/>
                </a:solidFill>
                <a:latin typeface="Arial" pitchFamily="34" charset="0"/>
                <a:ea typeface="Arial" pitchFamily="34" charset="-122"/>
                <a:cs typeface="Arial" pitchFamily="34" charset="-120"/>
              </a:rPr>
              <a:t>Payroll and benefits · contracts, policies and handbooks · POPIA-compliant practice · disciplinary and CCMA support</a:t>
            </a:r>
            <a:endParaRPr lang="en-US" sz="1100" dirty="0"/>
          </a:p>
        </p:txBody>
      </p:sp>
      <p:sp>
        <p:nvSpPr>
          <p:cNvPr id="19" name="Shape 15"/>
          <p:cNvSpPr/>
          <p:nvPr/>
        </p:nvSpPr>
        <p:spPr>
          <a:xfrm>
            <a:off x="9912096" y="2834640"/>
            <a:ext cx="0" cy="274320"/>
          </a:xfrm>
          <a:prstGeom prst="line">
            <a:avLst/>
          </a:prstGeom>
          <a:noFill/>
          <a:ln w="19050">
            <a:solidFill>
              <a:srgbClr val="C6C4D6"/>
            </a:solidFill>
            <a:prstDash val="solid"/>
          </a:ln>
        </p:spPr>
      </p:sp>
      <p:sp>
        <p:nvSpPr>
          <p:cNvPr id="20" name="Shape 16"/>
          <p:cNvSpPr/>
          <p:nvPr/>
        </p:nvSpPr>
        <p:spPr>
          <a:xfrm>
            <a:off x="8174736" y="3108960"/>
            <a:ext cx="3474720" cy="566928"/>
          </a:xfrm>
          <a:prstGeom prst="roundRect">
            <a:avLst>
              <a:gd name="adj" fmla="val 19355"/>
            </a:avLst>
          </a:prstGeom>
          <a:solidFill>
            <a:srgbClr val="F7F6FB"/>
          </a:solidFill>
          <a:ln w="9525">
            <a:solidFill>
              <a:srgbClr val="E2E1EA"/>
            </a:solidFill>
            <a:prstDash val="solid"/>
          </a:ln>
        </p:spPr>
      </p:sp>
      <p:sp>
        <p:nvSpPr>
          <p:cNvPr id="21" name="Text 17"/>
          <p:cNvSpPr txBox="1"/>
          <p:nvPr/>
        </p:nvSpPr>
        <p:spPr>
          <a:xfrm>
            <a:off x="8174736" y="3108960"/>
            <a:ext cx="3474720" cy="566928"/>
          </a:xfrm>
          <a:prstGeom prst="rect">
            <a:avLst/>
          </a:prstGeom>
          <a:noFill/>
          <a:ln/>
        </p:spPr>
        <p:txBody>
          <a:bodyPr wrap="square" lIns="0" tIns="0" rIns="0" bIns="0" rtlCol="0" anchor="ctr"/>
          <a:lstStyle/>
          <a:p>
            <a:pPr algn="ctr" indent="0" marL="0">
              <a:buNone/>
            </a:pPr>
            <a:r>
              <a:rPr lang="en-US" sz="1500" b="1" dirty="0">
                <a:solidFill>
                  <a:srgbClr val="23222B"/>
                </a:solidFill>
                <a:latin typeface="Arial" pitchFamily="34" charset="0"/>
                <a:ea typeface="Arial" pitchFamily="34" charset="-122"/>
                <a:cs typeface="Arial" pitchFamily="34" charset="-120"/>
              </a:rPr>
              <a:t>Training &amp; Development</a:t>
            </a:r>
            <a:endParaRPr lang="en-US" sz="1500" dirty="0"/>
          </a:p>
        </p:txBody>
      </p:sp>
      <p:sp>
        <p:nvSpPr>
          <p:cNvPr id="22" name="Text 18"/>
          <p:cNvSpPr txBox="1"/>
          <p:nvPr/>
        </p:nvSpPr>
        <p:spPr>
          <a:xfrm>
            <a:off x="8266176" y="3794760"/>
            <a:ext cx="3291840" cy="914400"/>
          </a:xfrm>
          <a:prstGeom prst="rect">
            <a:avLst/>
          </a:prstGeom>
          <a:noFill/>
          <a:ln/>
        </p:spPr>
        <p:txBody>
          <a:bodyPr wrap="square" lIns="0" tIns="0" rIns="0" bIns="0" rtlCol="0" anchor="t"/>
          <a:lstStyle/>
          <a:p>
            <a:pPr algn="ctr" indent="0" marL="0">
              <a:buNone/>
            </a:pPr>
            <a:r>
              <a:rPr lang="en-US" sz="1100" dirty="0">
                <a:solidFill>
                  <a:srgbClr val="474557"/>
                </a:solidFill>
                <a:latin typeface="Arial" pitchFamily="34" charset="0"/>
                <a:ea typeface="Arial" pitchFamily="34" charset="-122"/>
                <a:cs typeface="Arial" pitchFamily="34" charset="-120"/>
              </a:rPr>
              <a:t>Managing Workplace Discipline · Recruitment Made Easy · My Team Motivator · Workplace Essentials (WES) · Workplace Preparation</a:t>
            </a:r>
            <a:endParaRPr lang="en-US" sz="1100" dirty="0"/>
          </a:p>
        </p:txBody>
      </p:sp>
      <p:sp>
        <p:nvSpPr>
          <p:cNvPr id="23" name="Shape 19"/>
          <p:cNvSpPr/>
          <p:nvPr/>
        </p:nvSpPr>
        <p:spPr>
          <a:xfrm>
            <a:off x="548640" y="4892040"/>
            <a:ext cx="5440680" cy="868680"/>
          </a:xfrm>
          <a:prstGeom prst="roundRect">
            <a:avLst>
              <a:gd name="adj" fmla="val 12632"/>
            </a:avLst>
          </a:prstGeom>
          <a:solidFill>
            <a:srgbClr val="FFFFFF"/>
          </a:solidFill>
          <a:ln w="9525">
            <a:solidFill>
              <a:srgbClr val="E2E1EA"/>
            </a:solidFill>
            <a:prstDash val="solid"/>
          </a:ln>
        </p:spPr>
      </p:sp>
      <p:sp>
        <p:nvSpPr>
          <p:cNvPr id="24" name="Text 20"/>
          <p:cNvSpPr txBox="1"/>
          <p:nvPr/>
        </p:nvSpPr>
        <p:spPr>
          <a:xfrm>
            <a:off x="731520" y="4965192"/>
            <a:ext cx="5074920" cy="731520"/>
          </a:xfrm>
          <a:prstGeom prst="rect">
            <a:avLst/>
          </a:prstGeom>
          <a:noFill/>
          <a:ln/>
        </p:spPr>
        <p:txBody>
          <a:bodyPr wrap="square" lIns="0" tIns="0" rIns="0" bIns="0" rtlCol="0" anchor="ctr"/>
          <a:lstStyle/>
          <a:p>
            <a:pPr indent="0" marL="0">
              <a:buNone/>
            </a:pPr>
            <a:r>
              <a:rPr lang="en-US" sz="1150" b="1" dirty="0">
                <a:solidFill>
                  <a:srgbClr val="23222B"/>
                </a:solidFill>
                <a:latin typeface="Arial" pitchFamily="34" charset="0"/>
                <a:ea typeface="Arial" pitchFamily="34" charset="-122"/>
                <a:cs typeface="Arial" pitchFamily="34" charset="-120"/>
              </a:rPr>
              <a:t>Channels  </a:t>
            </a:r>
            <a:r>
              <a:rPr lang="en-US" sz="1150" dirty="0">
                <a:solidFill>
                  <a:srgbClr val="474557"/>
                </a:solidFill>
                <a:latin typeface="Arial" pitchFamily="34" charset="0"/>
                <a:ea typeface="Arial" pitchFamily="34" charset="-122"/>
                <a:cs typeface="Arial" pitchFamily="34" charset="-120"/>
              </a:rPr>
              <a:t>humanrise.co.za (website) · jobs.humanrise.co.za (live vacancies and applications)</a:t>
            </a:r>
            <a:endParaRPr lang="en-US" sz="1150" dirty="0"/>
          </a:p>
        </p:txBody>
      </p:sp>
      <p:sp>
        <p:nvSpPr>
          <p:cNvPr id="25" name="Shape 21"/>
          <p:cNvSpPr/>
          <p:nvPr/>
        </p:nvSpPr>
        <p:spPr>
          <a:xfrm>
            <a:off x="6199632" y="4892040"/>
            <a:ext cx="4572000" cy="868680"/>
          </a:xfrm>
          <a:prstGeom prst="roundRect">
            <a:avLst>
              <a:gd name="adj" fmla="val 12632"/>
            </a:avLst>
          </a:prstGeom>
          <a:solidFill>
            <a:srgbClr val="FFFFFF"/>
          </a:solidFill>
          <a:ln w="12700">
            <a:solidFill>
              <a:srgbClr val="C6C4D6"/>
            </a:solidFill>
            <a:prstDash val="dash"/>
          </a:ln>
        </p:spPr>
      </p:sp>
      <p:sp>
        <p:nvSpPr>
          <p:cNvPr id="26" name="Text 22"/>
          <p:cNvSpPr txBox="1"/>
          <p:nvPr/>
        </p:nvSpPr>
        <p:spPr>
          <a:xfrm>
            <a:off x="6382512" y="4965192"/>
            <a:ext cx="4251960" cy="731520"/>
          </a:xfrm>
          <a:prstGeom prst="rect">
            <a:avLst/>
          </a:prstGeom>
          <a:noFill/>
          <a:ln/>
        </p:spPr>
        <p:txBody>
          <a:bodyPr wrap="square" lIns="0" tIns="0" rIns="0" bIns="0" rtlCol="0" anchor="ctr"/>
          <a:lstStyle/>
          <a:p>
            <a:pPr indent="0" marL="0">
              <a:buNone/>
            </a:pPr>
            <a:r>
              <a:rPr lang="en-US" sz="1150" b="1" dirty="0">
                <a:solidFill>
                  <a:srgbClr val="23222B"/>
                </a:solidFill>
                <a:latin typeface="Arial" pitchFamily="34" charset="0"/>
                <a:ea typeface="Arial" pitchFamily="34" charset="-122"/>
                <a:cs typeface="Arial" pitchFamily="34" charset="-120"/>
              </a:rPr>
              <a:t>Partner brand  </a:t>
            </a:r>
            <a:r>
              <a:rPr lang="en-US" sz="1150" dirty="0">
                <a:solidFill>
                  <a:srgbClr val="474557"/>
                </a:solidFill>
                <a:latin typeface="Arial" pitchFamily="34" charset="0"/>
                <a:ea typeface="Arial" pitchFamily="34" charset="-122"/>
                <a:cs typeface="Arial" pitchFamily="34" charset="-120"/>
              </a:rPr>
              <a:t>the Career Cat (careercat.co.za): its own logo, shown in a partnership lock-up</a:t>
            </a:r>
            <a:endParaRPr lang="en-US" sz="1150" dirty="0"/>
          </a:p>
        </p:txBody>
      </p:sp>
      <p:sp>
        <p:nvSpPr>
          <p:cNvPr id="27" name="Text 23"/>
          <p:cNvSpPr txBox="1"/>
          <p:nvPr/>
        </p:nvSpPr>
        <p:spPr>
          <a:xfrm>
            <a:off x="548640" y="5897880"/>
            <a:ext cx="9601200" cy="274320"/>
          </a:xfrm>
          <a:prstGeom prst="rect">
            <a:avLst/>
          </a:prstGeom>
          <a:noFill/>
          <a:ln/>
        </p:spPr>
        <p:txBody>
          <a:bodyPr wrap="square" lIns="0" tIns="0" rIns="0" bIns="0" rtlCol="0" anchor="t"/>
          <a:lstStyle/>
          <a:p>
            <a:pPr indent="0" marL="0">
              <a:buNone/>
            </a:pPr>
            <a:r>
              <a:rPr lang="en-US" sz="1100" i="1" dirty="0">
                <a:solidFill>
                  <a:srgbClr val="6A6782"/>
                </a:solidFill>
                <a:latin typeface="Arial" pitchFamily="34" charset="0"/>
                <a:ea typeface="Arial" pitchFamily="34" charset="-122"/>
                <a:cs typeface="Arial" pitchFamily="34" charset="-120"/>
              </a:rPr>
              <a:t>Service lines are described in words next to the logo. Never create separate logos for them.</a:t>
            </a:r>
            <a:endParaRPr lang="en-US" sz="11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56285"/>
        </a:solidFill>
      </p:bgPr>
    </p:bg>
    <p:spTree>
      <p:nvGrpSpPr>
        <p:cNvPr id="1" name=""/>
        <p:cNvGrpSpPr/>
        <p:nvPr/>
      </p:nvGrpSpPr>
      <p:grpSpPr>
        <a:xfrm>
          <a:off x="0" y="0"/>
          <a:ext cx="0" cy="0"/>
          <a:chOff x="0" y="0"/>
          <a:chExt cx="0" cy="0"/>
        </a:xfrm>
      </p:grpSpPr>
      <p:pic>
        <p:nvPicPr>
          <p:cNvPr id="2" name="Image 0" descr="/home/user/HumanRise/brand/assets/star/star-white.png">    </p:cNvPr>
          <p:cNvPicPr>
            <a:picLocks noChangeAspect="1"/>
          </p:cNvPicPr>
          <p:nvPr/>
        </p:nvPicPr>
        <p:blipFill>
          <a:blip r:embed="rId1"/>
          <a:stretch>
            <a:fillRect/>
          </a:stretch>
        </p:blipFill>
        <p:spPr>
          <a:xfrm>
            <a:off x="7040880" y="914400"/>
            <a:ext cx="6217920" cy="6217920"/>
          </a:xfrm>
          <a:prstGeom prst="rect">
            <a:avLst/>
          </a:prstGeom>
        </p:spPr>
      </p:pic>
      <p:pic>
        <p:nvPicPr>
          <p:cNvPr id="3" name="Image 1" descr="/tmp/claude-0/-home-user-HumanRise/ef620e0f-4658-549d-b913-69843549f640/scratchpad/deck/img/logo-white-800.png">    </p:cNvPr>
          <p:cNvPicPr>
            <a:picLocks noChangeAspect="1"/>
          </p:cNvPicPr>
          <p:nvPr/>
        </p:nvPicPr>
        <p:blipFill>
          <a:blip r:embed="rId2"/>
          <a:stretch>
            <a:fillRect/>
          </a:stretch>
        </p:blipFill>
        <p:spPr>
          <a:xfrm>
            <a:off x="731520" y="594360"/>
            <a:ext cx="1463040" cy="929030"/>
          </a:xfrm>
          <a:prstGeom prst="rect">
            <a:avLst/>
          </a:prstGeom>
        </p:spPr>
      </p:pic>
      <p:sp>
        <p:nvSpPr>
          <p:cNvPr id="4" name="Text 0"/>
          <p:cNvSpPr txBox="1"/>
          <p:nvPr/>
        </p:nvSpPr>
        <p:spPr>
          <a:xfrm>
            <a:off x="731520" y="2468880"/>
            <a:ext cx="1188720" cy="731520"/>
          </a:xfrm>
          <a:prstGeom prst="roundRect">
            <a:avLst>
              <a:gd name="adj" fmla="val 50000"/>
            </a:avLst>
          </a:prstGeom>
          <a:solidFill>
            <a:srgbClr val="456285"/>
          </a:solidFill>
          <a:ln w="25400">
            <a:solidFill>
              <a:srgbClr val="FFFFF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03–07</a:t>
            </a:r>
            <a:endParaRPr lang="en-US" sz="1500" dirty="0"/>
          </a:p>
        </p:txBody>
      </p:sp>
      <p:sp>
        <p:nvSpPr>
          <p:cNvPr id="5" name="Text 1"/>
          <p:cNvSpPr txBox="1"/>
          <p:nvPr/>
        </p:nvSpPr>
        <p:spPr>
          <a:xfrm>
            <a:off x="731520" y="3383280"/>
            <a:ext cx="7863840" cy="96012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Visual identity</a:t>
            </a:r>
            <a:endParaRPr lang="en-US" sz="5400" dirty="0"/>
          </a:p>
        </p:txBody>
      </p:sp>
      <p:sp>
        <p:nvSpPr>
          <p:cNvPr id="6" name="Text 2"/>
          <p:cNvSpPr txBox="1"/>
          <p:nvPr/>
        </p:nvSpPr>
        <p:spPr>
          <a:xfrm>
            <a:off x="731520" y="4480560"/>
            <a:ext cx="6400800" cy="822960"/>
          </a:xfrm>
          <a:prstGeom prst="rect">
            <a:avLst/>
          </a:prstGeom>
          <a:noFill/>
          <a:ln/>
        </p:spPr>
        <p:txBody>
          <a:bodyPr wrap="square" lIns="0" tIns="0" rIns="0" bIns="0" rtlCol="0" anchor="t"/>
          <a:lstStyle/>
          <a:p>
            <a:pPr indent="0" marL="0">
              <a:buNone/>
            </a:pPr>
            <a:r>
              <a:rPr lang="en-US" sz="1800" dirty="0">
                <a:solidFill>
                  <a:srgbClr val="DAE0EA"/>
                </a:solidFill>
                <a:latin typeface="Arial" pitchFamily="34" charset="0"/>
                <a:ea typeface="Arial" pitchFamily="34" charset="-122"/>
                <a:cs typeface="Arial" pitchFamily="34" charset="-120"/>
              </a:rPr>
              <a:t>Logo, colour, typography, graphic elements and photography.</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03</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LOGO</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One mark, used with care.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37360"/>
            <a:ext cx="6583680" cy="4206240"/>
          </a:xfrm>
          <a:prstGeom prst="roundRect">
            <a:avLst>
              <a:gd name="adj" fmla="val 2609"/>
            </a:avLst>
          </a:prstGeom>
          <a:solidFill>
            <a:srgbClr val="FFFFFF"/>
          </a:solidFill>
          <a:ln w="9525">
            <a:solidFill>
              <a:srgbClr val="E2E1EA"/>
            </a:solidFill>
            <a:prstDash val="solid"/>
          </a:ln>
        </p:spPr>
      </p:sp>
      <p:pic>
        <p:nvPicPr>
          <p:cNvPr id="7" name="Image 1" descr="/home/user/HumanRise/brand/assets/logo/humanrise-logo-colour.png">    </p:cNvPr>
          <p:cNvPicPr>
            <a:picLocks noChangeAspect="1"/>
          </p:cNvPicPr>
          <p:nvPr/>
        </p:nvPicPr>
        <p:blipFill>
          <a:blip r:embed="rId2"/>
          <a:stretch>
            <a:fillRect/>
          </a:stretch>
        </p:blipFill>
        <p:spPr>
          <a:xfrm>
            <a:off x="1691640" y="2423160"/>
            <a:ext cx="4297680" cy="2728570"/>
          </a:xfrm>
          <a:prstGeom prst="rect">
            <a:avLst/>
          </a:prstGeom>
        </p:spPr>
      </p:pic>
      <p:sp>
        <p:nvSpPr>
          <p:cNvPr id="8" name="Text 4"/>
          <p:cNvSpPr txBox="1"/>
          <p:nvPr/>
        </p:nvSpPr>
        <p:spPr>
          <a:xfrm>
            <a:off x="7498080" y="1737360"/>
            <a:ext cx="4142232" cy="1463040"/>
          </a:xfrm>
          <a:prstGeom prst="rect">
            <a:avLst/>
          </a:prstGeom>
          <a:noFill/>
          <a:ln/>
        </p:spPr>
        <p:txBody>
          <a:bodyPr wrap="square" lIns="0" tIns="0" rIns="0" bIns="0" rtlCol="0" anchor="t"/>
          <a:lstStyle/>
          <a:p>
            <a:pPr indent="0" marL="0">
              <a:buNone/>
            </a:pPr>
            <a:r>
              <a:rPr lang="en-US" sz="1500" dirty="0">
                <a:solidFill>
                  <a:srgbClr val="474557"/>
                </a:solidFill>
                <a:latin typeface="Arial" pitchFamily="34" charset="0"/>
                <a:ea typeface="Arial" pitchFamily="34" charset="-122"/>
                <a:cs typeface="Arial" pitchFamily="34" charset="-120"/>
              </a:rPr>
              <a:t>Our logo is a stacked wordmark: “Hum★n” above “RISE”. It is one piece of artwork. Always use the master files, and never rebuild, retype or rearrange it.</a:t>
            </a:r>
            <a:endParaRPr lang="en-US" sz="1500" dirty="0"/>
          </a:p>
        </p:txBody>
      </p:sp>
      <p:sp>
        <p:nvSpPr>
          <p:cNvPr id="9" name="Text 5"/>
          <p:cNvSpPr txBox="1"/>
          <p:nvPr/>
        </p:nvSpPr>
        <p:spPr>
          <a:xfrm>
            <a:off x="7498080" y="3337560"/>
            <a:ext cx="4142232" cy="256032"/>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LOGO FILES  ·  brand/assets/</a:t>
            </a:r>
            <a:endParaRPr lang="en-US" sz="950" dirty="0"/>
          </a:p>
        </p:txBody>
      </p:sp>
      <p:sp>
        <p:nvSpPr>
          <p:cNvPr id="10" name="Text 6"/>
          <p:cNvSpPr txBox="1"/>
          <p:nvPr/>
        </p:nvSpPr>
        <p:spPr>
          <a:xfrm>
            <a:off x="7498080" y="3657600"/>
            <a:ext cx="4142232" cy="182880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474557"/>
                </a:solidFill>
                <a:latin typeface="Arial" pitchFamily="34" charset="0"/>
                <a:ea typeface="Arial" pitchFamily="34" charset="-122"/>
                <a:cs typeface="Arial" pitchFamily="34" charset="-120"/>
              </a:rPr>
              <a:t>logo/humanrise-logo-colour.png</a:t>
            </a:r>
            <a:endParaRPr lang="en-US" sz="1100" dirty="0"/>
          </a:p>
          <a:p>
            <a:pPr marL="177800" indent="-177800">
              <a:spcAft>
                <a:spcPts val="300"/>
              </a:spcAft>
              <a:buSzPct val="100000"/>
              <a:buChar char="•"/>
            </a:pPr>
            <a:r>
              <a:rPr lang="en-US" sz="1100" dirty="0">
                <a:solidFill>
                  <a:srgbClr val="474557"/>
                </a:solidFill>
                <a:latin typeface="Arial" pitchFamily="34" charset="0"/>
                <a:ea typeface="Arial" pitchFamily="34" charset="-122"/>
                <a:cs typeface="Arial" pitchFamily="34" charset="-120"/>
              </a:rPr>
              <a:t>logo/humanrise-logo-white.png</a:t>
            </a:r>
            <a:endParaRPr lang="en-US" sz="1100" dirty="0"/>
          </a:p>
          <a:p>
            <a:pPr marL="177800" indent="-177800">
              <a:spcAft>
                <a:spcPts val="300"/>
              </a:spcAft>
              <a:buSzPct val="100000"/>
              <a:buChar char="•"/>
            </a:pPr>
            <a:r>
              <a:rPr lang="en-US" sz="1100" dirty="0">
                <a:solidFill>
                  <a:srgbClr val="474557"/>
                </a:solidFill>
                <a:latin typeface="Arial" pitchFamily="34" charset="0"/>
                <a:ea typeface="Arial" pitchFamily="34" charset="-122"/>
                <a:cs typeface="Arial" pitchFamily="34" charset="-120"/>
              </a:rPr>
              <a:t>logo/humanrise-logo-deep.png</a:t>
            </a:r>
            <a:endParaRPr lang="en-US" sz="1100" dirty="0"/>
          </a:p>
          <a:p>
            <a:pPr marL="177800" indent="-177800">
              <a:spcAft>
                <a:spcPts val="300"/>
              </a:spcAft>
              <a:buSzPct val="100000"/>
              <a:buChar char="•"/>
            </a:pPr>
            <a:r>
              <a:rPr lang="en-US" sz="1100" dirty="0">
                <a:solidFill>
                  <a:srgbClr val="474557"/>
                </a:solidFill>
                <a:latin typeface="Arial" pitchFamily="34" charset="0"/>
                <a:ea typeface="Arial" pitchFamily="34" charset="-122"/>
                <a:cs typeface="Arial" pitchFamily="34" charset="-120"/>
              </a:rPr>
              <a:t>logo/humanrise-logo-black.png</a:t>
            </a:r>
            <a:endParaRPr lang="en-US" sz="1100" dirty="0"/>
          </a:p>
          <a:p>
            <a:pPr marL="177800" indent="-177800">
              <a:spcAft>
                <a:spcPts val="300"/>
              </a:spcAft>
              <a:buSzPct val="100000"/>
              <a:buChar char="•"/>
            </a:pPr>
            <a:r>
              <a:rPr lang="en-US" sz="1100" dirty="0">
                <a:solidFill>
                  <a:srgbClr val="474557"/>
                </a:solidFill>
                <a:latin typeface="Arial" pitchFamily="34" charset="0"/>
                <a:ea typeface="Arial" pitchFamily="34" charset="-122"/>
                <a:cs typeface="Arial" pitchFamily="34" charset="-120"/>
              </a:rPr>
              <a:t>logo/humanrise-logo-email.png</a:t>
            </a:r>
            <a:endParaRPr lang="en-US" sz="1100" dirty="0"/>
          </a:p>
          <a:p>
            <a:pPr marL="177800" indent="-177800">
              <a:spcAft>
                <a:spcPts val="300"/>
              </a:spcAft>
              <a:buSzPct val="100000"/>
              <a:buChar char="•"/>
            </a:pPr>
            <a:r>
              <a:rPr lang="en-US" sz="1100" dirty="0">
                <a:solidFill>
                  <a:srgbClr val="474557"/>
                </a:solidFill>
                <a:latin typeface="Arial" pitchFamily="34" charset="0"/>
                <a:ea typeface="Arial" pitchFamily="34" charset="-122"/>
                <a:cs typeface="Arial" pitchFamily="34" charset="-120"/>
              </a:rPr>
              <a:t>star/humanrise-avatar.png</a:t>
            </a:r>
            <a:endParaRPr lang="en-US" sz="1100" dirty="0"/>
          </a:p>
        </p:txBody>
      </p:sp>
      <p:sp>
        <p:nvSpPr>
          <p:cNvPr id="11" name="Text 7"/>
          <p:cNvSpPr txBox="1"/>
          <p:nvPr/>
        </p:nvSpPr>
        <p:spPr>
          <a:xfrm>
            <a:off x="7498080" y="5486400"/>
            <a:ext cx="3291840" cy="502920"/>
          </a:xfrm>
          <a:prstGeom prst="rect">
            <a:avLst/>
          </a:prstGeom>
          <a:noFill/>
          <a:ln/>
        </p:spPr>
        <p:txBody>
          <a:bodyPr wrap="square" lIns="0" tIns="0" rIns="0" bIns="0" rtlCol="0" anchor="t"/>
          <a:lstStyle/>
          <a:p>
            <a:pPr indent="0" marL="0">
              <a:buNone/>
            </a:pPr>
            <a:r>
              <a:rPr lang="en-US" sz="1000" i="1" dirty="0">
                <a:solidFill>
                  <a:srgbClr val="6A6782"/>
                </a:solidFill>
                <a:latin typeface="Arial" pitchFamily="34" charset="0"/>
                <a:ea typeface="Arial" pitchFamily="34" charset="-122"/>
                <a:cs typeface="Arial" pitchFamily="34" charset="-120"/>
              </a:rPr>
              <a:t>Cleaned artwork: the light-blue strip under the rising I is removed, and the cream exports are retired.</a:t>
            </a:r>
            <a:endParaRPr lang="en-US" sz="10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03</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LOGO</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Logo versions.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83080"/>
            <a:ext cx="2057400" cy="1828800"/>
          </a:xfrm>
          <a:prstGeom prst="roundRect">
            <a:avLst>
              <a:gd name="adj" fmla="val 5000"/>
            </a:avLst>
          </a:prstGeom>
          <a:solidFill>
            <a:srgbClr val="FFFFFF"/>
          </a:solidFill>
          <a:ln w="9525">
            <a:solidFill>
              <a:srgbClr val="E2E1EA"/>
            </a:solidFill>
            <a:prstDash val="solid"/>
          </a:ln>
        </p:spPr>
      </p:sp>
      <p:pic>
        <p:nvPicPr>
          <p:cNvPr id="7" name="Image 1" descr="/home/user/HumanRise/brand/assets/logo/humanrise-logo-colour.png">    </p:cNvPr>
          <p:cNvPicPr>
            <a:picLocks noChangeAspect="1"/>
          </p:cNvPicPr>
          <p:nvPr/>
        </p:nvPicPr>
        <p:blipFill>
          <a:blip r:embed="rId2"/>
          <a:stretch>
            <a:fillRect/>
          </a:stretch>
        </p:blipFill>
        <p:spPr>
          <a:xfrm>
            <a:off x="868680" y="2194560"/>
            <a:ext cx="1417320" cy="899770"/>
          </a:xfrm>
          <a:prstGeom prst="rect">
            <a:avLst/>
          </a:prstGeom>
        </p:spPr>
      </p:pic>
      <p:sp>
        <p:nvSpPr>
          <p:cNvPr id="8" name="Text 4"/>
          <p:cNvSpPr txBox="1"/>
          <p:nvPr/>
        </p:nvSpPr>
        <p:spPr>
          <a:xfrm>
            <a:off x="548640" y="3767328"/>
            <a:ext cx="2057400" cy="29260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Full colour (primary)</a:t>
            </a:r>
            <a:endParaRPr lang="en-US" sz="1300" dirty="0"/>
          </a:p>
        </p:txBody>
      </p:sp>
      <p:sp>
        <p:nvSpPr>
          <p:cNvPr id="9" name="Text 5"/>
          <p:cNvSpPr txBox="1"/>
          <p:nvPr/>
        </p:nvSpPr>
        <p:spPr>
          <a:xfrm>
            <a:off x="548640" y="4087368"/>
            <a:ext cx="2057400" cy="10058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The default, on white and the lightest tints (Mist, Sky, Lavender 100).</a:t>
            </a:r>
            <a:endParaRPr lang="en-US" sz="1100" dirty="0"/>
          </a:p>
        </p:txBody>
      </p:sp>
      <p:sp>
        <p:nvSpPr>
          <p:cNvPr id="10" name="Shape 6"/>
          <p:cNvSpPr/>
          <p:nvPr/>
        </p:nvSpPr>
        <p:spPr>
          <a:xfrm>
            <a:off x="2807208" y="1783080"/>
            <a:ext cx="2057400" cy="1828800"/>
          </a:xfrm>
          <a:prstGeom prst="roundRect">
            <a:avLst>
              <a:gd name="adj" fmla="val 5000"/>
            </a:avLst>
          </a:prstGeom>
          <a:solidFill>
            <a:srgbClr val="456285"/>
          </a:solidFill>
          <a:ln w="9525">
            <a:solidFill>
              <a:srgbClr val="E2E1EA"/>
            </a:solidFill>
            <a:prstDash val="solid"/>
          </a:ln>
        </p:spPr>
      </p:sp>
      <p:pic>
        <p:nvPicPr>
          <p:cNvPr id="11" name="Image 2" descr="/home/user/HumanRise/brand/assets/logo/humanrise-logo-white.png">    </p:cNvPr>
          <p:cNvPicPr>
            <a:picLocks noChangeAspect="1"/>
          </p:cNvPicPr>
          <p:nvPr/>
        </p:nvPicPr>
        <p:blipFill>
          <a:blip r:embed="rId3"/>
          <a:stretch>
            <a:fillRect/>
          </a:stretch>
        </p:blipFill>
        <p:spPr>
          <a:xfrm>
            <a:off x="3127248" y="2194560"/>
            <a:ext cx="1417320" cy="899770"/>
          </a:xfrm>
          <a:prstGeom prst="rect">
            <a:avLst/>
          </a:prstGeom>
        </p:spPr>
      </p:pic>
      <p:sp>
        <p:nvSpPr>
          <p:cNvPr id="12" name="Text 7"/>
          <p:cNvSpPr txBox="1"/>
          <p:nvPr/>
        </p:nvSpPr>
        <p:spPr>
          <a:xfrm>
            <a:off x="2807208" y="3767328"/>
            <a:ext cx="2057400" cy="29260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White (reversed)</a:t>
            </a:r>
            <a:endParaRPr lang="en-US" sz="1300" dirty="0"/>
          </a:p>
        </p:txBody>
      </p:sp>
      <p:sp>
        <p:nvSpPr>
          <p:cNvPr id="13" name="Text 8"/>
          <p:cNvSpPr txBox="1"/>
          <p:nvPr/>
        </p:nvSpPr>
        <p:spPr>
          <a:xfrm>
            <a:off x="2807208" y="4087368"/>
            <a:ext cx="2057400" cy="10058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On Deep Rise, Star Purple, Purple 600–700 and calm, dark areas of photos.</a:t>
            </a:r>
            <a:endParaRPr lang="en-US" sz="1100" dirty="0"/>
          </a:p>
        </p:txBody>
      </p:sp>
      <p:sp>
        <p:nvSpPr>
          <p:cNvPr id="14" name="Shape 9"/>
          <p:cNvSpPr/>
          <p:nvPr/>
        </p:nvSpPr>
        <p:spPr>
          <a:xfrm>
            <a:off x="5065776" y="1783080"/>
            <a:ext cx="2057400" cy="1828800"/>
          </a:xfrm>
          <a:prstGeom prst="roundRect">
            <a:avLst>
              <a:gd name="adj" fmla="val 5000"/>
            </a:avLst>
          </a:prstGeom>
          <a:solidFill>
            <a:srgbClr val="FFFFFF"/>
          </a:solidFill>
          <a:ln w="9525">
            <a:solidFill>
              <a:srgbClr val="E2E1EA"/>
            </a:solidFill>
            <a:prstDash val="solid"/>
          </a:ln>
        </p:spPr>
      </p:sp>
      <p:pic>
        <p:nvPicPr>
          <p:cNvPr id="15" name="Image 3" descr="/home/user/HumanRise/brand/assets/logo/humanrise-logo-deep.png">    </p:cNvPr>
          <p:cNvPicPr>
            <a:picLocks noChangeAspect="1"/>
          </p:cNvPicPr>
          <p:nvPr/>
        </p:nvPicPr>
        <p:blipFill>
          <a:blip r:embed="rId4"/>
          <a:stretch>
            <a:fillRect/>
          </a:stretch>
        </p:blipFill>
        <p:spPr>
          <a:xfrm>
            <a:off x="5385816" y="2194560"/>
            <a:ext cx="1417320" cy="899770"/>
          </a:xfrm>
          <a:prstGeom prst="rect">
            <a:avLst/>
          </a:prstGeom>
        </p:spPr>
      </p:pic>
      <p:sp>
        <p:nvSpPr>
          <p:cNvPr id="16" name="Text 10"/>
          <p:cNvSpPr txBox="1"/>
          <p:nvPr/>
        </p:nvSpPr>
        <p:spPr>
          <a:xfrm>
            <a:off x="5065776" y="3767328"/>
            <a:ext cx="2057400" cy="29260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Single colour, Deep Rise</a:t>
            </a:r>
            <a:endParaRPr lang="en-US" sz="1300" dirty="0"/>
          </a:p>
        </p:txBody>
      </p:sp>
      <p:sp>
        <p:nvSpPr>
          <p:cNvPr id="17" name="Text 11"/>
          <p:cNvSpPr txBox="1"/>
          <p:nvPr/>
        </p:nvSpPr>
        <p:spPr>
          <a:xfrm>
            <a:off x="5065776" y="4087368"/>
            <a:ext cx="2057400" cy="10058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One-colour print, embroidery, engraving, stamps and branded pens.</a:t>
            </a:r>
            <a:endParaRPr lang="en-US" sz="1100" dirty="0"/>
          </a:p>
        </p:txBody>
      </p:sp>
      <p:sp>
        <p:nvSpPr>
          <p:cNvPr id="18" name="Shape 12"/>
          <p:cNvSpPr/>
          <p:nvPr/>
        </p:nvSpPr>
        <p:spPr>
          <a:xfrm>
            <a:off x="7324344" y="1783080"/>
            <a:ext cx="2057400" cy="1828800"/>
          </a:xfrm>
          <a:prstGeom prst="roundRect">
            <a:avLst>
              <a:gd name="adj" fmla="val 5000"/>
            </a:avLst>
          </a:prstGeom>
          <a:solidFill>
            <a:srgbClr val="FFFFFF"/>
          </a:solidFill>
          <a:ln w="9525">
            <a:solidFill>
              <a:srgbClr val="E2E1EA"/>
            </a:solidFill>
            <a:prstDash val="solid"/>
          </a:ln>
        </p:spPr>
      </p:sp>
      <p:pic>
        <p:nvPicPr>
          <p:cNvPr id="19" name="Image 4" descr="/home/user/HumanRise/brand/assets/logo/humanrise-logo-black.png">    </p:cNvPr>
          <p:cNvPicPr>
            <a:picLocks noChangeAspect="1"/>
          </p:cNvPicPr>
          <p:nvPr/>
        </p:nvPicPr>
        <p:blipFill>
          <a:blip r:embed="rId5"/>
          <a:stretch>
            <a:fillRect/>
          </a:stretch>
        </p:blipFill>
        <p:spPr>
          <a:xfrm>
            <a:off x="7644384" y="2194560"/>
            <a:ext cx="1417320" cy="899770"/>
          </a:xfrm>
          <a:prstGeom prst="rect">
            <a:avLst/>
          </a:prstGeom>
        </p:spPr>
      </p:pic>
      <p:sp>
        <p:nvSpPr>
          <p:cNvPr id="20" name="Text 13"/>
          <p:cNvSpPr txBox="1"/>
          <p:nvPr/>
        </p:nvSpPr>
        <p:spPr>
          <a:xfrm>
            <a:off x="7324344" y="3767328"/>
            <a:ext cx="2057400" cy="29260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Black</a:t>
            </a:r>
            <a:endParaRPr lang="en-US" sz="1300" dirty="0"/>
          </a:p>
        </p:txBody>
      </p:sp>
      <p:sp>
        <p:nvSpPr>
          <p:cNvPr id="21" name="Text 14"/>
          <p:cNvSpPr txBox="1"/>
          <p:nvPr/>
        </p:nvSpPr>
        <p:spPr>
          <a:xfrm>
            <a:off x="7324344" y="4087368"/>
            <a:ext cx="2057400" cy="10058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Only when print is limited to black: newspapers, faxed or copied forms.</a:t>
            </a:r>
            <a:endParaRPr lang="en-US" sz="1100" dirty="0"/>
          </a:p>
        </p:txBody>
      </p:sp>
      <p:sp>
        <p:nvSpPr>
          <p:cNvPr id="22" name="Shape 15"/>
          <p:cNvSpPr/>
          <p:nvPr/>
        </p:nvSpPr>
        <p:spPr>
          <a:xfrm>
            <a:off x="9582912" y="1783080"/>
            <a:ext cx="2057400" cy="1828800"/>
          </a:xfrm>
          <a:prstGeom prst="roundRect">
            <a:avLst>
              <a:gd name="adj" fmla="val 5000"/>
            </a:avLst>
          </a:prstGeom>
          <a:solidFill>
            <a:srgbClr val="F7F6FB"/>
          </a:solidFill>
          <a:ln w="9525">
            <a:solidFill>
              <a:srgbClr val="E2E1EA"/>
            </a:solidFill>
            <a:prstDash val="solid"/>
          </a:ln>
        </p:spPr>
      </p:sp>
      <p:pic>
        <p:nvPicPr>
          <p:cNvPr id="23" name="Image 5" descr="/home/user/HumanRise/brand/assets/star/star-purple.png">    </p:cNvPr>
          <p:cNvPicPr>
            <a:picLocks noChangeAspect="1"/>
          </p:cNvPicPr>
          <p:nvPr/>
        </p:nvPicPr>
        <p:blipFill>
          <a:blip r:embed="rId6"/>
          <a:stretch>
            <a:fillRect/>
          </a:stretch>
        </p:blipFill>
        <p:spPr>
          <a:xfrm>
            <a:off x="10108692" y="2194560"/>
            <a:ext cx="1005840" cy="1005840"/>
          </a:xfrm>
          <a:prstGeom prst="rect">
            <a:avLst/>
          </a:prstGeom>
        </p:spPr>
      </p:pic>
      <p:sp>
        <p:nvSpPr>
          <p:cNvPr id="24" name="Text 16"/>
          <p:cNvSpPr txBox="1"/>
          <p:nvPr/>
        </p:nvSpPr>
        <p:spPr>
          <a:xfrm>
            <a:off x="9582912" y="3767328"/>
            <a:ext cx="2057400" cy="292608"/>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Star mark</a:t>
            </a:r>
            <a:endParaRPr lang="en-US" sz="1300" dirty="0"/>
          </a:p>
        </p:txBody>
      </p:sp>
      <p:sp>
        <p:nvSpPr>
          <p:cNvPr id="25" name="Text 17"/>
          <p:cNvSpPr txBox="1"/>
          <p:nvPr/>
        </p:nvSpPr>
        <p:spPr>
          <a:xfrm>
            <a:off x="9582912" y="4087368"/>
            <a:ext cx="2057400" cy="10058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Favicons, avatars, watermarks and small spaces. Never the first introduction.</a:t>
            </a:r>
            <a:endParaRPr lang="en-US" sz="1100" dirty="0"/>
          </a:p>
        </p:txBody>
      </p:sp>
      <p:sp>
        <p:nvSpPr>
          <p:cNvPr id="26" name="Shape 18"/>
          <p:cNvSpPr/>
          <p:nvPr/>
        </p:nvSpPr>
        <p:spPr>
          <a:xfrm>
            <a:off x="548640" y="5257800"/>
            <a:ext cx="10058400" cy="640080"/>
          </a:xfrm>
          <a:prstGeom prst="roundRect">
            <a:avLst>
              <a:gd name="adj" fmla="val 17143"/>
            </a:avLst>
          </a:prstGeom>
          <a:solidFill>
            <a:srgbClr val="F7F6FB"/>
          </a:solidFill>
          <a:ln w="9525">
            <a:solidFill>
              <a:srgbClr val="E2E1EA"/>
            </a:solidFill>
            <a:prstDash val="solid"/>
          </a:ln>
        </p:spPr>
      </p:sp>
      <p:pic>
        <p:nvPicPr>
          <p:cNvPr id="27" name="Image 6" descr="preencoded.png">    </p:cNvPr>
          <p:cNvPicPr>
            <a:picLocks noChangeAspect="1"/>
          </p:cNvPicPr>
          <p:nvPr/>
        </p:nvPicPr>
        <p:blipFill>
          <a:blip r:embed="rId7"/>
          <a:stretch>
            <a:fillRect/>
          </a:stretch>
        </p:blipFill>
        <p:spPr>
          <a:xfrm>
            <a:off x="731520" y="5413248"/>
            <a:ext cx="310896" cy="310896"/>
          </a:xfrm>
          <a:prstGeom prst="rect">
            <a:avLst/>
          </a:prstGeom>
        </p:spPr>
      </p:pic>
      <p:sp>
        <p:nvSpPr>
          <p:cNvPr id="28" name="Text 19"/>
          <p:cNvSpPr txBox="1"/>
          <p:nvPr/>
        </p:nvSpPr>
        <p:spPr>
          <a:xfrm>
            <a:off x="1188720" y="5257800"/>
            <a:ext cx="9235440" cy="640080"/>
          </a:xfrm>
          <a:prstGeom prst="rect">
            <a:avLst/>
          </a:prstGeom>
          <a:noFill/>
          <a:ln/>
        </p:spPr>
        <p:txBody>
          <a:bodyPr wrap="square" lIns="0" tIns="0" rIns="0" bIns="0" rtlCol="0" anchor="ctr"/>
          <a:lstStyle/>
          <a:p>
            <a:pPr indent="0" marL="0">
              <a:buNone/>
            </a:pPr>
            <a:r>
              <a:rPr lang="en-US" sz="1250" dirty="0">
                <a:solidFill>
                  <a:srgbClr val="474557"/>
                </a:solidFill>
                <a:latin typeface="Arial" pitchFamily="34" charset="0"/>
                <a:ea typeface="Arial" pitchFamily="34" charset="-122"/>
                <a:cs typeface="Arial" pitchFamily="34" charset="-120"/>
              </a:rPr>
              <a:t>Never use the full-colour logo on a dark or mid-tone background. Switch to the white logo instead.</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03</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LOGO</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Clear space, size and placement.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clear.png">    </p:cNvPr>
          <p:cNvPicPr>
            <a:picLocks noChangeAspect="1"/>
          </p:cNvPicPr>
          <p:nvPr/>
        </p:nvPicPr>
        <p:blipFill>
          <a:blip r:embed="rId2"/>
          <a:stretch>
            <a:fillRect/>
          </a:stretch>
        </p:blipFill>
        <p:spPr>
          <a:xfrm>
            <a:off x="548640" y="1737360"/>
            <a:ext cx="5394960" cy="3782873"/>
          </a:xfrm>
          <a:prstGeom prst="rect">
            <a:avLst/>
          </a:prstGeom>
        </p:spPr>
      </p:pic>
      <p:sp>
        <p:nvSpPr>
          <p:cNvPr id="7" name="Text 3"/>
          <p:cNvSpPr txBox="1"/>
          <p:nvPr/>
        </p:nvSpPr>
        <p:spPr>
          <a:xfrm>
            <a:off x="6355080" y="1737360"/>
            <a:ext cx="5285232" cy="914400"/>
          </a:xfrm>
          <a:prstGeom prst="rect">
            <a:avLst/>
          </a:prstGeom>
          <a:noFill/>
          <a:ln/>
        </p:spPr>
        <p:txBody>
          <a:bodyPr wrap="square" lIns="0" tIns="0" rIns="0" bIns="0" rtlCol="0" anchor="t"/>
          <a:lstStyle/>
          <a:p>
            <a:pPr indent="0" marL="0">
              <a:buNone/>
            </a:pPr>
            <a:r>
              <a:rPr lang="en-US" sz="1400" b="1" dirty="0">
                <a:solidFill>
                  <a:srgbClr val="474557"/>
                </a:solidFill>
                <a:latin typeface="Arial" pitchFamily="34" charset="0"/>
                <a:ea typeface="Arial" pitchFamily="34" charset="-122"/>
                <a:cs typeface="Arial" pitchFamily="34" charset="-120"/>
              </a:rPr>
              <a:t>X</a:t>
            </a:r>
            <a:r>
              <a:rPr lang="en-US" sz="1400" dirty="0">
                <a:solidFill>
                  <a:srgbClr val="474557"/>
                </a:solidFill>
                <a:latin typeface="Arial" pitchFamily="34" charset="0"/>
                <a:ea typeface="Arial" pitchFamily="34" charset="-122"/>
                <a:cs typeface="Arial" pitchFamily="34" charset="-120"/>
              </a:rPr>
              <a:t> is the width of the rising I in RISE. Keep at least </a:t>
            </a:r>
            <a:r>
              <a:rPr lang="en-US" sz="1400" b="1" dirty="0">
                <a:solidFill>
                  <a:srgbClr val="474557"/>
                </a:solidFill>
                <a:latin typeface="Arial" pitchFamily="34" charset="0"/>
                <a:ea typeface="Arial" pitchFamily="34" charset="-122"/>
                <a:cs typeface="Arial" pitchFamily="34" charset="-120"/>
              </a:rPr>
              <a:t>2X</a:t>
            </a:r>
            <a:r>
              <a:rPr lang="en-US" sz="1400" dirty="0">
                <a:solidFill>
                  <a:srgbClr val="474557"/>
                </a:solidFill>
                <a:latin typeface="Arial" pitchFamily="34" charset="0"/>
                <a:ea typeface="Arial" pitchFamily="34" charset="-122"/>
                <a:cs typeface="Arial" pitchFamily="34" charset="-120"/>
              </a:rPr>
              <a:t> clear on every side (about 10% of the logo’s width). Never less than 24px on screen or 6mm in print.</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355080" y="2788920"/>
          <a:ext cx="5285232" cy="914400"/>
        </p:xfrm>
        <a:graphic>
          <a:graphicData uri="http://schemas.openxmlformats.org/drawingml/2006/table">
            <a:tbl>
              <a:tblPr/>
              <a:tblGrid>
                <a:gridCol w="2651760"/>
                <a:gridCol w="1316736"/>
                <a:gridCol w="1316736"/>
              </a:tblGrid>
              <a:tr h="347472">
                <a:tc>
                  <a:txBody>
                    <a:bodyPr/>
                    <a:lstStyle/>
                    <a:p>
                      <a:pPr indent="0" marL="0">
                        <a:buNone/>
                      </a:pPr>
                      <a:r>
                        <a:rPr lang="en-US" sz="1100" b="1" dirty="0">
                          <a:solidFill>
                            <a:srgbClr val="23222B"/>
                          </a:solidFill>
                          <a:latin typeface="Arial" pitchFamily="34" charset="0"/>
                          <a:ea typeface="Arial" pitchFamily="34" charset="-122"/>
                          <a:cs typeface="Arial" pitchFamily="34" charset="-120"/>
                        </a:rPr>
                        <a:t>Item</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Screen</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Print</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347472">
                <a:tc>
                  <a:txBody>
                    <a:bodyPr/>
                    <a:lstStyle/>
                    <a:p>
                      <a:pPr indent="0" marL="0">
                        <a:buNone/>
                      </a:pPr>
                      <a:r>
                        <a:rPr lang="en-US" sz="1150" dirty="0">
                          <a:solidFill>
                            <a:srgbClr val="23222B"/>
                          </a:solidFill>
                          <a:latin typeface="Arial" pitchFamily="34" charset="0"/>
                          <a:ea typeface="Arial" pitchFamily="34" charset="-122"/>
                          <a:cs typeface="Arial" pitchFamily="34" charset="-120"/>
                        </a:rPr>
                        <a:t>Full logo</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120px wide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30mm wide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47472">
                <a:tc>
                  <a:txBody>
                    <a:bodyPr/>
                    <a:lstStyle/>
                    <a:p>
                      <a:pPr indent="0" marL="0">
                        <a:buNone/>
                      </a:pPr>
                      <a:r>
                        <a:rPr lang="en-US" sz="1150" dirty="0">
                          <a:solidFill>
                            <a:srgbClr val="23222B"/>
                          </a:solidFill>
                          <a:latin typeface="Arial" pitchFamily="34" charset="0"/>
                          <a:ea typeface="Arial" pitchFamily="34" charset="-122"/>
                          <a:cs typeface="Arial" pitchFamily="34" charset="-120"/>
                        </a:rPr>
                        <a:t>Full logo, website header</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72px wide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47472">
                <a:tc>
                  <a:txBody>
                    <a:bodyPr/>
                    <a:lstStyle/>
                    <a:p>
                      <a:pPr indent="0" marL="0">
                        <a:buNone/>
                      </a:pPr>
                      <a:r>
                        <a:rPr lang="en-US" sz="1150" dirty="0">
                          <a:solidFill>
                            <a:srgbClr val="23222B"/>
                          </a:solidFill>
                          <a:latin typeface="Arial" pitchFamily="34" charset="0"/>
                          <a:ea typeface="Arial" pitchFamily="34" charset="-122"/>
                          <a:cs typeface="Arial" pitchFamily="34" charset="-120"/>
                        </a:rPr>
                        <a:t>Star mark</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24px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8mm</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9" name="Text 4"/>
          <p:cNvSpPr txBox="1"/>
          <p:nvPr/>
        </p:nvSpPr>
        <p:spPr>
          <a:xfrm>
            <a:off x="6355080" y="4407408"/>
            <a:ext cx="5285232"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PLACEMENT</a:t>
            </a:r>
            <a:endParaRPr lang="en-US" sz="950" dirty="0"/>
          </a:p>
        </p:txBody>
      </p:sp>
      <p:sp>
        <p:nvSpPr>
          <p:cNvPr id="10" name="Text 5"/>
          <p:cNvSpPr txBox="1"/>
          <p:nvPr/>
        </p:nvSpPr>
        <p:spPr>
          <a:xfrm>
            <a:off x="6355080" y="4681728"/>
            <a:ext cx="4572000" cy="118872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rgbClr val="474557"/>
                </a:solidFill>
                <a:latin typeface="Arial" pitchFamily="34" charset="0"/>
                <a:ea typeface="Arial" pitchFamily="34" charset="-122"/>
                <a:cs typeface="Arial" pitchFamily="34" charset="-120"/>
              </a:rPr>
              <a:t>Top left: </a:t>
            </a:r>
            <a:r>
              <a:rPr lang="en-US" sz="1250" dirty="0">
                <a:solidFill>
                  <a:srgbClr val="474557"/>
                </a:solidFill>
                <a:latin typeface="Arial" pitchFamily="34" charset="0"/>
                <a:ea typeface="Arial" pitchFamily="34" charset="-122"/>
                <a:cs typeface="Arial" pitchFamily="34" charset="-120"/>
              </a:rPr>
              <a:t>documents, web pages and slides</a:t>
            </a:r>
            <a:endParaRPr lang="en-US" sz="1250" dirty="0"/>
          </a:p>
          <a:p>
            <a:pPr marL="177800" indent="-177800">
              <a:spcAft>
                <a:spcPts val="400"/>
              </a:spcAft>
              <a:buSzPct val="100000"/>
              <a:buChar char="•"/>
            </a:pPr>
            <a:r>
              <a:rPr lang="en-US" sz="1250" b="1" dirty="0">
                <a:solidFill>
                  <a:srgbClr val="474557"/>
                </a:solidFill>
                <a:latin typeface="Arial" pitchFamily="34" charset="0"/>
                <a:ea typeface="Arial" pitchFamily="34" charset="-122"/>
                <a:cs typeface="Arial" pitchFamily="34" charset="-120"/>
              </a:rPr>
              <a:t>Centred: </a:t>
            </a:r>
            <a:r>
              <a:rPr lang="en-US" sz="1250" dirty="0">
                <a:solidFill>
                  <a:srgbClr val="474557"/>
                </a:solidFill>
                <a:latin typeface="Arial" pitchFamily="34" charset="0"/>
                <a:ea typeface="Arial" pitchFamily="34" charset="-122"/>
                <a:cs typeface="Arial" pitchFamily="34" charset="-120"/>
              </a:rPr>
              <a:t>covers, card fronts, banners and avatars</a:t>
            </a:r>
            <a:endParaRPr lang="en-US" sz="1250" dirty="0"/>
          </a:p>
          <a:p>
            <a:pPr marL="177800" indent="-177800">
              <a:spcAft>
                <a:spcPts val="400"/>
              </a:spcAft>
              <a:buSzPct val="100000"/>
              <a:buChar char="•"/>
            </a:pPr>
            <a:r>
              <a:rPr lang="en-US" sz="1250" b="1" dirty="0">
                <a:solidFill>
                  <a:srgbClr val="474557"/>
                </a:solidFill>
                <a:latin typeface="Arial" pitchFamily="34" charset="0"/>
                <a:ea typeface="Arial" pitchFamily="34" charset="-122"/>
                <a:cs typeface="Arial" pitchFamily="34" charset="-120"/>
              </a:rPr>
              <a:t>Bottom right: </a:t>
            </a:r>
            <a:r>
              <a:rPr lang="en-US" sz="1250" dirty="0">
                <a:solidFill>
                  <a:srgbClr val="474557"/>
                </a:solidFill>
                <a:latin typeface="Arial" pitchFamily="34" charset="0"/>
                <a:ea typeface="Arial" pitchFamily="34" charset="-122"/>
                <a:cs typeface="Arial" pitchFamily="34" charset="-120"/>
              </a:rPr>
              <a:t>sign-off on adverts and social posts</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03</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LOGO</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Backgrounds.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572768"/>
            <a:ext cx="10058400" cy="384048"/>
          </a:xfrm>
          <a:prstGeom prst="rect">
            <a:avLst/>
          </a:prstGeom>
          <a:noFill/>
          <a:ln/>
        </p:spPr>
        <p:txBody>
          <a:bodyPr wrap="square" lIns="0" tIns="0" rIns="0" bIns="0" rtlCol="0" anchor="t"/>
          <a:lstStyle/>
          <a:p>
            <a:pPr indent="0" marL="0">
              <a:buNone/>
            </a:pPr>
            <a:r>
              <a:rPr lang="en-US" sz="1300" dirty="0">
                <a:solidFill>
                  <a:srgbClr val="474557"/>
                </a:solidFill>
                <a:latin typeface="Arial" pitchFamily="34" charset="0"/>
                <a:ea typeface="Arial" pitchFamily="34" charset="-122"/>
                <a:cs typeface="Arial" pitchFamily="34" charset="-120"/>
              </a:rPr>
              <a:t>White is our base. Full colour goes on white or our lightest tints, and the white logo goes on our deep colours. If you have to ask whether it’s readable, it isn’t.</a:t>
            </a:r>
            <a:endParaRPr lang="en-US" sz="1300" dirty="0"/>
          </a:p>
        </p:txBody>
      </p:sp>
      <p:sp>
        <p:nvSpPr>
          <p:cNvPr id="7" name="Shape 4"/>
          <p:cNvSpPr/>
          <p:nvPr/>
        </p:nvSpPr>
        <p:spPr>
          <a:xfrm>
            <a:off x="548640" y="2103120"/>
            <a:ext cx="2651760" cy="1417320"/>
          </a:xfrm>
          <a:prstGeom prst="roundRect">
            <a:avLst>
              <a:gd name="adj" fmla="val 6452"/>
            </a:avLst>
          </a:prstGeom>
          <a:solidFill>
            <a:srgbClr val="FFFFFF"/>
          </a:solidFill>
          <a:ln w="9525">
            <a:solidFill>
              <a:srgbClr val="E2E1EA"/>
            </a:solidFill>
            <a:prstDash val="solid"/>
          </a:ln>
        </p:spPr>
      </p:sp>
      <p:pic>
        <p:nvPicPr>
          <p:cNvPr id="8" name="Image 1" descr="/tmp/claude-0/-home-user-HumanRise/ef620e0f-4658-549d-b913-69843549f640/scratchpad/deck/img/logo-colour-800.png">    </p:cNvPr>
          <p:cNvPicPr>
            <a:picLocks noChangeAspect="1"/>
          </p:cNvPicPr>
          <p:nvPr/>
        </p:nvPicPr>
        <p:blipFill>
          <a:blip r:embed="rId2"/>
          <a:stretch>
            <a:fillRect/>
          </a:stretch>
        </p:blipFill>
        <p:spPr>
          <a:xfrm>
            <a:off x="1188720" y="2286000"/>
            <a:ext cx="1371600" cy="870509"/>
          </a:xfrm>
          <a:prstGeom prst="rect">
            <a:avLst/>
          </a:prstGeom>
        </p:spPr>
      </p:pic>
      <p:pic>
        <p:nvPicPr>
          <p:cNvPr id="9" name="Image 2" descr="preencoded.png">    </p:cNvPr>
          <p:cNvPicPr>
            <a:picLocks noChangeAspect="1"/>
          </p:cNvPicPr>
          <p:nvPr/>
        </p:nvPicPr>
        <p:blipFill>
          <a:blip r:embed="rId3"/>
          <a:stretch>
            <a:fillRect/>
          </a:stretch>
        </p:blipFill>
        <p:spPr>
          <a:xfrm>
            <a:off x="548640" y="3621024"/>
            <a:ext cx="219456" cy="219456"/>
          </a:xfrm>
          <a:prstGeom prst="rect">
            <a:avLst/>
          </a:prstGeom>
        </p:spPr>
      </p:pic>
      <p:sp>
        <p:nvSpPr>
          <p:cNvPr id="10" name="Text 5"/>
          <p:cNvSpPr txBox="1"/>
          <p:nvPr/>
        </p:nvSpPr>
        <p:spPr>
          <a:xfrm>
            <a:off x="822960" y="360273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White, the default</a:t>
            </a:r>
            <a:endParaRPr lang="en-US" sz="1150" dirty="0"/>
          </a:p>
        </p:txBody>
      </p:sp>
      <p:sp>
        <p:nvSpPr>
          <p:cNvPr id="11" name="Shape 6"/>
          <p:cNvSpPr/>
          <p:nvPr/>
        </p:nvSpPr>
        <p:spPr>
          <a:xfrm>
            <a:off x="3364992" y="2103120"/>
            <a:ext cx="2651760" cy="1417320"/>
          </a:xfrm>
          <a:prstGeom prst="roundRect">
            <a:avLst>
              <a:gd name="adj" fmla="val 6452"/>
            </a:avLst>
          </a:prstGeom>
          <a:solidFill>
            <a:srgbClr val="F7F6FB"/>
          </a:solidFill>
          <a:ln w="9525">
            <a:solidFill>
              <a:srgbClr val="E2E1EA"/>
            </a:solidFill>
            <a:prstDash val="solid"/>
          </a:ln>
        </p:spPr>
      </p:sp>
      <p:pic>
        <p:nvPicPr>
          <p:cNvPr id="12" name="Image 3" descr="/tmp/claude-0/-home-user-HumanRise/ef620e0f-4658-549d-b913-69843549f640/scratchpad/deck/img/logo-colour-800.png">    </p:cNvPr>
          <p:cNvPicPr>
            <a:picLocks noChangeAspect="1"/>
          </p:cNvPicPr>
          <p:nvPr/>
        </p:nvPicPr>
        <p:blipFill>
          <a:blip r:embed="rId4"/>
          <a:stretch>
            <a:fillRect/>
          </a:stretch>
        </p:blipFill>
        <p:spPr>
          <a:xfrm>
            <a:off x="4005072" y="2286000"/>
            <a:ext cx="1371600" cy="870509"/>
          </a:xfrm>
          <a:prstGeom prst="rect">
            <a:avLst/>
          </a:prstGeom>
        </p:spPr>
      </p:pic>
      <p:pic>
        <p:nvPicPr>
          <p:cNvPr id="13" name="Image 4" descr="preencoded.png">    </p:cNvPr>
          <p:cNvPicPr>
            <a:picLocks noChangeAspect="1"/>
          </p:cNvPicPr>
          <p:nvPr/>
        </p:nvPicPr>
        <p:blipFill>
          <a:blip r:embed="rId5"/>
          <a:stretch>
            <a:fillRect/>
          </a:stretch>
        </p:blipFill>
        <p:spPr>
          <a:xfrm>
            <a:off x="3364992" y="3621024"/>
            <a:ext cx="219456" cy="219456"/>
          </a:xfrm>
          <a:prstGeom prst="rect">
            <a:avLst/>
          </a:prstGeom>
        </p:spPr>
      </p:pic>
      <p:sp>
        <p:nvSpPr>
          <p:cNvPr id="14" name="Text 7"/>
          <p:cNvSpPr txBox="1"/>
          <p:nvPr/>
        </p:nvSpPr>
        <p:spPr>
          <a:xfrm>
            <a:off x="3639312" y="360273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Mist #F7F6FB</a:t>
            </a:r>
            <a:endParaRPr lang="en-US" sz="1150" dirty="0"/>
          </a:p>
        </p:txBody>
      </p:sp>
      <p:sp>
        <p:nvSpPr>
          <p:cNvPr id="15" name="Shape 8"/>
          <p:cNvSpPr/>
          <p:nvPr/>
        </p:nvSpPr>
        <p:spPr>
          <a:xfrm>
            <a:off x="6181344" y="2103120"/>
            <a:ext cx="2651760" cy="1417320"/>
          </a:xfrm>
          <a:prstGeom prst="roundRect">
            <a:avLst>
              <a:gd name="adj" fmla="val 6452"/>
            </a:avLst>
          </a:prstGeom>
          <a:solidFill>
            <a:srgbClr val="456285"/>
          </a:solidFill>
          <a:ln w="9525">
            <a:solidFill>
              <a:srgbClr val="E2E1EA"/>
            </a:solidFill>
            <a:prstDash val="solid"/>
          </a:ln>
        </p:spPr>
      </p:sp>
      <p:pic>
        <p:nvPicPr>
          <p:cNvPr id="16" name="Image 5" descr="/tmp/claude-0/-home-user-HumanRise/ef620e0f-4658-549d-b913-69843549f640/scratchpad/deck/img/logo-white-800.png">    </p:cNvPr>
          <p:cNvPicPr>
            <a:picLocks noChangeAspect="1"/>
          </p:cNvPicPr>
          <p:nvPr/>
        </p:nvPicPr>
        <p:blipFill>
          <a:blip r:embed="rId6"/>
          <a:stretch>
            <a:fillRect/>
          </a:stretch>
        </p:blipFill>
        <p:spPr>
          <a:xfrm>
            <a:off x="6821424" y="2286000"/>
            <a:ext cx="1371600" cy="870509"/>
          </a:xfrm>
          <a:prstGeom prst="rect">
            <a:avLst/>
          </a:prstGeom>
        </p:spPr>
      </p:pic>
      <p:pic>
        <p:nvPicPr>
          <p:cNvPr id="17" name="Image 6" descr="preencoded.png">    </p:cNvPr>
          <p:cNvPicPr>
            <a:picLocks noChangeAspect="1"/>
          </p:cNvPicPr>
          <p:nvPr/>
        </p:nvPicPr>
        <p:blipFill>
          <a:blip r:embed="rId7"/>
          <a:stretch>
            <a:fillRect/>
          </a:stretch>
        </p:blipFill>
        <p:spPr>
          <a:xfrm>
            <a:off x="6181344" y="3621024"/>
            <a:ext cx="219456" cy="219456"/>
          </a:xfrm>
          <a:prstGeom prst="rect">
            <a:avLst/>
          </a:prstGeom>
        </p:spPr>
      </p:pic>
      <p:sp>
        <p:nvSpPr>
          <p:cNvPr id="18" name="Text 9"/>
          <p:cNvSpPr txBox="1"/>
          <p:nvPr/>
        </p:nvSpPr>
        <p:spPr>
          <a:xfrm>
            <a:off x="6455664" y="360273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Deep Rise, white logo</a:t>
            </a:r>
            <a:endParaRPr lang="en-US" sz="1150" dirty="0"/>
          </a:p>
        </p:txBody>
      </p:sp>
      <p:sp>
        <p:nvSpPr>
          <p:cNvPr id="19" name="Shape 10"/>
          <p:cNvSpPr/>
          <p:nvPr/>
        </p:nvSpPr>
        <p:spPr>
          <a:xfrm>
            <a:off x="8997696" y="2103120"/>
            <a:ext cx="2651760" cy="1417320"/>
          </a:xfrm>
          <a:prstGeom prst="roundRect">
            <a:avLst>
              <a:gd name="adj" fmla="val 6452"/>
            </a:avLst>
          </a:prstGeom>
          <a:solidFill>
            <a:srgbClr val="7869BC"/>
          </a:solidFill>
          <a:ln w="9525">
            <a:solidFill>
              <a:srgbClr val="E2E1EA"/>
            </a:solidFill>
            <a:prstDash val="solid"/>
          </a:ln>
        </p:spPr>
      </p:sp>
      <p:pic>
        <p:nvPicPr>
          <p:cNvPr id="20" name="Image 7" descr="/tmp/claude-0/-home-user-HumanRise/ef620e0f-4658-549d-b913-69843549f640/scratchpad/deck/img/logo-white-800.png">    </p:cNvPr>
          <p:cNvPicPr>
            <a:picLocks noChangeAspect="1"/>
          </p:cNvPicPr>
          <p:nvPr/>
        </p:nvPicPr>
        <p:blipFill>
          <a:blip r:embed="rId8"/>
          <a:stretch>
            <a:fillRect/>
          </a:stretch>
        </p:blipFill>
        <p:spPr>
          <a:xfrm>
            <a:off x="9637776" y="2286000"/>
            <a:ext cx="1371600" cy="870509"/>
          </a:xfrm>
          <a:prstGeom prst="rect">
            <a:avLst/>
          </a:prstGeom>
        </p:spPr>
      </p:pic>
      <p:pic>
        <p:nvPicPr>
          <p:cNvPr id="21" name="Image 8" descr="preencoded.png">    </p:cNvPr>
          <p:cNvPicPr>
            <a:picLocks noChangeAspect="1"/>
          </p:cNvPicPr>
          <p:nvPr/>
        </p:nvPicPr>
        <p:blipFill>
          <a:blip r:embed="rId9"/>
          <a:stretch>
            <a:fillRect/>
          </a:stretch>
        </p:blipFill>
        <p:spPr>
          <a:xfrm>
            <a:off x="8997696" y="3621024"/>
            <a:ext cx="219456" cy="219456"/>
          </a:xfrm>
          <a:prstGeom prst="rect">
            <a:avLst/>
          </a:prstGeom>
        </p:spPr>
      </p:pic>
      <p:sp>
        <p:nvSpPr>
          <p:cNvPr id="22" name="Text 11"/>
          <p:cNvSpPr txBox="1"/>
          <p:nvPr/>
        </p:nvSpPr>
        <p:spPr>
          <a:xfrm>
            <a:off x="9272016" y="360273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Star Purple, white logo</a:t>
            </a:r>
            <a:endParaRPr lang="en-US" sz="1150" dirty="0"/>
          </a:p>
        </p:txBody>
      </p:sp>
      <p:sp>
        <p:nvSpPr>
          <p:cNvPr id="23" name="Shape 12"/>
          <p:cNvSpPr/>
          <p:nvPr/>
        </p:nvSpPr>
        <p:spPr>
          <a:xfrm>
            <a:off x="548640" y="4114800"/>
            <a:ext cx="2651760" cy="1417320"/>
          </a:xfrm>
          <a:prstGeom prst="roundRect">
            <a:avLst>
              <a:gd name="adj" fmla="val 6452"/>
            </a:avLst>
          </a:prstGeom>
          <a:solidFill>
            <a:srgbClr val="1E1A2F"/>
          </a:solidFill>
          <a:ln w="9525">
            <a:solidFill>
              <a:srgbClr val="E2E1EA"/>
            </a:solidFill>
            <a:prstDash val="solid"/>
          </a:ln>
        </p:spPr>
      </p:sp>
      <p:pic>
        <p:nvPicPr>
          <p:cNvPr id="24" name="Image 9" descr="/tmp/claude-0/-home-user-HumanRise/ef620e0f-4658-549d-b913-69843549f640/scratchpad/deck/img/logo-white-800.png">    </p:cNvPr>
          <p:cNvPicPr>
            <a:picLocks noChangeAspect="1"/>
          </p:cNvPicPr>
          <p:nvPr/>
        </p:nvPicPr>
        <p:blipFill>
          <a:blip r:embed="rId10"/>
          <a:stretch>
            <a:fillRect/>
          </a:stretch>
        </p:blipFill>
        <p:spPr>
          <a:xfrm>
            <a:off x="1188720" y="4297680"/>
            <a:ext cx="1371600" cy="870509"/>
          </a:xfrm>
          <a:prstGeom prst="rect">
            <a:avLst/>
          </a:prstGeom>
        </p:spPr>
      </p:pic>
      <p:pic>
        <p:nvPicPr>
          <p:cNvPr id="25" name="Image 10" descr="preencoded.png">    </p:cNvPr>
          <p:cNvPicPr>
            <a:picLocks noChangeAspect="1"/>
          </p:cNvPicPr>
          <p:nvPr/>
        </p:nvPicPr>
        <p:blipFill>
          <a:blip r:embed="rId11"/>
          <a:stretch>
            <a:fillRect/>
          </a:stretch>
        </p:blipFill>
        <p:spPr>
          <a:xfrm>
            <a:off x="548640" y="5632704"/>
            <a:ext cx="219456" cy="219456"/>
          </a:xfrm>
          <a:prstGeom prst="rect">
            <a:avLst/>
          </a:prstGeom>
        </p:spPr>
      </p:pic>
      <p:sp>
        <p:nvSpPr>
          <p:cNvPr id="26" name="Text 13"/>
          <p:cNvSpPr txBox="1"/>
          <p:nvPr/>
        </p:nvSpPr>
        <p:spPr>
          <a:xfrm>
            <a:off x="822960" y="561441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Purple 700, white logo</a:t>
            </a:r>
            <a:endParaRPr lang="en-US" sz="1150" dirty="0"/>
          </a:p>
        </p:txBody>
      </p:sp>
      <p:sp>
        <p:nvSpPr>
          <p:cNvPr id="27" name="Shape 14"/>
          <p:cNvSpPr/>
          <p:nvPr/>
        </p:nvSpPr>
        <p:spPr>
          <a:xfrm>
            <a:off x="3364992" y="4114800"/>
            <a:ext cx="2651760" cy="1417320"/>
          </a:xfrm>
          <a:prstGeom prst="roundRect">
            <a:avLst>
              <a:gd name="adj" fmla="val 6452"/>
            </a:avLst>
          </a:prstGeom>
          <a:solidFill>
            <a:srgbClr val="6E86AE"/>
          </a:solidFill>
          <a:ln w="9525">
            <a:solidFill>
              <a:srgbClr val="E2E1EA"/>
            </a:solidFill>
            <a:prstDash val="solid"/>
          </a:ln>
        </p:spPr>
      </p:sp>
      <p:pic>
        <p:nvPicPr>
          <p:cNvPr id="28" name="Image 11" descr="/tmp/claude-0/-home-user-HumanRise/ef620e0f-4658-549d-b913-69843549f640/scratchpad/deck/img/logo-colour-800.png">    </p:cNvPr>
          <p:cNvPicPr>
            <a:picLocks noChangeAspect="1"/>
          </p:cNvPicPr>
          <p:nvPr/>
        </p:nvPicPr>
        <p:blipFill>
          <a:blip r:embed="rId12"/>
          <a:stretch>
            <a:fillRect/>
          </a:stretch>
        </p:blipFill>
        <p:spPr>
          <a:xfrm>
            <a:off x="4005072" y="4297680"/>
            <a:ext cx="1371600" cy="870509"/>
          </a:xfrm>
          <a:prstGeom prst="rect">
            <a:avLst/>
          </a:prstGeom>
        </p:spPr>
      </p:pic>
      <p:pic>
        <p:nvPicPr>
          <p:cNvPr id="29" name="Image 12" descr="preencoded.png">    </p:cNvPr>
          <p:cNvPicPr>
            <a:picLocks noChangeAspect="1"/>
          </p:cNvPicPr>
          <p:nvPr/>
        </p:nvPicPr>
        <p:blipFill>
          <a:blip r:embed="rId13"/>
          <a:stretch>
            <a:fillRect/>
          </a:stretch>
        </p:blipFill>
        <p:spPr>
          <a:xfrm>
            <a:off x="3364992" y="5632704"/>
            <a:ext cx="219456" cy="219456"/>
          </a:xfrm>
          <a:prstGeom prst="rect">
            <a:avLst/>
          </a:prstGeom>
        </p:spPr>
      </p:pic>
      <p:sp>
        <p:nvSpPr>
          <p:cNvPr id="30" name="Text 15"/>
          <p:cNvSpPr txBox="1"/>
          <p:nvPr/>
        </p:nvSpPr>
        <p:spPr>
          <a:xfrm>
            <a:off x="3639312" y="561441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No colour logo on mid-tones</a:t>
            </a:r>
            <a:endParaRPr lang="en-US" sz="1150" dirty="0"/>
          </a:p>
        </p:txBody>
      </p:sp>
      <p:sp>
        <p:nvSpPr>
          <p:cNvPr id="31" name="Shape 16"/>
          <p:cNvSpPr/>
          <p:nvPr/>
        </p:nvSpPr>
        <p:spPr>
          <a:xfrm>
            <a:off x="6181344" y="4114800"/>
            <a:ext cx="2651760" cy="1417320"/>
          </a:xfrm>
          <a:prstGeom prst="roundRect">
            <a:avLst>
              <a:gd name="adj" fmla="val 6452"/>
            </a:avLst>
          </a:prstGeom>
          <a:solidFill>
            <a:srgbClr val="1E1A2F"/>
          </a:solidFill>
          <a:ln w="9525">
            <a:solidFill>
              <a:srgbClr val="E2E1EA"/>
            </a:solidFill>
            <a:prstDash val="solid"/>
          </a:ln>
        </p:spPr>
      </p:sp>
      <p:pic>
        <p:nvPicPr>
          <p:cNvPr id="32" name="Image 13" descr="/tmp/claude-0/-home-user-HumanRise/ef620e0f-4658-549d-b913-69843549f640/scratchpad/deck/img/logo-colour-800.png">    </p:cNvPr>
          <p:cNvPicPr>
            <a:picLocks noChangeAspect="1"/>
          </p:cNvPicPr>
          <p:nvPr/>
        </p:nvPicPr>
        <p:blipFill>
          <a:blip r:embed="rId14"/>
          <a:stretch>
            <a:fillRect/>
          </a:stretch>
        </p:blipFill>
        <p:spPr>
          <a:xfrm>
            <a:off x="6821424" y="4297680"/>
            <a:ext cx="1371600" cy="870509"/>
          </a:xfrm>
          <a:prstGeom prst="rect">
            <a:avLst/>
          </a:prstGeom>
        </p:spPr>
      </p:pic>
      <p:pic>
        <p:nvPicPr>
          <p:cNvPr id="33" name="Image 14" descr="preencoded.png">    </p:cNvPr>
          <p:cNvPicPr>
            <a:picLocks noChangeAspect="1"/>
          </p:cNvPicPr>
          <p:nvPr/>
        </p:nvPicPr>
        <p:blipFill>
          <a:blip r:embed="rId15"/>
          <a:stretch>
            <a:fillRect/>
          </a:stretch>
        </p:blipFill>
        <p:spPr>
          <a:xfrm>
            <a:off x="6181344" y="5632704"/>
            <a:ext cx="219456" cy="219456"/>
          </a:xfrm>
          <a:prstGeom prst="rect">
            <a:avLst/>
          </a:prstGeom>
        </p:spPr>
      </p:pic>
      <p:sp>
        <p:nvSpPr>
          <p:cNvPr id="34" name="Text 17"/>
          <p:cNvSpPr txBox="1"/>
          <p:nvPr/>
        </p:nvSpPr>
        <p:spPr>
          <a:xfrm>
            <a:off x="6455664" y="561441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No colour logo on dark colours</a:t>
            </a:r>
            <a:endParaRPr lang="en-US" sz="1150" dirty="0"/>
          </a:p>
        </p:txBody>
      </p:sp>
      <p:sp>
        <p:nvSpPr>
          <p:cNvPr id="35" name="Shape 18"/>
          <p:cNvSpPr/>
          <p:nvPr/>
        </p:nvSpPr>
        <p:spPr>
          <a:xfrm>
            <a:off x="8997696" y="4114800"/>
            <a:ext cx="2651760" cy="1417320"/>
          </a:xfrm>
          <a:prstGeom prst="roundRect">
            <a:avLst>
              <a:gd name="adj" fmla="val 6452"/>
            </a:avLst>
          </a:prstGeom>
          <a:solidFill>
            <a:srgbClr val="FEFEF6"/>
          </a:solidFill>
          <a:ln w="9525">
            <a:solidFill>
              <a:srgbClr val="E2E1EA"/>
            </a:solidFill>
            <a:prstDash val="solid"/>
          </a:ln>
        </p:spPr>
      </p:sp>
      <p:pic>
        <p:nvPicPr>
          <p:cNvPr id="36" name="Image 15" descr="/tmp/claude-0/-home-user-HumanRise/ef620e0f-4658-549d-b913-69843549f640/scratchpad/deck/img/logo-colour-800.png">    </p:cNvPr>
          <p:cNvPicPr>
            <a:picLocks noChangeAspect="1"/>
          </p:cNvPicPr>
          <p:nvPr/>
        </p:nvPicPr>
        <p:blipFill>
          <a:blip r:embed="rId16"/>
          <a:stretch>
            <a:fillRect/>
          </a:stretch>
        </p:blipFill>
        <p:spPr>
          <a:xfrm>
            <a:off x="9637776" y="4297680"/>
            <a:ext cx="1371600" cy="870509"/>
          </a:xfrm>
          <a:prstGeom prst="rect">
            <a:avLst/>
          </a:prstGeom>
        </p:spPr>
      </p:pic>
      <p:pic>
        <p:nvPicPr>
          <p:cNvPr id="37" name="Image 16" descr="preencoded.png">    </p:cNvPr>
          <p:cNvPicPr>
            <a:picLocks noChangeAspect="1"/>
          </p:cNvPicPr>
          <p:nvPr/>
        </p:nvPicPr>
        <p:blipFill>
          <a:blip r:embed="rId17"/>
          <a:stretch>
            <a:fillRect/>
          </a:stretch>
        </p:blipFill>
        <p:spPr>
          <a:xfrm>
            <a:off x="8997696" y="5632704"/>
            <a:ext cx="219456" cy="219456"/>
          </a:xfrm>
          <a:prstGeom prst="rect">
            <a:avLst/>
          </a:prstGeom>
        </p:spPr>
      </p:pic>
      <p:sp>
        <p:nvSpPr>
          <p:cNvPr id="38" name="Text 19"/>
          <p:cNvSpPr txBox="1"/>
          <p:nvPr/>
        </p:nvSpPr>
        <p:spPr>
          <a:xfrm>
            <a:off x="9272016" y="5614416"/>
            <a:ext cx="237744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No cream or off-white grounds</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03</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LOGO</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Please don’t.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m_stretch.png">    </p:cNvPr>
          <p:cNvPicPr>
            <a:picLocks noChangeAspect="1"/>
          </p:cNvPicPr>
          <p:nvPr/>
        </p:nvPicPr>
        <p:blipFill>
          <a:blip r:embed="rId2"/>
          <a:stretch>
            <a:fillRect/>
          </a:stretch>
        </p:blipFill>
        <p:spPr>
          <a:xfrm>
            <a:off x="548640" y="1691640"/>
            <a:ext cx="2331720" cy="1760220"/>
          </a:xfrm>
          <a:prstGeom prst="rect">
            <a:avLst/>
          </a:prstGeom>
        </p:spPr>
      </p:pic>
      <p:pic>
        <p:nvPicPr>
          <p:cNvPr id="7" name="Image 2" descr="preencoded.png">    </p:cNvPr>
          <p:cNvPicPr>
            <a:picLocks noChangeAspect="1"/>
          </p:cNvPicPr>
          <p:nvPr/>
        </p:nvPicPr>
        <p:blipFill>
          <a:blip r:embed="rId3"/>
          <a:stretch>
            <a:fillRect/>
          </a:stretch>
        </p:blipFill>
        <p:spPr>
          <a:xfrm>
            <a:off x="548640" y="3520440"/>
            <a:ext cx="219456" cy="219456"/>
          </a:xfrm>
          <a:prstGeom prst="rect">
            <a:avLst/>
          </a:prstGeom>
        </p:spPr>
      </p:pic>
      <p:sp>
        <p:nvSpPr>
          <p:cNvPr id="8" name="Text 3"/>
          <p:cNvSpPr txBox="1"/>
          <p:nvPr/>
        </p:nvSpPr>
        <p:spPr>
          <a:xfrm>
            <a:off x="822960" y="350215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Stretch or squash it</a:t>
            </a:r>
            <a:endParaRPr lang="en-US" sz="1150" dirty="0"/>
          </a:p>
        </p:txBody>
      </p:sp>
      <p:pic>
        <p:nvPicPr>
          <p:cNvPr id="9" name="Image 3" descr="/tmp/claude-0/-home-user-HumanRise/ef620e0f-4658-549d-b913-69843549f640/scratchpad/deck/img/m_recolour.png">    </p:cNvPr>
          <p:cNvPicPr>
            <a:picLocks noChangeAspect="1"/>
          </p:cNvPicPr>
          <p:nvPr/>
        </p:nvPicPr>
        <p:blipFill>
          <a:blip r:embed="rId4"/>
          <a:stretch>
            <a:fillRect/>
          </a:stretch>
        </p:blipFill>
        <p:spPr>
          <a:xfrm>
            <a:off x="3136392" y="1691640"/>
            <a:ext cx="2331720" cy="1760220"/>
          </a:xfrm>
          <a:prstGeom prst="rect">
            <a:avLst/>
          </a:prstGeom>
        </p:spPr>
      </p:pic>
      <p:pic>
        <p:nvPicPr>
          <p:cNvPr id="10" name="Image 4" descr="preencoded.png">    </p:cNvPr>
          <p:cNvPicPr>
            <a:picLocks noChangeAspect="1"/>
          </p:cNvPicPr>
          <p:nvPr/>
        </p:nvPicPr>
        <p:blipFill>
          <a:blip r:embed="rId5"/>
          <a:stretch>
            <a:fillRect/>
          </a:stretch>
        </p:blipFill>
        <p:spPr>
          <a:xfrm>
            <a:off x="3136392" y="3520440"/>
            <a:ext cx="219456" cy="219456"/>
          </a:xfrm>
          <a:prstGeom prst="rect">
            <a:avLst/>
          </a:prstGeom>
        </p:spPr>
      </p:pic>
      <p:sp>
        <p:nvSpPr>
          <p:cNvPr id="11" name="Text 4"/>
          <p:cNvSpPr txBox="1"/>
          <p:nvPr/>
        </p:nvSpPr>
        <p:spPr>
          <a:xfrm>
            <a:off x="3410712" y="350215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Recolour it</a:t>
            </a:r>
            <a:endParaRPr lang="en-US" sz="1150" dirty="0"/>
          </a:p>
        </p:txBody>
      </p:sp>
      <p:pic>
        <p:nvPicPr>
          <p:cNvPr id="12" name="Image 5" descr="/tmp/claude-0/-home-user-HumanRise/ef620e0f-4658-549d-b913-69843549f640/scratchpad/deck/img/m_rotate.png">    </p:cNvPr>
          <p:cNvPicPr>
            <a:picLocks noChangeAspect="1"/>
          </p:cNvPicPr>
          <p:nvPr/>
        </p:nvPicPr>
        <p:blipFill>
          <a:blip r:embed="rId6"/>
          <a:stretch>
            <a:fillRect/>
          </a:stretch>
        </p:blipFill>
        <p:spPr>
          <a:xfrm>
            <a:off x="5724144" y="1691640"/>
            <a:ext cx="2331720" cy="1760220"/>
          </a:xfrm>
          <a:prstGeom prst="rect">
            <a:avLst/>
          </a:prstGeom>
        </p:spPr>
      </p:pic>
      <p:pic>
        <p:nvPicPr>
          <p:cNvPr id="13" name="Image 6" descr="preencoded.png">    </p:cNvPr>
          <p:cNvPicPr>
            <a:picLocks noChangeAspect="1"/>
          </p:cNvPicPr>
          <p:nvPr/>
        </p:nvPicPr>
        <p:blipFill>
          <a:blip r:embed="rId7"/>
          <a:stretch>
            <a:fillRect/>
          </a:stretch>
        </p:blipFill>
        <p:spPr>
          <a:xfrm>
            <a:off x="5724144" y="3520440"/>
            <a:ext cx="219456" cy="219456"/>
          </a:xfrm>
          <a:prstGeom prst="rect">
            <a:avLst/>
          </a:prstGeom>
        </p:spPr>
      </p:pic>
      <p:sp>
        <p:nvSpPr>
          <p:cNvPr id="14" name="Text 5"/>
          <p:cNvSpPr txBox="1"/>
          <p:nvPr/>
        </p:nvSpPr>
        <p:spPr>
          <a:xfrm>
            <a:off x="5998464" y="350215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Rotate or tilt it</a:t>
            </a:r>
            <a:endParaRPr lang="en-US" sz="1150" dirty="0"/>
          </a:p>
        </p:txBody>
      </p:sp>
      <p:pic>
        <p:nvPicPr>
          <p:cNvPr id="15" name="Image 7" descr="/tmp/claude-0/-home-user-HumanRise/ef620e0f-4658-549d-b913-69843549f640/scratchpad/deck/img/m_fx.png">    </p:cNvPr>
          <p:cNvPicPr>
            <a:picLocks noChangeAspect="1"/>
          </p:cNvPicPr>
          <p:nvPr/>
        </p:nvPicPr>
        <p:blipFill>
          <a:blip r:embed="rId8"/>
          <a:stretch>
            <a:fillRect/>
          </a:stretch>
        </p:blipFill>
        <p:spPr>
          <a:xfrm>
            <a:off x="8311896" y="1691640"/>
            <a:ext cx="2331720" cy="1760220"/>
          </a:xfrm>
          <a:prstGeom prst="rect">
            <a:avLst/>
          </a:prstGeom>
        </p:spPr>
      </p:pic>
      <p:pic>
        <p:nvPicPr>
          <p:cNvPr id="16" name="Image 8" descr="preencoded.png">    </p:cNvPr>
          <p:cNvPicPr>
            <a:picLocks noChangeAspect="1"/>
          </p:cNvPicPr>
          <p:nvPr/>
        </p:nvPicPr>
        <p:blipFill>
          <a:blip r:embed="rId9"/>
          <a:stretch>
            <a:fillRect/>
          </a:stretch>
        </p:blipFill>
        <p:spPr>
          <a:xfrm>
            <a:off x="8311896" y="3520440"/>
            <a:ext cx="219456" cy="219456"/>
          </a:xfrm>
          <a:prstGeom prst="rect">
            <a:avLst/>
          </a:prstGeom>
        </p:spPr>
      </p:pic>
      <p:sp>
        <p:nvSpPr>
          <p:cNvPr id="17" name="Text 6"/>
          <p:cNvSpPr txBox="1"/>
          <p:nvPr/>
        </p:nvSpPr>
        <p:spPr>
          <a:xfrm>
            <a:off x="8586216" y="350215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Add shadows, glows or effects</a:t>
            </a:r>
            <a:endParaRPr lang="en-US" sz="1150" dirty="0"/>
          </a:p>
        </p:txBody>
      </p:sp>
      <p:pic>
        <p:nvPicPr>
          <p:cNvPr id="18" name="Image 9" descr="/tmp/claude-0/-home-user-HumanRise/ef620e0f-4658-549d-b913-69843549f640/scratchpad/deck/img/m_busy.jpg">    </p:cNvPr>
          <p:cNvPicPr>
            <a:picLocks noChangeAspect="1"/>
          </p:cNvPicPr>
          <p:nvPr/>
        </p:nvPicPr>
        <p:blipFill>
          <a:blip r:embed="rId10"/>
          <a:stretch>
            <a:fillRect/>
          </a:stretch>
        </p:blipFill>
        <p:spPr>
          <a:xfrm>
            <a:off x="548640" y="3931920"/>
            <a:ext cx="2331720" cy="1760220"/>
          </a:xfrm>
          <a:prstGeom prst="rect">
            <a:avLst/>
          </a:prstGeom>
        </p:spPr>
      </p:pic>
      <p:pic>
        <p:nvPicPr>
          <p:cNvPr id="19" name="Image 10" descr="preencoded.png">    </p:cNvPr>
          <p:cNvPicPr>
            <a:picLocks noChangeAspect="1"/>
          </p:cNvPicPr>
          <p:nvPr/>
        </p:nvPicPr>
        <p:blipFill>
          <a:blip r:embed="rId11"/>
          <a:stretch>
            <a:fillRect/>
          </a:stretch>
        </p:blipFill>
        <p:spPr>
          <a:xfrm>
            <a:off x="548640" y="5760720"/>
            <a:ext cx="219456" cy="219456"/>
          </a:xfrm>
          <a:prstGeom prst="rect">
            <a:avLst/>
          </a:prstGeom>
        </p:spPr>
      </p:pic>
      <p:sp>
        <p:nvSpPr>
          <p:cNvPr id="20" name="Text 7"/>
          <p:cNvSpPr txBox="1"/>
          <p:nvPr/>
        </p:nvSpPr>
        <p:spPr>
          <a:xfrm>
            <a:off x="822960" y="574243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Place it on a busy photo</a:t>
            </a:r>
            <a:endParaRPr lang="en-US" sz="1150" dirty="0"/>
          </a:p>
        </p:txBody>
      </p:sp>
      <p:pic>
        <p:nvPicPr>
          <p:cNvPr id="21" name="Image 11" descr="/tmp/claude-0/-home-user-HumanRise/ef620e0f-4658-549d-b913-69843549f640/scratchpad/deck/img/m_split.png">    </p:cNvPr>
          <p:cNvPicPr>
            <a:picLocks noChangeAspect="1"/>
          </p:cNvPicPr>
          <p:nvPr/>
        </p:nvPicPr>
        <p:blipFill>
          <a:blip r:embed="rId12"/>
          <a:stretch>
            <a:fillRect/>
          </a:stretch>
        </p:blipFill>
        <p:spPr>
          <a:xfrm>
            <a:off x="3136392" y="3931920"/>
            <a:ext cx="2331720" cy="1760220"/>
          </a:xfrm>
          <a:prstGeom prst="rect">
            <a:avLst/>
          </a:prstGeom>
        </p:spPr>
      </p:pic>
      <p:pic>
        <p:nvPicPr>
          <p:cNvPr id="22" name="Image 12" descr="preencoded.png">    </p:cNvPr>
          <p:cNvPicPr>
            <a:picLocks noChangeAspect="1"/>
          </p:cNvPicPr>
          <p:nvPr/>
        </p:nvPicPr>
        <p:blipFill>
          <a:blip r:embed="rId13"/>
          <a:stretch>
            <a:fillRect/>
          </a:stretch>
        </p:blipFill>
        <p:spPr>
          <a:xfrm>
            <a:off x="3136392" y="5760720"/>
            <a:ext cx="219456" cy="219456"/>
          </a:xfrm>
          <a:prstGeom prst="rect">
            <a:avLst/>
          </a:prstGeom>
        </p:spPr>
      </p:pic>
      <p:sp>
        <p:nvSpPr>
          <p:cNvPr id="23" name="Text 8"/>
          <p:cNvSpPr txBox="1"/>
          <p:nvPr/>
        </p:nvSpPr>
        <p:spPr>
          <a:xfrm>
            <a:off x="3410712" y="574243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Rearrange the parts</a:t>
            </a:r>
            <a:endParaRPr lang="en-US" sz="1150" dirty="0"/>
          </a:p>
        </p:txBody>
      </p:sp>
      <p:pic>
        <p:nvPicPr>
          <p:cNvPr id="24" name="Image 13" descr="/tmp/claude-0/-home-user-HumanRise/ef620e0f-4658-549d-b913-69843549f640/scratchpad/deck/img/m_retype.png">    </p:cNvPr>
          <p:cNvPicPr>
            <a:picLocks noChangeAspect="1"/>
          </p:cNvPicPr>
          <p:nvPr/>
        </p:nvPicPr>
        <p:blipFill>
          <a:blip r:embed="rId14"/>
          <a:stretch>
            <a:fillRect/>
          </a:stretch>
        </p:blipFill>
        <p:spPr>
          <a:xfrm>
            <a:off x="5724144" y="3931920"/>
            <a:ext cx="2331720" cy="1760220"/>
          </a:xfrm>
          <a:prstGeom prst="rect">
            <a:avLst/>
          </a:prstGeom>
        </p:spPr>
      </p:pic>
      <p:pic>
        <p:nvPicPr>
          <p:cNvPr id="25" name="Image 14" descr="preencoded.png">    </p:cNvPr>
          <p:cNvPicPr>
            <a:picLocks noChangeAspect="1"/>
          </p:cNvPicPr>
          <p:nvPr/>
        </p:nvPicPr>
        <p:blipFill>
          <a:blip r:embed="rId15"/>
          <a:stretch>
            <a:fillRect/>
          </a:stretch>
        </p:blipFill>
        <p:spPr>
          <a:xfrm>
            <a:off x="5724144" y="5760720"/>
            <a:ext cx="219456" cy="219456"/>
          </a:xfrm>
          <a:prstGeom prst="rect">
            <a:avLst/>
          </a:prstGeom>
        </p:spPr>
      </p:pic>
      <p:sp>
        <p:nvSpPr>
          <p:cNvPr id="26" name="Text 9"/>
          <p:cNvSpPr txBox="1"/>
          <p:nvPr/>
        </p:nvSpPr>
        <p:spPr>
          <a:xfrm>
            <a:off x="5998464" y="574243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Retype it or swap the star</a:t>
            </a:r>
            <a:endParaRPr lang="en-US" sz="1150" dirty="0"/>
          </a:p>
        </p:txBody>
      </p:sp>
      <p:pic>
        <p:nvPicPr>
          <p:cNvPr id="27" name="Image 15" descr="/tmp/claude-0/-home-user-HumanRise/ef620e0f-4658-549d-b913-69843549f640/scratchpad/deck/img/m_outline.png">    </p:cNvPr>
          <p:cNvPicPr>
            <a:picLocks noChangeAspect="1"/>
          </p:cNvPicPr>
          <p:nvPr/>
        </p:nvPicPr>
        <p:blipFill>
          <a:blip r:embed="rId16"/>
          <a:stretch>
            <a:fillRect/>
          </a:stretch>
        </p:blipFill>
        <p:spPr>
          <a:xfrm>
            <a:off x="8311896" y="3931920"/>
            <a:ext cx="2331720" cy="1760220"/>
          </a:xfrm>
          <a:prstGeom prst="rect">
            <a:avLst/>
          </a:prstGeom>
        </p:spPr>
      </p:pic>
      <p:pic>
        <p:nvPicPr>
          <p:cNvPr id="28" name="Image 16" descr="preencoded.png">    </p:cNvPr>
          <p:cNvPicPr>
            <a:picLocks noChangeAspect="1"/>
          </p:cNvPicPr>
          <p:nvPr/>
        </p:nvPicPr>
        <p:blipFill>
          <a:blip r:embed="rId17"/>
          <a:stretch>
            <a:fillRect/>
          </a:stretch>
        </p:blipFill>
        <p:spPr>
          <a:xfrm>
            <a:off x="8311896" y="5760720"/>
            <a:ext cx="219456" cy="219456"/>
          </a:xfrm>
          <a:prstGeom prst="rect">
            <a:avLst/>
          </a:prstGeom>
        </p:spPr>
      </p:pic>
      <p:sp>
        <p:nvSpPr>
          <p:cNvPr id="29" name="Text 10"/>
          <p:cNvSpPr txBox="1"/>
          <p:nvPr/>
        </p:nvSpPr>
        <p:spPr>
          <a:xfrm>
            <a:off x="8586216" y="5742432"/>
            <a:ext cx="210312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Outline it or box it in</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04</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COLOUR</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Purple for the person. Blue for the rise.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91640"/>
            <a:ext cx="2651760" cy="1600200"/>
          </a:xfrm>
          <a:prstGeom prst="rect">
            <a:avLst/>
          </a:prstGeom>
          <a:solidFill>
            <a:srgbClr val="7869BC"/>
          </a:solidFill>
          <a:ln w="6350">
            <a:solidFill>
              <a:srgbClr val="7869BC"/>
            </a:solidFill>
            <a:prstDash val="solid"/>
          </a:ln>
        </p:spPr>
      </p:sp>
      <p:sp>
        <p:nvSpPr>
          <p:cNvPr id="7" name="Text 4"/>
          <p:cNvSpPr txBox="1"/>
          <p:nvPr/>
        </p:nvSpPr>
        <p:spPr>
          <a:xfrm>
            <a:off x="731520" y="2606040"/>
            <a:ext cx="2286000" cy="228600"/>
          </a:xfrm>
          <a:prstGeom prst="rect">
            <a:avLst/>
          </a:prstGeom>
          <a:noFill/>
          <a:ln/>
        </p:spPr>
        <p:txBody>
          <a:bodyPr wrap="square" lIns="0" tIns="0" rIns="0" bIns="0" rtlCol="0" anchor="t"/>
          <a:lstStyle/>
          <a:p>
            <a:pPr indent="0" marL="0">
              <a:buNone/>
            </a:pPr>
            <a:r>
              <a:rPr lang="en-US" sz="900" b="1" spc="200" kern="0" dirty="0">
                <a:solidFill>
                  <a:srgbClr val="FFFFFF"/>
                </a:solidFill>
                <a:latin typeface="Arial" pitchFamily="34" charset="0"/>
                <a:ea typeface="Arial" pitchFamily="34" charset="-122"/>
                <a:cs typeface="Arial" pitchFamily="34" charset="-120"/>
              </a:rPr>
              <a:t>PRIMARY</a:t>
            </a:r>
            <a:endParaRPr lang="en-US" sz="900" dirty="0"/>
          </a:p>
        </p:txBody>
      </p:sp>
      <p:sp>
        <p:nvSpPr>
          <p:cNvPr id="8" name="Text 5"/>
          <p:cNvSpPr txBox="1"/>
          <p:nvPr/>
        </p:nvSpPr>
        <p:spPr>
          <a:xfrm>
            <a:off x="731520" y="2834640"/>
            <a:ext cx="2286000" cy="3200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Star Purple</a:t>
            </a:r>
            <a:endParaRPr lang="en-US" sz="1700" dirty="0"/>
          </a:p>
        </p:txBody>
      </p:sp>
      <p:sp>
        <p:nvSpPr>
          <p:cNvPr id="9" name="Text 6"/>
          <p:cNvSpPr txBox="1"/>
          <p:nvPr/>
        </p:nvSpPr>
        <p:spPr>
          <a:xfrm>
            <a:off x="566928" y="3401568"/>
            <a:ext cx="2606040" cy="658368"/>
          </a:xfrm>
          <a:prstGeom prst="rect">
            <a:avLst/>
          </a:prstGeom>
          <a:noFill/>
          <a:ln/>
        </p:spPr>
        <p:txBody>
          <a:bodyPr wrap="square" lIns="0" tIns="0" rIns="0" bIns="0" rtlCol="0" anchor="t"/>
          <a:lstStyle/>
          <a:p>
            <a:pPr indent="0" marL="0">
              <a:buNone/>
            </a:pPr>
            <a:r>
              <a:rPr lang="en-US" sz="1100" dirty="0">
                <a:solidFill>
                  <a:srgbClr val="23222B"/>
                </a:solidFill>
                <a:latin typeface="Courier New" pitchFamily="34" charset="0"/>
                <a:ea typeface="Courier New" pitchFamily="34" charset="-122"/>
                <a:cs typeface="Courier New" pitchFamily="34" charset="-120"/>
              </a:rPr>
              <a:t>HEX  #7869BC</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RGB  120 105 188</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CMYK  36 44 0 26</a:t>
            </a:r>
            <a:endParaRPr lang="en-US" sz="1100" dirty="0"/>
          </a:p>
        </p:txBody>
      </p:sp>
      <p:sp>
        <p:nvSpPr>
          <p:cNvPr id="10" name="Text 7"/>
          <p:cNvSpPr txBox="1"/>
          <p:nvPr/>
        </p:nvSpPr>
        <p:spPr>
          <a:xfrm>
            <a:off x="566928" y="4087368"/>
            <a:ext cx="2606040" cy="5486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The star and the “n”. Buttons, links, highlights, icons.</a:t>
            </a:r>
            <a:endParaRPr lang="en-US" sz="1100" dirty="0"/>
          </a:p>
        </p:txBody>
      </p:sp>
      <p:sp>
        <p:nvSpPr>
          <p:cNvPr id="11" name="Shape 8"/>
          <p:cNvSpPr/>
          <p:nvPr/>
        </p:nvSpPr>
        <p:spPr>
          <a:xfrm>
            <a:off x="3364992" y="1691640"/>
            <a:ext cx="2651760" cy="1600200"/>
          </a:xfrm>
          <a:prstGeom prst="rect">
            <a:avLst/>
          </a:prstGeom>
          <a:solidFill>
            <a:srgbClr val="456285"/>
          </a:solidFill>
          <a:ln w="6350">
            <a:solidFill>
              <a:srgbClr val="456285"/>
            </a:solidFill>
            <a:prstDash val="solid"/>
          </a:ln>
        </p:spPr>
      </p:sp>
      <p:sp>
        <p:nvSpPr>
          <p:cNvPr id="12" name="Text 9"/>
          <p:cNvSpPr txBox="1"/>
          <p:nvPr/>
        </p:nvSpPr>
        <p:spPr>
          <a:xfrm>
            <a:off x="3547872" y="2606040"/>
            <a:ext cx="2286000" cy="228600"/>
          </a:xfrm>
          <a:prstGeom prst="rect">
            <a:avLst/>
          </a:prstGeom>
          <a:noFill/>
          <a:ln/>
        </p:spPr>
        <p:txBody>
          <a:bodyPr wrap="square" lIns="0" tIns="0" rIns="0" bIns="0" rtlCol="0" anchor="t"/>
          <a:lstStyle/>
          <a:p>
            <a:pPr indent="0" marL="0">
              <a:buNone/>
            </a:pPr>
            <a:r>
              <a:rPr lang="en-US" sz="900" b="1" spc="200" kern="0" dirty="0">
                <a:solidFill>
                  <a:srgbClr val="FFFFFF"/>
                </a:solidFill>
                <a:latin typeface="Arial" pitchFamily="34" charset="0"/>
                <a:ea typeface="Arial" pitchFamily="34" charset="-122"/>
                <a:cs typeface="Arial" pitchFamily="34" charset="-120"/>
              </a:rPr>
              <a:t>PRIMARY DARK</a:t>
            </a:r>
            <a:endParaRPr lang="en-US" sz="900" dirty="0"/>
          </a:p>
        </p:txBody>
      </p:sp>
      <p:sp>
        <p:nvSpPr>
          <p:cNvPr id="13" name="Text 10"/>
          <p:cNvSpPr txBox="1"/>
          <p:nvPr/>
        </p:nvSpPr>
        <p:spPr>
          <a:xfrm>
            <a:off x="3547872" y="2834640"/>
            <a:ext cx="2286000" cy="3200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Deep Rise</a:t>
            </a:r>
            <a:endParaRPr lang="en-US" sz="1700" dirty="0"/>
          </a:p>
        </p:txBody>
      </p:sp>
      <p:sp>
        <p:nvSpPr>
          <p:cNvPr id="14" name="Text 11"/>
          <p:cNvSpPr txBox="1"/>
          <p:nvPr/>
        </p:nvSpPr>
        <p:spPr>
          <a:xfrm>
            <a:off x="3383280" y="3401568"/>
            <a:ext cx="2606040" cy="658368"/>
          </a:xfrm>
          <a:prstGeom prst="rect">
            <a:avLst/>
          </a:prstGeom>
          <a:noFill/>
          <a:ln/>
        </p:spPr>
        <p:txBody>
          <a:bodyPr wrap="square" lIns="0" tIns="0" rIns="0" bIns="0" rtlCol="0" anchor="t"/>
          <a:lstStyle/>
          <a:p>
            <a:pPr indent="0" marL="0">
              <a:buNone/>
            </a:pPr>
            <a:r>
              <a:rPr lang="en-US" sz="1100" dirty="0">
                <a:solidFill>
                  <a:srgbClr val="23222B"/>
                </a:solidFill>
                <a:latin typeface="Courier New" pitchFamily="34" charset="0"/>
                <a:ea typeface="Courier New" pitchFamily="34" charset="-122"/>
                <a:cs typeface="Courier New" pitchFamily="34" charset="-120"/>
              </a:rPr>
              <a:t>HEX  #456285</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RGB  69 98 133</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CMYK  48 26 0 48</a:t>
            </a:r>
            <a:endParaRPr lang="en-US" sz="1100" dirty="0"/>
          </a:p>
        </p:txBody>
      </p:sp>
      <p:sp>
        <p:nvSpPr>
          <p:cNvPr id="15" name="Text 12"/>
          <p:cNvSpPr txBox="1"/>
          <p:nvPr/>
        </p:nvSpPr>
        <p:spPr>
          <a:xfrm>
            <a:off x="3383280" y="4087368"/>
            <a:ext cx="2606040" cy="5486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The rising I. Headings, dark panels, footers.</a:t>
            </a:r>
            <a:endParaRPr lang="en-US" sz="1100" dirty="0"/>
          </a:p>
        </p:txBody>
      </p:sp>
      <p:sp>
        <p:nvSpPr>
          <p:cNvPr id="16" name="Shape 13"/>
          <p:cNvSpPr/>
          <p:nvPr/>
        </p:nvSpPr>
        <p:spPr>
          <a:xfrm>
            <a:off x="6181344" y="1691640"/>
            <a:ext cx="2651760" cy="1600200"/>
          </a:xfrm>
          <a:prstGeom prst="rect">
            <a:avLst/>
          </a:prstGeom>
          <a:solidFill>
            <a:srgbClr val="6E86AE"/>
          </a:solidFill>
          <a:ln w="6350">
            <a:solidFill>
              <a:srgbClr val="6E86AE"/>
            </a:solidFill>
            <a:prstDash val="solid"/>
          </a:ln>
        </p:spPr>
      </p:sp>
      <p:sp>
        <p:nvSpPr>
          <p:cNvPr id="17" name="Text 14"/>
          <p:cNvSpPr txBox="1"/>
          <p:nvPr/>
        </p:nvSpPr>
        <p:spPr>
          <a:xfrm>
            <a:off x="6364224" y="2606040"/>
            <a:ext cx="2286000" cy="228600"/>
          </a:xfrm>
          <a:prstGeom prst="rect">
            <a:avLst/>
          </a:prstGeom>
          <a:noFill/>
          <a:ln/>
        </p:spPr>
        <p:txBody>
          <a:bodyPr wrap="square" lIns="0" tIns="0" rIns="0" bIns="0" rtlCol="0" anchor="t"/>
          <a:lstStyle/>
          <a:p>
            <a:pPr indent="0" marL="0">
              <a:buNone/>
            </a:pPr>
            <a:r>
              <a:rPr lang="en-US" sz="900" b="1" spc="200" kern="0" dirty="0">
                <a:solidFill>
                  <a:srgbClr val="FFFFFF"/>
                </a:solidFill>
                <a:latin typeface="Arial" pitchFamily="34" charset="0"/>
                <a:ea typeface="Arial" pitchFamily="34" charset="-122"/>
                <a:cs typeface="Arial" pitchFamily="34" charset="-120"/>
              </a:rPr>
              <a:t>SECONDARY</a:t>
            </a:r>
            <a:endParaRPr lang="en-US" sz="900" dirty="0"/>
          </a:p>
        </p:txBody>
      </p:sp>
      <p:sp>
        <p:nvSpPr>
          <p:cNvPr id="18" name="Text 15"/>
          <p:cNvSpPr txBox="1"/>
          <p:nvPr/>
        </p:nvSpPr>
        <p:spPr>
          <a:xfrm>
            <a:off x="6364224" y="2834640"/>
            <a:ext cx="2286000" cy="3200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Rise Blue</a:t>
            </a:r>
            <a:endParaRPr lang="en-US" sz="1700" dirty="0"/>
          </a:p>
        </p:txBody>
      </p:sp>
      <p:sp>
        <p:nvSpPr>
          <p:cNvPr id="19" name="Text 16"/>
          <p:cNvSpPr txBox="1"/>
          <p:nvPr/>
        </p:nvSpPr>
        <p:spPr>
          <a:xfrm>
            <a:off x="6199632" y="3401568"/>
            <a:ext cx="2606040" cy="658368"/>
          </a:xfrm>
          <a:prstGeom prst="rect">
            <a:avLst/>
          </a:prstGeom>
          <a:noFill/>
          <a:ln/>
        </p:spPr>
        <p:txBody>
          <a:bodyPr wrap="square" lIns="0" tIns="0" rIns="0" bIns="0" rtlCol="0" anchor="t"/>
          <a:lstStyle/>
          <a:p>
            <a:pPr indent="0" marL="0">
              <a:buNone/>
            </a:pPr>
            <a:r>
              <a:rPr lang="en-US" sz="1100" dirty="0">
                <a:solidFill>
                  <a:srgbClr val="23222B"/>
                </a:solidFill>
                <a:latin typeface="Courier New" pitchFamily="34" charset="0"/>
                <a:ea typeface="Courier New" pitchFamily="34" charset="-122"/>
                <a:cs typeface="Courier New" pitchFamily="34" charset="-120"/>
              </a:rPr>
              <a:t>HEX  #6E86AE</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RGB  110 134 174</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CMYK  37 23 0 32</a:t>
            </a:r>
            <a:endParaRPr lang="en-US" sz="1100" dirty="0"/>
          </a:p>
        </p:txBody>
      </p:sp>
      <p:sp>
        <p:nvSpPr>
          <p:cNvPr id="20" name="Text 17"/>
          <p:cNvSpPr txBox="1"/>
          <p:nvPr/>
        </p:nvSpPr>
        <p:spPr>
          <a:xfrm>
            <a:off x="6199632" y="4087368"/>
            <a:ext cx="2606040" cy="5486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“RISE”. Outlines, graphics, charts, large text only.</a:t>
            </a:r>
            <a:endParaRPr lang="en-US" sz="1100" dirty="0"/>
          </a:p>
        </p:txBody>
      </p:sp>
      <p:sp>
        <p:nvSpPr>
          <p:cNvPr id="21" name="Shape 18"/>
          <p:cNvSpPr/>
          <p:nvPr/>
        </p:nvSpPr>
        <p:spPr>
          <a:xfrm>
            <a:off x="8997696" y="1691640"/>
            <a:ext cx="2651760" cy="1600200"/>
          </a:xfrm>
          <a:prstGeom prst="rect">
            <a:avLst/>
          </a:prstGeom>
          <a:solidFill>
            <a:srgbClr val="8E8AAE"/>
          </a:solidFill>
          <a:ln w="6350">
            <a:solidFill>
              <a:srgbClr val="8E8AAE"/>
            </a:solidFill>
            <a:prstDash val="solid"/>
          </a:ln>
        </p:spPr>
      </p:sp>
      <p:sp>
        <p:nvSpPr>
          <p:cNvPr id="22" name="Text 19"/>
          <p:cNvSpPr txBox="1"/>
          <p:nvPr/>
        </p:nvSpPr>
        <p:spPr>
          <a:xfrm>
            <a:off x="9180576" y="2606040"/>
            <a:ext cx="2286000" cy="228600"/>
          </a:xfrm>
          <a:prstGeom prst="rect">
            <a:avLst/>
          </a:prstGeom>
          <a:noFill/>
          <a:ln/>
        </p:spPr>
        <p:txBody>
          <a:bodyPr wrap="square" lIns="0" tIns="0" rIns="0" bIns="0" rtlCol="0" anchor="t"/>
          <a:lstStyle/>
          <a:p>
            <a:pPr indent="0" marL="0">
              <a:buNone/>
            </a:pPr>
            <a:r>
              <a:rPr lang="en-US" sz="900" b="1" spc="200" kern="0" dirty="0">
                <a:solidFill>
                  <a:srgbClr val="FFFFFF"/>
                </a:solidFill>
                <a:latin typeface="Arial" pitchFamily="34" charset="0"/>
                <a:ea typeface="Arial" pitchFamily="34" charset="-122"/>
                <a:cs typeface="Arial" pitchFamily="34" charset="-120"/>
              </a:rPr>
              <a:t>SECONDARY</a:t>
            </a:r>
            <a:endParaRPr lang="en-US" sz="900" dirty="0"/>
          </a:p>
        </p:txBody>
      </p:sp>
      <p:sp>
        <p:nvSpPr>
          <p:cNvPr id="23" name="Text 20"/>
          <p:cNvSpPr txBox="1"/>
          <p:nvPr/>
        </p:nvSpPr>
        <p:spPr>
          <a:xfrm>
            <a:off x="9180576" y="2834640"/>
            <a:ext cx="2286000" cy="3200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Human Lavender</a:t>
            </a:r>
            <a:endParaRPr lang="en-US" sz="1700" dirty="0"/>
          </a:p>
        </p:txBody>
      </p:sp>
      <p:sp>
        <p:nvSpPr>
          <p:cNvPr id="24" name="Text 21"/>
          <p:cNvSpPr txBox="1"/>
          <p:nvPr/>
        </p:nvSpPr>
        <p:spPr>
          <a:xfrm>
            <a:off x="9015984" y="3401568"/>
            <a:ext cx="2606040" cy="658368"/>
          </a:xfrm>
          <a:prstGeom prst="rect">
            <a:avLst/>
          </a:prstGeom>
          <a:noFill/>
          <a:ln/>
        </p:spPr>
        <p:txBody>
          <a:bodyPr wrap="square" lIns="0" tIns="0" rIns="0" bIns="0" rtlCol="0" anchor="t"/>
          <a:lstStyle/>
          <a:p>
            <a:pPr indent="0" marL="0">
              <a:buNone/>
            </a:pPr>
            <a:r>
              <a:rPr lang="en-US" sz="1100" dirty="0">
                <a:solidFill>
                  <a:srgbClr val="23222B"/>
                </a:solidFill>
                <a:latin typeface="Courier New" pitchFamily="34" charset="0"/>
                <a:ea typeface="Courier New" pitchFamily="34" charset="-122"/>
                <a:cs typeface="Courier New" pitchFamily="34" charset="-120"/>
              </a:rPr>
              <a:t>HEX  #8E8AAE</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RGB  142 138 174</a:t>
            </a:r>
            <a:endParaRPr lang="en-US" sz="1100" dirty="0"/>
          </a:p>
          <a:p>
            <a:pPr indent="0" marL="0">
              <a:buNone/>
            </a:pPr>
            <a:r>
              <a:rPr lang="en-US" sz="1100" dirty="0">
                <a:solidFill>
                  <a:srgbClr val="23222B"/>
                </a:solidFill>
                <a:latin typeface="Courier New" pitchFamily="34" charset="0"/>
                <a:ea typeface="Courier New" pitchFamily="34" charset="-122"/>
                <a:cs typeface="Courier New" pitchFamily="34" charset="-120"/>
              </a:rPr>
              <a:t>CMYK  18 21 0 32</a:t>
            </a:r>
            <a:endParaRPr lang="en-US" sz="1100" dirty="0"/>
          </a:p>
        </p:txBody>
      </p:sp>
      <p:sp>
        <p:nvSpPr>
          <p:cNvPr id="25" name="Text 22"/>
          <p:cNvSpPr txBox="1"/>
          <p:nvPr/>
        </p:nvSpPr>
        <p:spPr>
          <a:xfrm>
            <a:off x="9015984" y="4087368"/>
            <a:ext cx="2606040" cy="54864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“Hum”. Soft tints, dividers, decoration.</a:t>
            </a:r>
            <a:endParaRPr lang="en-US" sz="1100" dirty="0"/>
          </a:p>
        </p:txBody>
      </p:sp>
      <p:sp>
        <p:nvSpPr>
          <p:cNvPr id="26" name="Shape 23"/>
          <p:cNvSpPr/>
          <p:nvPr/>
        </p:nvSpPr>
        <p:spPr>
          <a:xfrm>
            <a:off x="548640" y="4800600"/>
            <a:ext cx="438912" cy="438912"/>
          </a:xfrm>
          <a:prstGeom prst="roundRect">
            <a:avLst>
              <a:gd name="adj" fmla="val 12500"/>
            </a:avLst>
          </a:prstGeom>
          <a:solidFill>
            <a:srgbClr val="FFFFFF"/>
          </a:solidFill>
          <a:ln w="9525">
            <a:solidFill>
              <a:srgbClr val="E2E1EA"/>
            </a:solidFill>
            <a:prstDash val="solid"/>
          </a:ln>
        </p:spPr>
      </p:sp>
      <p:sp>
        <p:nvSpPr>
          <p:cNvPr id="27" name="Text 24"/>
          <p:cNvSpPr txBox="1"/>
          <p:nvPr/>
        </p:nvSpPr>
        <p:spPr>
          <a:xfrm>
            <a:off x="1097280" y="4800600"/>
            <a:ext cx="2651760" cy="219456"/>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White</a:t>
            </a:r>
            <a:endParaRPr lang="en-US" sz="1150" dirty="0"/>
          </a:p>
        </p:txBody>
      </p:sp>
      <p:sp>
        <p:nvSpPr>
          <p:cNvPr id="28" name="Text 25"/>
          <p:cNvSpPr txBox="1"/>
          <p:nvPr/>
        </p:nvSpPr>
        <p:spPr>
          <a:xfrm>
            <a:off x="1097280" y="5020056"/>
            <a:ext cx="2651760" cy="219456"/>
          </a:xfrm>
          <a:prstGeom prst="rect">
            <a:avLst/>
          </a:prstGeom>
          <a:noFill/>
          <a:ln/>
        </p:spPr>
        <p:txBody>
          <a:bodyPr wrap="square" lIns="0" tIns="0" rIns="0" bIns="0" rtlCol="0" anchor="t"/>
          <a:lstStyle/>
          <a:p>
            <a:pPr indent="0" marL="0">
              <a:buNone/>
            </a:pPr>
            <a:r>
              <a:rPr lang="en-US" sz="1000" dirty="0">
                <a:solidFill>
                  <a:srgbClr val="6A6782"/>
                </a:solidFill>
                <a:latin typeface="Arial" pitchFamily="34" charset="0"/>
                <a:ea typeface="Arial" pitchFamily="34" charset="-122"/>
                <a:cs typeface="Arial" pitchFamily="34" charset="-120"/>
              </a:rPr>
              <a:t>#FFFFFF · base background</a:t>
            </a:r>
            <a:endParaRPr lang="en-US" sz="1000" dirty="0"/>
          </a:p>
        </p:txBody>
      </p:sp>
      <p:sp>
        <p:nvSpPr>
          <p:cNvPr id="29" name="Shape 26"/>
          <p:cNvSpPr/>
          <p:nvPr/>
        </p:nvSpPr>
        <p:spPr>
          <a:xfrm>
            <a:off x="3840480" y="4800600"/>
            <a:ext cx="438912" cy="438912"/>
          </a:xfrm>
          <a:prstGeom prst="roundRect">
            <a:avLst>
              <a:gd name="adj" fmla="val 12500"/>
            </a:avLst>
          </a:prstGeom>
          <a:solidFill>
            <a:srgbClr val="000000"/>
          </a:solidFill>
          <a:ln w="9525">
            <a:solidFill>
              <a:srgbClr val="E2E1EA"/>
            </a:solidFill>
            <a:prstDash val="solid"/>
          </a:ln>
        </p:spPr>
      </p:sp>
      <p:sp>
        <p:nvSpPr>
          <p:cNvPr id="30" name="Text 27"/>
          <p:cNvSpPr txBox="1"/>
          <p:nvPr/>
        </p:nvSpPr>
        <p:spPr>
          <a:xfrm>
            <a:off x="4389120" y="4800600"/>
            <a:ext cx="2651760" cy="219456"/>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Black</a:t>
            </a:r>
            <a:endParaRPr lang="en-US" sz="1150" dirty="0"/>
          </a:p>
        </p:txBody>
      </p:sp>
      <p:sp>
        <p:nvSpPr>
          <p:cNvPr id="31" name="Text 28"/>
          <p:cNvSpPr txBox="1"/>
          <p:nvPr/>
        </p:nvSpPr>
        <p:spPr>
          <a:xfrm>
            <a:off x="4389120" y="5020056"/>
            <a:ext cx="2651760" cy="219456"/>
          </a:xfrm>
          <a:prstGeom prst="rect">
            <a:avLst/>
          </a:prstGeom>
          <a:noFill/>
          <a:ln/>
        </p:spPr>
        <p:txBody>
          <a:bodyPr wrap="square" lIns="0" tIns="0" rIns="0" bIns="0" rtlCol="0" anchor="t"/>
          <a:lstStyle/>
          <a:p>
            <a:pPr indent="0" marL="0">
              <a:buNone/>
            </a:pPr>
            <a:r>
              <a:rPr lang="en-US" sz="1000" dirty="0">
                <a:solidFill>
                  <a:srgbClr val="6A6782"/>
                </a:solidFill>
                <a:latin typeface="Arial" pitchFamily="34" charset="0"/>
                <a:ea typeface="Arial" pitchFamily="34" charset="-122"/>
                <a:cs typeface="Arial" pitchFamily="34" charset="-120"/>
              </a:rPr>
              <a:t>#000000 · one-colour print</a:t>
            </a:r>
            <a:endParaRPr lang="en-US" sz="1000" dirty="0"/>
          </a:p>
        </p:txBody>
      </p:sp>
      <p:sp>
        <p:nvSpPr>
          <p:cNvPr id="32" name="Shape 29"/>
          <p:cNvSpPr/>
          <p:nvPr/>
        </p:nvSpPr>
        <p:spPr>
          <a:xfrm>
            <a:off x="7132320" y="4800600"/>
            <a:ext cx="438912" cy="438912"/>
          </a:xfrm>
          <a:prstGeom prst="roundRect">
            <a:avLst>
              <a:gd name="adj" fmla="val 12500"/>
            </a:avLst>
          </a:prstGeom>
          <a:solidFill>
            <a:srgbClr val="23222B"/>
          </a:solidFill>
          <a:ln w="9525">
            <a:solidFill>
              <a:srgbClr val="E2E1EA"/>
            </a:solidFill>
            <a:prstDash val="solid"/>
          </a:ln>
        </p:spPr>
      </p:sp>
      <p:sp>
        <p:nvSpPr>
          <p:cNvPr id="33" name="Text 30"/>
          <p:cNvSpPr txBox="1"/>
          <p:nvPr/>
        </p:nvSpPr>
        <p:spPr>
          <a:xfrm>
            <a:off x="7680960" y="4800600"/>
            <a:ext cx="2651760" cy="219456"/>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Ink</a:t>
            </a:r>
            <a:endParaRPr lang="en-US" sz="1150" dirty="0"/>
          </a:p>
        </p:txBody>
      </p:sp>
      <p:sp>
        <p:nvSpPr>
          <p:cNvPr id="34" name="Text 31"/>
          <p:cNvSpPr txBox="1"/>
          <p:nvPr/>
        </p:nvSpPr>
        <p:spPr>
          <a:xfrm>
            <a:off x="7680960" y="5020056"/>
            <a:ext cx="2651760" cy="219456"/>
          </a:xfrm>
          <a:prstGeom prst="rect">
            <a:avLst/>
          </a:prstGeom>
          <a:noFill/>
          <a:ln/>
        </p:spPr>
        <p:txBody>
          <a:bodyPr wrap="square" lIns="0" tIns="0" rIns="0" bIns="0" rtlCol="0" anchor="t"/>
          <a:lstStyle/>
          <a:p>
            <a:pPr indent="0" marL="0">
              <a:buNone/>
            </a:pPr>
            <a:r>
              <a:rPr lang="en-US" sz="1000" dirty="0">
                <a:solidFill>
                  <a:srgbClr val="6A6782"/>
                </a:solidFill>
                <a:latin typeface="Arial" pitchFamily="34" charset="0"/>
                <a:ea typeface="Arial" pitchFamily="34" charset="-122"/>
                <a:cs typeface="Arial" pitchFamily="34" charset="-120"/>
              </a:rPr>
              <a:t>#23222B · body text</a:t>
            </a:r>
            <a:endParaRPr lang="en-US" sz="1000" dirty="0"/>
          </a:p>
        </p:txBody>
      </p:sp>
      <p:sp>
        <p:nvSpPr>
          <p:cNvPr id="35" name="Shape 32"/>
          <p:cNvSpPr/>
          <p:nvPr/>
        </p:nvSpPr>
        <p:spPr>
          <a:xfrm>
            <a:off x="548640" y="5367528"/>
            <a:ext cx="438912" cy="438912"/>
          </a:xfrm>
          <a:prstGeom prst="roundRect">
            <a:avLst>
              <a:gd name="adj" fmla="val 12500"/>
            </a:avLst>
          </a:prstGeom>
          <a:solidFill>
            <a:srgbClr val="F7F6FB"/>
          </a:solidFill>
          <a:ln w="9525">
            <a:solidFill>
              <a:srgbClr val="E2E1EA"/>
            </a:solidFill>
            <a:prstDash val="solid"/>
          </a:ln>
        </p:spPr>
      </p:sp>
      <p:sp>
        <p:nvSpPr>
          <p:cNvPr id="36" name="Text 33"/>
          <p:cNvSpPr txBox="1"/>
          <p:nvPr/>
        </p:nvSpPr>
        <p:spPr>
          <a:xfrm>
            <a:off x="1097280" y="5367528"/>
            <a:ext cx="2651760" cy="219456"/>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Mist</a:t>
            </a:r>
            <a:endParaRPr lang="en-US" sz="1150" dirty="0"/>
          </a:p>
        </p:txBody>
      </p:sp>
      <p:sp>
        <p:nvSpPr>
          <p:cNvPr id="37" name="Text 34"/>
          <p:cNvSpPr txBox="1"/>
          <p:nvPr/>
        </p:nvSpPr>
        <p:spPr>
          <a:xfrm>
            <a:off x="1097280" y="5586984"/>
            <a:ext cx="2651760" cy="219456"/>
          </a:xfrm>
          <a:prstGeom prst="rect">
            <a:avLst/>
          </a:prstGeom>
          <a:noFill/>
          <a:ln/>
        </p:spPr>
        <p:txBody>
          <a:bodyPr wrap="square" lIns="0" tIns="0" rIns="0" bIns="0" rtlCol="0" anchor="t"/>
          <a:lstStyle/>
          <a:p>
            <a:pPr indent="0" marL="0">
              <a:buNone/>
            </a:pPr>
            <a:r>
              <a:rPr lang="en-US" sz="1000" dirty="0">
                <a:solidFill>
                  <a:srgbClr val="6A6782"/>
                </a:solidFill>
                <a:latin typeface="Arial" pitchFamily="34" charset="0"/>
                <a:ea typeface="Arial" pitchFamily="34" charset="-122"/>
                <a:cs typeface="Arial" pitchFamily="34" charset="-120"/>
              </a:rPr>
              <a:t>#F7F6FB · sections, cards</a:t>
            </a:r>
            <a:endParaRPr lang="en-US" sz="1000" dirty="0"/>
          </a:p>
        </p:txBody>
      </p:sp>
      <p:sp>
        <p:nvSpPr>
          <p:cNvPr id="38" name="Shape 35"/>
          <p:cNvSpPr/>
          <p:nvPr/>
        </p:nvSpPr>
        <p:spPr>
          <a:xfrm>
            <a:off x="3840480" y="5367528"/>
            <a:ext cx="438912" cy="438912"/>
          </a:xfrm>
          <a:prstGeom prst="roundRect">
            <a:avLst>
              <a:gd name="adj" fmla="val 12500"/>
            </a:avLst>
          </a:prstGeom>
          <a:solidFill>
            <a:srgbClr val="F4F7FA"/>
          </a:solidFill>
          <a:ln w="9525">
            <a:solidFill>
              <a:srgbClr val="E2E1EA"/>
            </a:solidFill>
            <a:prstDash val="solid"/>
          </a:ln>
        </p:spPr>
      </p:sp>
      <p:sp>
        <p:nvSpPr>
          <p:cNvPr id="39" name="Text 36"/>
          <p:cNvSpPr txBox="1"/>
          <p:nvPr/>
        </p:nvSpPr>
        <p:spPr>
          <a:xfrm>
            <a:off x="4389120" y="5367528"/>
            <a:ext cx="2651760" cy="219456"/>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Sky</a:t>
            </a:r>
            <a:endParaRPr lang="en-US" sz="1150" dirty="0"/>
          </a:p>
        </p:txBody>
      </p:sp>
      <p:sp>
        <p:nvSpPr>
          <p:cNvPr id="40" name="Text 37"/>
          <p:cNvSpPr txBox="1"/>
          <p:nvPr/>
        </p:nvSpPr>
        <p:spPr>
          <a:xfrm>
            <a:off x="4389120" y="5586984"/>
            <a:ext cx="2651760" cy="219456"/>
          </a:xfrm>
          <a:prstGeom prst="rect">
            <a:avLst/>
          </a:prstGeom>
          <a:noFill/>
          <a:ln/>
        </p:spPr>
        <p:txBody>
          <a:bodyPr wrap="square" lIns="0" tIns="0" rIns="0" bIns="0" rtlCol="0" anchor="t"/>
          <a:lstStyle/>
          <a:p>
            <a:pPr indent="0" marL="0">
              <a:buNone/>
            </a:pPr>
            <a:r>
              <a:rPr lang="en-US" sz="1000" dirty="0">
                <a:solidFill>
                  <a:srgbClr val="6A6782"/>
                </a:solidFill>
                <a:latin typeface="Arial" pitchFamily="34" charset="0"/>
                <a:ea typeface="Arial" pitchFamily="34" charset="-122"/>
                <a:cs typeface="Arial" pitchFamily="34" charset="-120"/>
              </a:rPr>
              <a:t>#F4F7FA · alternate sections</a:t>
            </a:r>
            <a:endParaRPr lang="en-US" sz="1000" dirty="0"/>
          </a:p>
        </p:txBody>
      </p:sp>
      <p:sp>
        <p:nvSpPr>
          <p:cNvPr id="41" name="Shape 38"/>
          <p:cNvSpPr/>
          <p:nvPr/>
        </p:nvSpPr>
        <p:spPr>
          <a:xfrm>
            <a:off x="7132320" y="5367528"/>
            <a:ext cx="438912" cy="438912"/>
          </a:xfrm>
          <a:prstGeom prst="roundRect">
            <a:avLst>
              <a:gd name="adj" fmla="val 12500"/>
            </a:avLst>
          </a:prstGeom>
          <a:solidFill>
            <a:srgbClr val="E2E1EA"/>
          </a:solidFill>
          <a:ln w="9525">
            <a:solidFill>
              <a:srgbClr val="E2E1EA"/>
            </a:solidFill>
            <a:prstDash val="solid"/>
          </a:ln>
        </p:spPr>
      </p:sp>
      <p:sp>
        <p:nvSpPr>
          <p:cNvPr id="42" name="Text 39"/>
          <p:cNvSpPr txBox="1"/>
          <p:nvPr/>
        </p:nvSpPr>
        <p:spPr>
          <a:xfrm>
            <a:off x="7680960" y="5367528"/>
            <a:ext cx="2651760" cy="219456"/>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Line</a:t>
            </a:r>
            <a:endParaRPr lang="en-US" sz="1150" dirty="0"/>
          </a:p>
        </p:txBody>
      </p:sp>
      <p:sp>
        <p:nvSpPr>
          <p:cNvPr id="43" name="Text 40"/>
          <p:cNvSpPr txBox="1"/>
          <p:nvPr/>
        </p:nvSpPr>
        <p:spPr>
          <a:xfrm>
            <a:off x="7680960" y="5586984"/>
            <a:ext cx="2651760" cy="219456"/>
          </a:xfrm>
          <a:prstGeom prst="rect">
            <a:avLst/>
          </a:prstGeom>
          <a:noFill/>
          <a:ln/>
        </p:spPr>
        <p:txBody>
          <a:bodyPr wrap="square" lIns="0" tIns="0" rIns="0" bIns="0" rtlCol="0" anchor="t"/>
          <a:lstStyle/>
          <a:p>
            <a:pPr indent="0" marL="0">
              <a:buNone/>
            </a:pPr>
            <a:r>
              <a:rPr lang="en-US" sz="1000" dirty="0">
                <a:solidFill>
                  <a:srgbClr val="6A6782"/>
                </a:solidFill>
                <a:latin typeface="Arial" pitchFamily="34" charset="0"/>
                <a:ea typeface="Arial" pitchFamily="34" charset="-122"/>
                <a:cs typeface="Arial" pitchFamily="34" charset="-120"/>
              </a:rPr>
              <a:t>#E2E1EA · borders, faint star</a:t>
            </a:r>
            <a:endParaRPr lang="en-US" sz="1000" dirty="0"/>
          </a:p>
        </p:txBody>
      </p:sp>
      <p:sp>
        <p:nvSpPr>
          <p:cNvPr id="44" name="Text 41"/>
          <p:cNvSpPr txBox="1"/>
          <p:nvPr/>
        </p:nvSpPr>
        <p:spPr>
          <a:xfrm>
            <a:off x="10241280" y="4800600"/>
            <a:ext cx="1399032" cy="1005840"/>
          </a:xfrm>
          <a:prstGeom prst="rect">
            <a:avLst/>
          </a:prstGeom>
          <a:noFill/>
          <a:ln/>
        </p:spPr>
        <p:txBody>
          <a:bodyPr wrap="square" lIns="0" tIns="0" rIns="0" bIns="0" rtlCol="0" anchor="t"/>
          <a:lstStyle/>
          <a:p>
            <a:pPr indent="0" marL="0">
              <a:buNone/>
            </a:pPr>
            <a:r>
              <a:rPr lang="en-US" sz="900" i="1" dirty="0">
                <a:solidFill>
                  <a:srgbClr val="6A6782"/>
                </a:solidFill>
                <a:latin typeface="Arial" pitchFamily="34" charset="0"/>
                <a:ea typeface="Arial" pitchFamily="34" charset="-122"/>
                <a:cs typeface="Arial" pitchFamily="34" charset="-120"/>
              </a:rPr>
              <a:t>CMYK values are converted from the screen colours. Always approve a printed proof.</a:t>
            </a:r>
            <a:endParaRPr lang="en-US" sz="9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04</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COLOUR</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Tints, shades and how much of each.</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691640"/>
            <a:ext cx="1005840" cy="603504"/>
          </a:xfrm>
          <a:prstGeom prst="rect">
            <a:avLst/>
          </a:prstGeom>
          <a:noFill/>
          <a:ln/>
        </p:spPr>
        <p:txBody>
          <a:bodyPr wrap="square" lIns="0" tIns="0" rIns="0" bIns="0" rtlCol="0" anchor="ctr"/>
          <a:lstStyle/>
          <a:p>
            <a:pPr indent="0" marL="0">
              <a:buNone/>
            </a:pPr>
            <a:r>
              <a:rPr lang="en-US" sz="1250" b="1" dirty="0">
                <a:solidFill>
                  <a:srgbClr val="23222B"/>
                </a:solidFill>
                <a:latin typeface="Arial" pitchFamily="34" charset="0"/>
                <a:ea typeface="Arial" pitchFamily="34" charset="-122"/>
                <a:cs typeface="Arial" pitchFamily="34" charset="-120"/>
              </a:rPr>
              <a:t>Lavender</a:t>
            </a:r>
            <a:endParaRPr lang="en-US" sz="1250" dirty="0"/>
          </a:p>
        </p:txBody>
      </p:sp>
      <p:sp>
        <p:nvSpPr>
          <p:cNvPr id="7" name="Shape 4"/>
          <p:cNvSpPr/>
          <p:nvPr/>
        </p:nvSpPr>
        <p:spPr>
          <a:xfrm>
            <a:off x="1600200" y="1691640"/>
            <a:ext cx="1051560" cy="603504"/>
          </a:xfrm>
          <a:prstGeom prst="rect">
            <a:avLst/>
          </a:prstGeom>
          <a:solidFill>
            <a:srgbClr val="FFFFFF"/>
          </a:solidFill>
          <a:ln w="6350">
            <a:solidFill>
              <a:srgbClr val="E2E1EA"/>
            </a:solidFill>
            <a:prstDash val="solid"/>
          </a:ln>
        </p:spPr>
      </p:sp>
      <p:sp>
        <p:nvSpPr>
          <p:cNvPr id="8" name="Text 5"/>
          <p:cNvSpPr txBox="1"/>
          <p:nvPr/>
        </p:nvSpPr>
        <p:spPr>
          <a:xfrm>
            <a:off x="1664208" y="1764792"/>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#FFFFFF</a:t>
            </a:r>
            <a:endParaRPr lang="en-US" sz="850" dirty="0"/>
          </a:p>
        </p:txBody>
      </p:sp>
      <p:sp>
        <p:nvSpPr>
          <p:cNvPr id="9" name="Shape 6"/>
          <p:cNvSpPr/>
          <p:nvPr/>
        </p:nvSpPr>
        <p:spPr>
          <a:xfrm>
            <a:off x="2715768" y="1691640"/>
            <a:ext cx="1051560" cy="603504"/>
          </a:xfrm>
          <a:prstGeom prst="rect">
            <a:avLst/>
          </a:prstGeom>
          <a:solidFill>
            <a:srgbClr val="E2E1EA"/>
          </a:solidFill>
          <a:ln w="6350">
            <a:solidFill>
              <a:srgbClr val="E2E1EA"/>
            </a:solidFill>
            <a:prstDash val="solid"/>
          </a:ln>
        </p:spPr>
      </p:sp>
      <p:sp>
        <p:nvSpPr>
          <p:cNvPr id="10" name="Text 7"/>
          <p:cNvSpPr txBox="1"/>
          <p:nvPr/>
        </p:nvSpPr>
        <p:spPr>
          <a:xfrm>
            <a:off x="2779776" y="1764792"/>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100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#E2E1EA</a:t>
            </a:r>
            <a:endParaRPr lang="en-US" sz="850" dirty="0"/>
          </a:p>
        </p:txBody>
      </p:sp>
      <p:sp>
        <p:nvSpPr>
          <p:cNvPr id="11" name="Shape 8"/>
          <p:cNvSpPr/>
          <p:nvPr/>
        </p:nvSpPr>
        <p:spPr>
          <a:xfrm>
            <a:off x="3831336" y="1691640"/>
            <a:ext cx="1051560" cy="603504"/>
          </a:xfrm>
          <a:prstGeom prst="rect">
            <a:avLst/>
          </a:prstGeom>
          <a:solidFill>
            <a:srgbClr val="C6C4D6"/>
          </a:solidFill>
          <a:ln w="6350">
            <a:solidFill>
              <a:srgbClr val="E2E1EA"/>
            </a:solidFill>
            <a:prstDash val="solid"/>
          </a:ln>
        </p:spPr>
      </p:sp>
      <p:sp>
        <p:nvSpPr>
          <p:cNvPr id="12" name="Text 9"/>
          <p:cNvSpPr txBox="1"/>
          <p:nvPr/>
        </p:nvSpPr>
        <p:spPr>
          <a:xfrm>
            <a:off x="3895344" y="1764792"/>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200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#C6C4D6</a:t>
            </a:r>
            <a:endParaRPr lang="en-US" sz="850" dirty="0"/>
          </a:p>
        </p:txBody>
      </p:sp>
      <p:sp>
        <p:nvSpPr>
          <p:cNvPr id="13" name="Shape 10"/>
          <p:cNvSpPr/>
          <p:nvPr/>
        </p:nvSpPr>
        <p:spPr>
          <a:xfrm>
            <a:off x="4946904" y="1691640"/>
            <a:ext cx="1051560" cy="603504"/>
          </a:xfrm>
          <a:prstGeom prst="rect">
            <a:avLst/>
          </a:prstGeom>
          <a:solidFill>
            <a:srgbClr val="AAA7C2"/>
          </a:solidFill>
          <a:ln w="6350">
            <a:solidFill>
              <a:srgbClr val="E2E1EA"/>
            </a:solidFill>
            <a:prstDash val="solid"/>
          </a:ln>
        </p:spPr>
      </p:sp>
      <p:sp>
        <p:nvSpPr>
          <p:cNvPr id="14" name="Text 11"/>
          <p:cNvSpPr txBox="1"/>
          <p:nvPr/>
        </p:nvSpPr>
        <p:spPr>
          <a:xfrm>
            <a:off x="5010912" y="1764792"/>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300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#AAA7C2</a:t>
            </a:r>
            <a:endParaRPr lang="en-US" sz="850" dirty="0"/>
          </a:p>
        </p:txBody>
      </p:sp>
      <p:sp>
        <p:nvSpPr>
          <p:cNvPr id="15" name="Shape 12"/>
          <p:cNvSpPr/>
          <p:nvPr/>
        </p:nvSpPr>
        <p:spPr>
          <a:xfrm>
            <a:off x="6062472" y="1691640"/>
            <a:ext cx="1051560" cy="603504"/>
          </a:xfrm>
          <a:prstGeom prst="rect">
            <a:avLst/>
          </a:prstGeom>
          <a:solidFill>
            <a:srgbClr val="8E8AAE"/>
          </a:solidFill>
          <a:ln w="25400">
            <a:solidFill>
              <a:srgbClr val="23222B"/>
            </a:solidFill>
            <a:prstDash val="solid"/>
          </a:ln>
        </p:spPr>
      </p:sp>
      <p:sp>
        <p:nvSpPr>
          <p:cNvPr id="16" name="Text 13"/>
          <p:cNvSpPr txBox="1"/>
          <p:nvPr/>
        </p:nvSpPr>
        <p:spPr>
          <a:xfrm>
            <a:off x="6126480" y="1764792"/>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400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#8E8AAE</a:t>
            </a:r>
            <a:endParaRPr lang="en-US" sz="850" dirty="0"/>
          </a:p>
        </p:txBody>
      </p:sp>
      <p:sp>
        <p:nvSpPr>
          <p:cNvPr id="17" name="Shape 14"/>
          <p:cNvSpPr/>
          <p:nvPr/>
        </p:nvSpPr>
        <p:spPr>
          <a:xfrm>
            <a:off x="7178040" y="1691640"/>
            <a:ext cx="1051560" cy="603504"/>
          </a:xfrm>
          <a:prstGeom prst="rect">
            <a:avLst/>
          </a:prstGeom>
          <a:solidFill>
            <a:srgbClr val="6A6782"/>
          </a:solidFill>
          <a:ln w="6350">
            <a:solidFill>
              <a:srgbClr val="E2E1EA"/>
            </a:solidFill>
            <a:prstDash val="solid"/>
          </a:ln>
        </p:spPr>
      </p:sp>
      <p:sp>
        <p:nvSpPr>
          <p:cNvPr id="18" name="Text 15"/>
          <p:cNvSpPr txBox="1"/>
          <p:nvPr/>
        </p:nvSpPr>
        <p:spPr>
          <a:xfrm>
            <a:off x="7242048" y="1764792"/>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500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#6A6782</a:t>
            </a:r>
            <a:endParaRPr lang="en-US" sz="850" dirty="0"/>
          </a:p>
        </p:txBody>
      </p:sp>
      <p:sp>
        <p:nvSpPr>
          <p:cNvPr id="19" name="Shape 16"/>
          <p:cNvSpPr/>
          <p:nvPr/>
        </p:nvSpPr>
        <p:spPr>
          <a:xfrm>
            <a:off x="8293608" y="1691640"/>
            <a:ext cx="1051560" cy="603504"/>
          </a:xfrm>
          <a:prstGeom prst="rect">
            <a:avLst/>
          </a:prstGeom>
          <a:solidFill>
            <a:srgbClr val="474557"/>
          </a:solidFill>
          <a:ln w="6350">
            <a:solidFill>
              <a:srgbClr val="E2E1EA"/>
            </a:solidFill>
            <a:prstDash val="solid"/>
          </a:ln>
        </p:spPr>
      </p:sp>
      <p:sp>
        <p:nvSpPr>
          <p:cNvPr id="20" name="Text 17"/>
          <p:cNvSpPr txBox="1"/>
          <p:nvPr/>
        </p:nvSpPr>
        <p:spPr>
          <a:xfrm>
            <a:off x="8357616" y="1764792"/>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600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#474557</a:t>
            </a:r>
            <a:endParaRPr lang="en-US" sz="850" dirty="0"/>
          </a:p>
        </p:txBody>
      </p:sp>
      <p:sp>
        <p:nvSpPr>
          <p:cNvPr id="21" name="Shape 18"/>
          <p:cNvSpPr/>
          <p:nvPr/>
        </p:nvSpPr>
        <p:spPr>
          <a:xfrm>
            <a:off x="9409176" y="1691640"/>
            <a:ext cx="1051560" cy="603504"/>
          </a:xfrm>
          <a:prstGeom prst="rect">
            <a:avLst/>
          </a:prstGeom>
          <a:solidFill>
            <a:srgbClr val="23222B"/>
          </a:solidFill>
          <a:ln w="6350">
            <a:solidFill>
              <a:srgbClr val="E2E1EA"/>
            </a:solidFill>
            <a:prstDash val="solid"/>
          </a:ln>
        </p:spPr>
      </p:sp>
      <p:sp>
        <p:nvSpPr>
          <p:cNvPr id="22" name="Text 19"/>
          <p:cNvSpPr txBox="1"/>
          <p:nvPr/>
        </p:nvSpPr>
        <p:spPr>
          <a:xfrm>
            <a:off x="9473184" y="1764792"/>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700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#23222B</a:t>
            </a:r>
            <a:endParaRPr lang="en-US" sz="850" dirty="0"/>
          </a:p>
        </p:txBody>
      </p:sp>
      <p:sp>
        <p:nvSpPr>
          <p:cNvPr id="23" name="Shape 20"/>
          <p:cNvSpPr/>
          <p:nvPr/>
        </p:nvSpPr>
        <p:spPr>
          <a:xfrm>
            <a:off x="10524744" y="1691640"/>
            <a:ext cx="1051560" cy="603504"/>
          </a:xfrm>
          <a:prstGeom prst="rect">
            <a:avLst/>
          </a:prstGeom>
          <a:solidFill>
            <a:srgbClr val="000000"/>
          </a:solidFill>
          <a:ln w="6350">
            <a:solidFill>
              <a:srgbClr val="E2E1EA"/>
            </a:solidFill>
            <a:prstDash val="solid"/>
          </a:ln>
        </p:spPr>
      </p:sp>
      <p:sp>
        <p:nvSpPr>
          <p:cNvPr id="24" name="Text 21"/>
          <p:cNvSpPr txBox="1"/>
          <p:nvPr/>
        </p:nvSpPr>
        <p:spPr>
          <a:xfrm>
            <a:off x="10588752" y="1764792"/>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1000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#000000</a:t>
            </a:r>
            <a:endParaRPr lang="en-US" sz="850" dirty="0"/>
          </a:p>
        </p:txBody>
      </p:sp>
      <p:sp>
        <p:nvSpPr>
          <p:cNvPr id="25" name="Text 22"/>
          <p:cNvSpPr txBox="1"/>
          <p:nvPr/>
        </p:nvSpPr>
        <p:spPr>
          <a:xfrm>
            <a:off x="548640" y="2404872"/>
            <a:ext cx="1005840" cy="603504"/>
          </a:xfrm>
          <a:prstGeom prst="rect">
            <a:avLst/>
          </a:prstGeom>
          <a:noFill/>
          <a:ln/>
        </p:spPr>
        <p:txBody>
          <a:bodyPr wrap="square" lIns="0" tIns="0" rIns="0" bIns="0" rtlCol="0" anchor="ctr"/>
          <a:lstStyle/>
          <a:p>
            <a:pPr indent="0" marL="0">
              <a:buNone/>
            </a:pPr>
            <a:r>
              <a:rPr lang="en-US" sz="1250" b="1" dirty="0">
                <a:solidFill>
                  <a:srgbClr val="23222B"/>
                </a:solidFill>
                <a:latin typeface="Arial" pitchFamily="34" charset="0"/>
                <a:ea typeface="Arial" pitchFamily="34" charset="-122"/>
                <a:cs typeface="Arial" pitchFamily="34" charset="-120"/>
              </a:rPr>
              <a:t>Purple</a:t>
            </a:r>
            <a:endParaRPr lang="en-US" sz="1250" dirty="0"/>
          </a:p>
        </p:txBody>
      </p:sp>
      <p:sp>
        <p:nvSpPr>
          <p:cNvPr id="26" name="Shape 23"/>
          <p:cNvSpPr/>
          <p:nvPr/>
        </p:nvSpPr>
        <p:spPr>
          <a:xfrm>
            <a:off x="1600200" y="2404872"/>
            <a:ext cx="1051560" cy="603504"/>
          </a:xfrm>
          <a:prstGeom prst="rect">
            <a:avLst/>
          </a:prstGeom>
          <a:solidFill>
            <a:srgbClr val="FFFFFF"/>
          </a:solidFill>
          <a:ln w="6350">
            <a:solidFill>
              <a:srgbClr val="E2E1EA"/>
            </a:solidFill>
            <a:prstDash val="solid"/>
          </a:ln>
        </p:spPr>
      </p:sp>
      <p:sp>
        <p:nvSpPr>
          <p:cNvPr id="27" name="Text 24"/>
          <p:cNvSpPr txBox="1"/>
          <p:nvPr/>
        </p:nvSpPr>
        <p:spPr>
          <a:xfrm>
            <a:off x="1664208" y="2478024"/>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#FFFFFF</a:t>
            </a:r>
            <a:endParaRPr lang="en-US" sz="850" dirty="0"/>
          </a:p>
        </p:txBody>
      </p:sp>
      <p:sp>
        <p:nvSpPr>
          <p:cNvPr id="28" name="Shape 25"/>
          <p:cNvSpPr/>
          <p:nvPr/>
        </p:nvSpPr>
        <p:spPr>
          <a:xfrm>
            <a:off x="2715768" y="2404872"/>
            <a:ext cx="1051560" cy="603504"/>
          </a:xfrm>
          <a:prstGeom prst="rect">
            <a:avLst/>
          </a:prstGeom>
          <a:solidFill>
            <a:srgbClr val="DDD9EE"/>
          </a:solidFill>
          <a:ln w="6350">
            <a:solidFill>
              <a:srgbClr val="E2E1EA"/>
            </a:solidFill>
            <a:prstDash val="solid"/>
          </a:ln>
        </p:spPr>
      </p:sp>
      <p:sp>
        <p:nvSpPr>
          <p:cNvPr id="29" name="Text 26"/>
          <p:cNvSpPr txBox="1"/>
          <p:nvPr/>
        </p:nvSpPr>
        <p:spPr>
          <a:xfrm>
            <a:off x="2779776" y="2478024"/>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100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#DDD9EE</a:t>
            </a:r>
            <a:endParaRPr lang="en-US" sz="850" dirty="0"/>
          </a:p>
        </p:txBody>
      </p:sp>
      <p:sp>
        <p:nvSpPr>
          <p:cNvPr id="30" name="Shape 27"/>
          <p:cNvSpPr/>
          <p:nvPr/>
        </p:nvSpPr>
        <p:spPr>
          <a:xfrm>
            <a:off x="3831336" y="2404872"/>
            <a:ext cx="1051560" cy="603504"/>
          </a:xfrm>
          <a:prstGeom prst="rect">
            <a:avLst/>
          </a:prstGeom>
          <a:solidFill>
            <a:srgbClr val="BBB4DD"/>
          </a:solidFill>
          <a:ln w="6350">
            <a:solidFill>
              <a:srgbClr val="E2E1EA"/>
            </a:solidFill>
            <a:prstDash val="solid"/>
          </a:ln>
        </p:spPr>
      </p:sp>
      <p:sp>
        <p:nvSpPr>
          <p:cNvPr id="31" name="Text 28"/>
          <p:cNvSpPr txBox="1"/>
          <p:nvPr/>
        </p:nvSpPr>
        <p:spPr>
          <a:xfrm>
            <a:off x="3895344" y="2478024"/>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200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#BBB4DD</a:t>
            </a:r>
            <a:endParaRPr lang="en-US" sz="850" dirty="0"/>
          </a:p>
        </p:txBody>
      </p:sp>
      <p:sp>
        <p:nvSpPr>
          <p:cNvPr id="32" name="Shape 29"/>
          <p:cNvSpPr/>
          <p:nvPr/>
        </p:nvSpPr>
        <p:spPr>
          <a:xfrm>
            <a:off x="4946904" y="2404872"/>
            <a:ext cx="1051560" cy="603504"/>
          </a:xfrm>
          <a:prstGeom prst="rect">
            <a:avLst/>
          </a:prstGeom>
          <a:solidFill>
            <a:srgbClr val="998ECC"/>
          </a:solidFill>
          <a:ln w="6350">
            <a:solidFill>
              <a:srgbClr val="E2E1EA"/>
            </a:solidFill>
            <a:prstDash val="solid"/>
          </a:ln>
        </p:spPr>
      </p:sp>
      <p:sp>
        <p:nvSpPr>
          <p:cNvPr id="33" name="Text 30"/>
          <p:cNvSpPr txBox="1"/>
          <p:nvPr/>
        </p:nvSpPr>
        <p:spPr>
          <a:xfrm>
            <a:off x="5010912" y="2478024"/>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300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#998ECC</a:t>
            </a:r>
            <a:endParaRPr lang="en-US" sz="850" dirty="0"/>
          </a:p>
        </p:txBody>
      </p:sp>
      <p:sp>
        <p:nvSpPr>
          <p:cNvPr id="34" name="Shape 31"/>
          <p:cNvSpPr/>
          <p:nvPr/>
        </p:nvSpPr>
        <p:spPr>
          <a:xfrm>
            <a:off x="6062472" y="2404872"/>
            <a:ext cx="1051560" cy="603504"/>
          </a:xfrm>
          <a:prstGeom prst="rect">
            <a:avLst/>
          </a:prstGeom>
          <a:solidFill>
            <a:srgbClr val="7869BC"/>
          </a:solidFill>
          <a:ln w="25400">
            <a:solidFill>
              <a:srgbClr val="23222B"/>
            </a:solidFill>
            <a:prstDash val="solid"/>
          </a:ln>
        </p:spPr>
      </p:sp>
      <p:sp>
        <p:nvSpPr>
          <p:cNvPr id="35" name="Text 32"/>
          <p:cNvSpPr txBox="1"/>
          <p:nvPr/>
        </p:nvSpPr>
        <p:spPr>
          <a:xfrm>
            <a:off x="6126480" y="2478024"/>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400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#7869BC</a:t>
            </a:r>
            <a:endParaRPr lang="en-US" sz="850" dirty="0"/>
          </a:p>
        </p:txBody>
      </p:sp>
      <p:sp>
        <p:nvSpPr>
          <p:cNvPr id="36" name="Shape 33"/>
          <p:cNvSpPr/>
          <p:nvPr/>
        </p:nvSpPr>
        <p:spPr>
          <a:xfrm>
            <a:off x="7178040" y="2404872"/>
            <a:ext cx="1051560" cy="603504"/>
          </a:xfrm>
          <a:prstGeom prst="rect">
            <a:avLst/>
          </a:prstGeom>
          <a:solidFill>
            <a:srgbClr val="5A4E8D"/>
          </a:solidFill>
          <a:ln w="6350">
            <a:solidFill>
              <a:srgbClr val="E2E1EA"/>
            </a:solidFill>
            <a:prstDash val="solid"/>
          </a:ln>
        </p:spPr>
      </p:sp>
      <p:sp>
        <p:nvSpPr>
          <p:cNvPr id="37" name="Text 34"/>
          <p:cNvSpPr txBox="1"/>
          <p:nvPr/>
        </p:nvSpPr>
        <p:spPr>
          <a:xfrm>
            <a:off x="7242048" y="2478024"/>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500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#5A4E8D</a:t>
            </a:r>
            <a:endParaRPr lang="en-US" sz="850" dirty="0"/>
          </a:p>
        </p:txBody>
      </p:sp>
      <p:sp>
        <p:nvSpPr>
          <p:cNvPr id="38" name="Shape 35"/>
          <p:cNvSpPr/>
          <p:nvPr/>
        </p:nvSpPr>
        <p:spPr>
          <a:xfrm>
            <a:off x="8293608" y="2404872"/>
            <a:ext cx="1051560" cy="603504"/>
          </a:xfrm>
          <a:prstGeom prst="rect">
            <a:avLst/>
          </a:prstGeom>
          <a:solidFill>
            <a:srgbClr val="3C345E"/>
          </a:solidFill>
          <a:ln w="6350">
            <a:solidFill>
              <a:srgbClr val="E2E1EA"/>
            </a:solidFill>
            <a:prstDash val="solid"/>
          </a:ln>
        </p:spPr>
      </p:sp>
      <p:sp>
        <p:nvSpPr>
          <p:cNvPr id="39" name="Text 36"/>
          <p:cNvSpPr txBox="1"/>
          <p:nvPr/>
        </p:nvSpPr>
        <p:spPr>
          <a:xfrm>
            <a:off x="8357616" y="2478024"/>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600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#3C345E</a:t>
            </a:r>
            <a:endParaRPr lang="en-US" sz="850" dirty="0"/>
          </a:p>
        </p:txBody>
      </p:sp>
      <p:sp>
        <p:nvSpPr>
          <p:cNvPr id="40" name="Shape 37"/>
          <p:cNvSpPr/>
          <p:nvPr/>
        </p:nvSpPr>
        <p:spPr>
          <a:xfrm>
            <a:off x="9409176" y="2404872"/>
            <a:ext cx="1051560" cy="603504"/>
          </a:xfrm>
          <a:prstGeom prst="rect">
            <a:avLst/>
          </a:prstGeom>
          <a:solidFill>
            <a:srgbClr val="1E1A2F"/>
          </a:solidFill>
          <a:ln w="6350">
            <a:solidFill>
              <a:srgbClr val="E2E1EA"/>
            </a:solidFill>
            <a:prstDash val="solid"/>
          </a:ln>
        </p:spPr>
      </p:sp>
      <p:sp>
        <p:nvSpPr>
          <p:cNvPr id="41" name="Text 38"/>
          <p:cNvSpPr txBox="1"/>
          <p:nvPr/>
        </p:nvSpPr>
        <p:spPr>
          <a:xfrm>
            <a:off x="9473184" y="2478024"/>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700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#1E1A2F</a:t>
            </a:r>
            <a:endParaRPr lang="en-US" sz="850" dirty="0"/>
          </a:p>
        </p:txBody>
      </p:sp>
      <p:sp>
        <p:nvSpPr>
          <p:cNvPr id="42" name="Shape 39"/>
          <p:cNvSpPr/>
          <p:nvPr/>
        </p:nvSpPr>
        <p:spPr>
          <a:xfrm>
            <a:off x="10524744" y="2404872"/>
            <a:ext cx="1051560" cy="603504"/>
          </a:xfrm>
          <a:prstGeom prst="rect">
            <a:avLst/>
          </a:prstGeom>
          <a:solidFill>
            <a:srgbClr val="000000"/>
          </a:solidFill>
          <a:ln w="6350">
            <a:solidFill>
              <a:srgbClr val="E2E1EA"/>
            </a:solidFill>
            <a:prstDash val="solid"/>
          </a:ln>
        </p:spPr>
      </p:sp>
      <p:sp>
        <p:nvSpPr>
          <p:cNvPr id="43" name="Text 40"/>
          <p:cNvSpPr txBox="1"/>
          <p:nvPr/>
        </p:nvSpPr>
        <p:spPr>
          <a:xfrm>
            <a:off x="10588752" y="2478024"/>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1000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#000000</a:t>
            </a:r>
            <a:endParaRPr lang="en-US" sz="850" dirty="0"/>
          </a:p>
        </p:txBody>
      </p:sp>
      <p:sp>
        <p:nvSpPr>
          <p:cNvPr id="44" name="Text 41"/>
          <p:cNvSpPr txBox="1"/>
          <p:nvPr/>
        </p:nvSpPr>
        <p:spPr>
          <a:xfrm>
            <a:off x="548640" y="3118104"/>
            <a:ext cx="1005840" cy="603504"/>
          </a:xfrm>
          <a:prstGeom prst="rect">
            <a:avLst/>
          </a:prstGeom>
          <a:noFill/>
          <a:ln/>
        </p:spPr>
        <p:txBody>
          <a:bodyPr wrap="square" lIns="0" tIns="0" rIns="0" bIns="0" rtlCol="0" anchor="ctr"/>
          <a:lstStyle/>
          <a:p>
            <a:pPr indent="0" marL="0">
              <a:buNone/>
            </a:pPr>
            <a:r>
              <a:rPr lang="en-US" sz="1250" b="1" dirty="0">
                <a:solidFill>
                  <a:srgbClr val="23222B"/>
                </a:solidFill>
                <a:latin typeface="Arial" pitchFamily="34" charset="0"/>
                <a:ea typeface="Arial" pitchFamily="34" charset="-122"/>
                <a:cs typeface="Arial" pitchFamily="34" charset="-120"/>
              </a:rPr>
              <a:t>Blue</a:t>
            </a:r>
            <a:endParaRPr lang="en-US" sz="1250" dirty="0"/>
          </a:p>
        </p:txBody>
      </p:sp>
      <p:sp>
        <p:nvSpPr>
          <p:cNvPr id="45" name="Shape 42"/>
          <p:cNvSpPr/>
          <p:nvPr/>
        </p:nvSpPr>
        <p:spPr>
          <a:xfrm>
            <a:off x="1600200" y="3118104"/>
            <a:ext cx="1051560" cy="603504"/>
          </a:xfrm>
          <a:prstGeom prst="rect">
            <a:avLst/>
          </a:prstGeom>
          <a:solidFill>
            <a:srgbClr val="FFFFFF"/>
          </a:solidFill>
          <a:ln w="6350">
            <a:solidFill>
              <a:srgbClr val="E2E1EA"/>
            </a:solidFill>
            <a:prstDash val="solid"/>
          </a:ln>
        </p:spPr>
      </p:sp>
      <p:sp>
        <p:nvSpPr>
          <p:cNvPr id="46" name="Text 43"/>
          <p:cNvSpPr txBox="1"/>
          <p:nvPr/>
        </p:nvSpPr>
        <p:spPr>
          <a:xfrm>
            <a:off x="1664208" y="3191256"/>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#FFFFFF</a:t>
            </a:r>
            <a:endParaRPr lang="en-US" sz="850" dirty="0"/>
          </a:p>
        </p:txBody>
      </p:sp>
      <p:sp>
        <p:nvSpPr>
          <p:cNvPr id="47" name="Shape 44"/>
          <p:cNvSpPr/>
          <p:nvPr/>
        </p:nvSpPr>
        <p:spPr>
          <a:xfrm>
            <a:off x="2715768" y="3118104"/>
            <a:ext cx="1051560" cy="603504"/>
          </a:xfrm>
          <a:prstGeom prst="rect">
            <a:avLst/>
          </a:prstGeom>
          <a:solidFill>
            <a:srgbClr val="DAE0EA"/>
          </a:solidFill>
          <a:ln w="6350">
            <a:solidFill>
              <a:srgbClr val="E2E1EA"/>
            </a:solidFill>
            <a:prstDash val="solid"/>
          </a:ln>
        </p:spPr>
      </p:sp>
      <p:sp>
        <p:nvSpPr>
          <p:cNvPr id="48" name="Text 45"/>
          <p:cNvSpPr txBox="1"/>
          <p:nvPr/>
        </p:nvSpPr>
        <p:spPr>
          <a:xfrm>
            <a:off x="2779776" y="3191256"/>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100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#DAE0EA</a:t>
            </a:r>
            <a:endParaRPr lang="en-US" sz="850" dirty="0"/>
          </a:p>
        </p:txBody>
      </p:sp>
      <p:sp>
        <p:nvSpPr>
          <p:cNvPr id="49" name="Shape 46"/>
          <p:cNvSpPr/>
          <p:nvPr/>
        </p:nvSpPr>
        <p:spPr>
          <a:xfrm>
            <a:off x="3831336" y="3118104"/>
            <a:ext cx="1051560" cy="603504"/>
          </a:xfrm>
          <a:prstGeom prst="rect">
            <a:avLst/>
          </a:prstGeom>
          <a:solidFill>
            <a:srgbClr val="B6C2D6"/>
          </a:solidFill>
          <a:ln w="6350">
            <a:solidFill>
              <a:srgbClr val="E2E1EA"/>
            </a:solidFill>
            <a:prstDash val="solid"/>
          </a:ln>
        </p:spPr>
      </p:sp>
      <p:sp>
        <p:nvSpPr>
          <p:cNvPr id="50" name="Text 47"/>
          <p:cNvSpPr txBox="1"/>
          <p:nvPr/>
        </p:nvSpPr>
        <p:spPr>
          <a:xfrm>
            <a:off x="3895344" y="3191256"/>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200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#B6C2D6</a:t>
            </a:r>
            <a:endParaRPr lang="en-US" sz="850" dirty="0"/>
          </a:p>
        </p:txBody>
      </p:sp>
      <p:sp>
        <p:nvSpPr>
          <p:cNvPr id="51" name="Shape 48"/>
          <p:cNvSpPr/>
          <p:nvPr/>
        </p:nvSpPr>
        <p:spPr>
          <a:xfrm>
            <a:off x="4946904" y="3118104"/>
            <a:ext cx="1051560" cy="603504"/>
          </a:xfrm>
          <a:prstGeom prst="rect">
            <a:avLst/>
          </a:prstGeom>
          <a:solidFill>
            <a:srgbClr val="92A4C2"/>
          </a:solidFill>
          <a:ln w="6350">
            <a:solidFill>
              <a:srgbClr val="E2E1EA"/>
            </a:solidFill>
            <a:prstDash val="solid"/>
          </a:ln>
        </p:spPr>
      </p:sp>
      <p:sp>
        <p:nvSpPr>
          <p:cNvPr id="52" name="Text 49"/>
          <p:cNvSpPr txBox="1"/>
          <p:nvPr/>
        </p:nvSpPr>
        <p:spPr>
          <a:xfrm>
            <a:off x="5010912" y="3191256"/>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300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#92A4C2</a:t>
            </a:r>
            <a:endParaRPr lang="en-US" sz="850" dirty="0"/>
          </a:p>
        </p:txBody>
      </p:sp>
      <p:sp>
        <p:nvSpPr>
          <p:cNvPr id="53" name="Shape 50"/>
          <p:cNvSpPr/>
          <p:nvPr/>
        </p:nvSpPr>
        <p:spPr>
          <a:xfrm>
            <a:off x="6062472" y="3118104"/>
            <a:ext cx="1051560" cy="603504"/>
          </a:xfrm>
          <a:prstGeom prst="rect">
            <a:avLst/>
          </a:prstGeom>
          <a:solidFill>
            <a:srgbClr val="6E86AE"/>
          </a:solidFill>
          <a:ln w="25400">
            <a:solidFill>
              <a:srgbClr val="23222B"/>
            </a:solidFill>
            <a:prstDash val="solid"/>
          </a:ln>
        </p:spPr>
      </p:sp>
      <p:sp>
        <p:nvSpPr>
          <p:cNvPr id="54" name="Text 51"/>
          <p:cNvSpPr txBox="1"/>
          <p:nvPr/>
        </p:nvSpPr>
        <p:spPr>
          <a:xfrm>
            <a:off x="6126480" y="3191256"/>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400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#6E86AE</a:t>
            </a:r>
            <a:endParaRPr lang="en-US" sz="850" dirty="0"/>
          </a:p>
        </p:txBody>
      </p:sp>
      <p:sp>
        <p:nvSpPr>
          <p:cNvPr id="55" name="Shape 52"/>
          <p:cNvSpPr/>
          <p:nvPr/>
        </p:nvSpPr>
        <p:spPr>
          <a:xfrm>
            <a:off x="7178040" y="3118104"/>
            <a:ext cx="1051560" cy="603504"/>
          </a:xfrm>
          <a:prstGeom prst="rect">
            <a:avLst/>
          </a:prstGeom>
          <a:solidFill>
            <a:srgbClr val="526482"/>
          </a:solidFill>
          <a:ln w="6350">
            <a:solidFill>
              <a:srgbClr val="E2E1EA"/>
            </a:solidFill>
            <a:prstDash val="solid"/>
          </a:ln>
        </p:spPr>
      </p:sp>
      <p:sp>
        <p:nvSpPr>
          <p:cNvPr id="56" name="Text 53"/>
          <p:cNvSpPr txBox="1"/>
          <p:nvPr/>
        </p:nvSpPr>
        <p:spPr>
          <a:xfrm>
            <a:off x="7242048" y="3191256"/>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500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#526482</a:t>
            </a:r>
            <a:endParaRPr lang="en-US" sz="850" dirty="0"/>
          </a:p>
        </p:txBody>
      </p:sp>
      <p:sp>
        <p:nvSpPr>
          <p:cNvPr id="57" name="Shape 54"/>
          <p:cNvSpPr/>
          <p:nvPr/>
        </p:nvSpPr>
        <p:spPr>
          <a:xfrm>
            <a:off x="8293608" y="3118104"/>
            <a:ext cx="1051560" cy="603504"/>
          </a:xfrm>
          <a:prstGeom prst="rect">
            <a:avLst/>
          </a:prstGeom>
          <a:solidFill>
            <a:srgbClr val="374357"/>
          </a:solidFill>
          <a:ln w="6350">
            <a:solidFill>
              <a:srgbClr val="E2E1EA"/>
            </a:solidFill>
            <a:prstDash val="solid"/>
          </a:ln>
        </p:spPr>
      </p:sp>
      <p:sp>
        <p:nvSpPr>
          <p:cNvPr id="58" name="Text 55"/>
          <p:cNvSpPr txBox="1"/>
          <p:nvPr/>
        </p:nvSpPr>
        <p:spPr>
          <a:xfrm>
            <a:off x="8357616" y="3191256"/>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600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#374357</a:t>
            </a:r>
            <a:endParaRPr lang="en-US" sz="850" dirty="0"/>
          </a:p>
        </p:txBody>
      </p:sp>
      <p:sp>
        <p:nvSpPr>
          <p:cNvPr id="59" name="Shape 56"/>
          <p:cNvSpPr/>
          <p:nvPr/>
        </p:nvSpPr>
        <p:spPr>
          <a:xfrm>
            <a:off x="9409176" y="3118104"/>
            <a:ext cx="1051560" cy="603504"/>
          </a:xfrm>
          <a:prstGeom prst="rect">
            <a:avLst/>
          </a:prstGeom>
          <a:solidFill>
            <a:srgbClr val="1B212B"/>
          </a:solidFill>
          <a:ln w="6350">
            <a:solidFill>
              <a:srgbClr val="E2E1EA"/>
            </a:solidFill>
            <a:prstDash val="solid"/>
          </a:ln>
        </p:spPr>
      </p:sp>
      <p:sp>
        <p:nvSpPr>
          <p:cNvPr id="60" name="Text 57"/>
          <p:cNvSpPr txBox="1"/>
          <p:nvPr/>
        </p:nvSpPr>
        <p:spPr>
          <a:xfrm>
            <a:off x="9473184" y="3191256"/>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700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#1B212B</a:t>
            </a:r>
            <a:endParaRPr lang="en-US" sz="850" dirty="0"/>
          </a:p>
        </p:txBody>
      </p:sp>
      <p:sp>
        <p:nvSpPr>
          <p:cNvPr id="61" name="Shape 58"/>
          <p:cNvSpPr/>
          <p:nvPr/>
        </p:nvSpPr>
        <p:spPr>
          <a:xfrm>
            <a:off x="10524744" y="3118104"/>
            <a:ext cx="1051560" cy="603504"/>
          </a:xfrm>
          <a:prstGeom prst="rect">
            <a:avLst/>
          </a:prstGeom>
          <a:solidFill>
            <a:srgbClr val="000000"/>
          </a:solidFill>
          <a:ln w="6350">
            <a:solidFill>
              <a:srgbClr val="E2E1EA"/>
            </a:solidFill>
            <a:prstDash val="solid"/>
          </a:ln>
        </p:spPr>
      </p:sp>
      <p:sp>
        <p:nvSpPr>
          <p:cNvPr id="62" name="Text 59"/>
          <p:cNvSpPr txBox="1"/>
          <p:nvPr/>
        </p:nvSpPr>
        <p:spPr>
          <a:xfrm>
            <a:off x="10588752" y="3191256"/>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1000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#000000</a:t>
            </a:r>
            <a:endParaRPr lang="en-US" sz="850" dirty="0"/>
          </a:p>
        </p:txBody>
      </p:sp>
      <p:sp>
        <p:nvSpPr>
          <p:cNvPr id="63" name="Text 60"/>
          <p:cNvSpPr txBox="1"/>
          <p:nvPr/>
        </p:nvSpPr>
        <p:spPr>
          <a:xfrm>
            <a:off x="548640" y="3831336"/>
            <a:ext cx="1005840" cy="603504"/>
          </a:xfrm>
          <a:prstGeom prst="rect">
            <a:avLst/>
          </a:prstGeom>
          <a:noFill/>
          <a:ln/>
        </p:spPr>
        <p:txBody>
          <a:bodyPr wrap="square" lIns="0" tIns="0" rIns="0" bIns="0" rtlCol="0" anchor="ctr"/>
          <a:lstStyle/>
          <a:p>
            <a:pPr indent="0" marL="0">
              <a:buNone/>
            </a:pPr>
            <a:r>
              <a:rPr lang="en-US" sz="1250" b="1" dirty="0">
                <a:solidFill>
                  <a:srgbClr val="23222B"/>
                </a:solidFill>
                <a:latin typeface="Arial" pitchFamily="34" charset="0"/>
                <a:ea typeface="Arial" pitchFamily="34" charset="-122"/>
                <a:cs typeface="Arial" pitchFamily="34" charset="-120"/>
              </a:rPr>
              <a:t>Deep</a:t>
            </a:r>
            <a:endParaRPr lang="en-US" sz="1250" dirty="0"/>
          </a:p>
        </p:txBody>
      </p:sp>
      <p:sp>
        <p:nvSpPr>
          <p:cNvPr id="64" name="Shape 61"/>
          <p:cNvSpPr/>
          <p:nvPr/>
        </p:nvSpPr>
        <p:spPr>
          <a:xfrm>
            <a:off x="1600200" y="3831336"/>
            <a:ext cx="1051560" cy="603504"/>
          </a:xfrm>
          <a:prstGeom prst="rect">
            <a:avLst/>
          </a:prstGeom>
          <a:solidFill>
            <a:srgbClr val="FFFFFF"/>
          </a:solidFill>
          <a:ln w="6350">
            <a:solidFill>
              <a:srgbClr val="E2E1EA"/>
            </a:solidFill>
            <a:prstDash val="solid"/>
          </a:ln>
        </p:spPr>
      </p:sp>
      <p:sp>
        <p:nvSpPr>
          <p:cNvPr id="65" name="Text 62"/>
          <p:cNvSpPr txBox="1"/>
          <p:nvPr/>
        </p:nvSpPr>
        <p:spPr>
          <a:xfrm>
            <a:off x="1664208" y="3904488"/>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#FFFFFF</a:t>
            </a:r>
            <a:endParaRPr lang="en-US" sz="850" dirty="0"/>
          </a:p>
        </p:txBody>
      </p:sp>
      <p:sp>
        <p:nvSpPr>
          <p:cNvPr id="66" name="Shape 63"/>
          <p:cNvSpPr/>
          <p:nvPr/>
        </p:nvSpPr>
        <p:spPr>
          <a:xfrm>
            <a:off x="2715768" y="3831336"/>
            <a:ext cx="1051560" cy="603504"/>
          </a:xfrm>
          <a:prstGeom prst="rect">
            <a:avLst/>
          </a:prstGeom>
          <a:solidFill>
            <a:srgbClr val="D0D7E0"/>
          </a:solidFill>
          <a:ln w="6350">
            <a:solidFill>
              <a:srgbClr val="E2E1EA"/>
            </a:solidFill>
            <a:prstDash val="solid"/>
          </a:ln>
        </p:spPr>
      </p:sp>
      <p:sp>
        <p:nvSpPr>
          <p:cNvPr id="67" name="Text 64"/>
          <p:cNvSpPr txBox="1"/>
          <p:nvPr/>
        </p:nvSpPr>
        <p:spPr>
          <a:xfrm>
            <a:off x="2779776" y="3904488"/>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100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#D0D7E0</a:t>
            </a:r>
            <a:endParaRPr lang="en-US" sz="850" dirty="0"/>
          </a:p>
        </p:txBody>
      </p:sp>
      <p:sp>
        <p:nvSpPr>
          <p:cNvPr id="68" name="Shape 65"/>
          <p:cNvSpPr/>
          <p:nvPr/>
        </p:nvSpPr>
        <p:spPr>
          <a:xfrm>
            <a:off x="3831336" y="3831336"/>
            <a:ext cx="1051560" cy="603504"/>
          </a:xfrm>
          <a:prstGeom prst="rect">
            <a:avLst/>
          </a:prstGeom>
          <a:solidFill>
            <a:srgbClr val="A2B0C2"/>
          </a:solidFill>
          <a:ln w="6350">
            <a:solidFill>
              <a:srgbClr val="E2E1EA"/>
            </a:solidFill>
            <a:prstDash val="solid"/>
          </a:ln>
        </p:spPr>
      </p:sp>
      <p:sp>
        <p:nvSpPr>
          <p:cNvPr id="69" name="Text 66"/>
          <p:cNvSpPr txBox="1"/>
          <p:nvPr/>
        </p:nvSpPr>
        <p:spPr>
          <a:xfrm>
            <a:off x="3895344" y="3904488"/>
            <a:ext cx="960120" cy="475488"/>
          </a:xfrm>
          <a:prstGeom prst="rect">
            <a:avLst/>
          </a:prstGeom>
          <a:noFill/>
          <a:ln/>
        </p:spPr>
        <p:txBody>
          <a:bodyPr wrap="square" lIns="0" tIns="0" rIns="0" bIns="0" rtlCol="0" anchor="t"/>
          <a:lstStyle/>
          <a:p>
            <a:pPr indent="0" marL="0">
              <a:buNone/>
            </a:pPr>
            <a:r>
              <a:rPr lang="en-US" sz="850" b="1" dirty="0">
                <a:solidFill>
                  <a:srgbClr val="23222B"/>
                </a:solidFill>
                <a:latin typeface="Arial" pitchFamily="34" charset="0"/>
                <a:ea typeface="Arial" pitchFamily="34" charset="-122"/>
                <a:cs typeface="Arial" pitchFamily="34" charset="-120"/>
              </a:rPr>
              <a:t>200</a:t>
            </a:r>
            <a:endParaRPr lang="en-US" sz="850" dirty="0"/>
          </a:p>
          <a:p>
            <a:pPr indent="0" marL="0">
              <a:buNone/>
            </a:pPr>
            <a:r>
              <a:rPr lang="en-US" sz="850" dirty="0">
                <a:solidFill>
                  <a:srgbClr val="23222B"/>
                </a:solidFill>
                <a:latin typeface="Arial" pitchFamily="34" charset="0"/>
                <a:ea typeface="Arial" pitchFamily="34" charset="-122"/>
                <a:cs typeface="Arial" pitchFamily="34" charset="-120"/>
              </a:rPr>
              <a:t>#A2B0C2</a:t>
            </a:r>
            <a:endParaRPr lang="en-US" sz="850" dirty="0"/>
          </a:p>
        </p:txBody>
      </p:sp>
      <p:sp>
        <p:nvSpPr>
          <p:cNvPr id="70" name="Shape 67"/>
          <p:cNvSpPr/>
          <p:nvPr/>
        </p:nvSpPr>
        <p:spPr>
          <a:xfrm>
            <a:off x="4946904" y="3831336"/>
            <a:ext cx="1051560" cy="603504"/>
          </a:xfrm>
          <a:prstGeom prst="rect">
            <a:avLst/>
          </a:prstGeom>
          <a:solidFill>
            <a:srgbClr val="7389A3"/>
          </a:solidFill>
          <a:ln w="6350">
            <a:solidFill>
              <a:srgbClr val="E2E1EA"/>
            </a:solidFill>
            <a:prstDash val="solid"/>
          </a:ln>
        </p:spPr>
      </p:sp>
      <p:sp>
        <p:nvSpPr>
          <p:cNvPr id="71" name="Text 68"/>
          <p:cNvSpPr txBox="1"/>
          <p:nvPr/>
        </p:nvSpPr>
        <p:spPr>
          <a:xfrm>
            <a:off x="5010912" y="3904488"/>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300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#7389A3</a:t>
            </a:r>
            <a:endParaRPr lang="en-US" sz="850" dirty="0"/>
          </a:p>
        </p:txBody>
      </p:sp>
      <p:sp>
        <p:nvSpPr>
          <p:cNvPr id="72" name="Shape 69"/>
          <p:cNvSpPr/>
          <p:nvPr/>
        </p:nvSpPr>
        <p:spPr>
          <a:xfrm>
            <a:off x="6062472" y="3831336"/>
            <a:ext cx="1051560" cy="603504"/>
          </a:xfrm>
          <a:prstGeom prst="rect">
            <a:avLst/>
          </a:prstGeom>
          <a:solidFill>
            <a:srgbClr val="456285"/>
          </a:solidFill>
          <a:ln w="25400">
            <a:solidFill>
              <a:srgbClr val="23222B"/>
            </a:solidFill>
            <a:prstDash val="solid"/>
          </a:ln>
        </p:spPr>
      </p:sp>
      <p:sp>
        <p:nvSpPr>
          <p:cNvPr id="73" name="Text 70"/>
          <p:cNvSpPr txBox="1"/>
          <p:nvPr/>
        </p:nvSpPr>
        <p:spPr>
          <a:xfrm>
            <a:off x="6126480" y="3904488"/>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400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#456285</a:t>
            </a:r>
            <a:endParaRPr lang="en-US" sz="850" dirty="0"/>
          </a:p>
        </p:txBody>
      </p:sp>
      <p:sp>
        <p:nvSpPr>
          <p:cNvPr id="74" name="Shape 71"/>
          <p:cNvSpPr/>
          <p:nvPr/>
        </p:nvSpPr>
        <p:spPr>
          <a:xfrm>
            <a:off x="7178040" y="3831336"/>
            <a:ext cx="1051560" cy="603504"/>
          </a:xfrm>
          <a:prstGeom prst="rect">
            <a:avLst/>
          </a:prstGeom>
          <a:solidFill>
            <a:srgbClr val="334963"/>
          </a:solidFill>
          <a:ln w="6350">
            <a:solidFill>
              <a:srgbClr val="E2E1EA"/>
            </a:solidFill>
            <a:prstDash val="solid"/>
          </a:ln>
        </p:spPr>
      </p:sp>
      <p:sp>
        <p:nvSpPr>
          <p:cNvPr id="75" name="Text 72"/>
          <p:cNvSpPr txBox="1"/>
          <p:nvPr/>
        </p:nvSpPr>
        <p:spPr>
          <a:xfrm>
            <a:off x="7242048" y="3904488"/>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500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#334963</a:t>
            </a:r>
            <a:endParaRPr lang="en-US" sz="850" dirty="0"/>
          </a:p>
        </p:txBody>
      </p:sp>
      <p:sp>
        <p:nvSpPr>
          <p:cNvPr id="76" name="Shape 73"/>
          <p:cNvSpPr/>
          <p:nvPr/>
        </p:nvSpPr>
        <p:spPr>
          <a:xfrm>
            <a:off x="8293608" y="3831336"/>
            <a:ext cx="1051560" cy="603504"/>
          </a:xfrm>
          <a:prstGeom prst="rect">
            <a:avLst/>
          </a:prstGeom>
          <a:solidFill>
            <a:srgbClr val="223142"/>
          </a:solidFill>
          <a:ln w="6350">
            <a:solidFill>
              <a:srgbClr val="E2E1EA"/>
            </a:solidFill>
            <a:prstDash val="solid"/>
          </a:ln>
        </p:spPr>
      </p:sp>
      <p:sp>
        <p:nvSpPr>
          <p:cNvPr id="77" name="Text 74"/>
          <p:cNvSpPr txBox="1"/>
          <p:nvPr/>
        </p:nvSpPr>
        <p:spPr>
          <a:xfrm>
            <a:off x="8357616" y="3904488"/>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600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#223142</a:t>
            </a:r>
            <a:endParaRPr lang="en-US" sz="850" dirty="0"/>
          </a:p>
        </p:txBody>
      </p:sp>
      <p:sp>
        <p:nvSpPr>
          <p:cNvPr id="78" name="Shape 75"/>
          <p:cNvSpPr/>
          <p:nvPr/>
        </p:nvSpPr>
        <p:spPr>
          <a:xfrm>
            <a:off x="9409176" y="3831336"/>
            <a:ext cx="1051560" cy="603504"/>
          </a:xfrm>
          <a:prstGeom prst="rect">
            <a:avLst/>
          </a:prstGeom>
          <a:solidFill>
            <a:srgbClr val="111821"/>
          </a:solidFill>
          <a:ln w="6350">
            <a:solidFill>
              <a:srgbClr val="E2E1EA"/>
            </a:solidFill>
            <a:prstDash val="solid"/>
          </a:ln>
        </p:spPr>
      </p:sp>
      <p:sp>
        <p:nvSpPr>
          <p:cNvPr id="79" name="Text 76"/>
          <p:cNvSpPr txBox="1"/>
          <p:nvPr/>
        </p:nvSpPr>
        <p:spPr>
          <a:xfrm>
            <a:off x="9473184" y="3904488"/>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700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#111821</a:t>
            </a:r>
            <a:endParaRPr lang="en-US" sz="850" dirty="0"/>
          </a:p>
        </p:txBody>
      </p:sp>
      <p:sp>
        <p:nvSpPr>
          <p:cNvPr id="80" name="Shape 77"/>
          <p:cNvSpPr/>
          <p:nvPr/>
        </p:nvSpPr>
        <p:spPr>
          <a:xfrm>
            <a:off x="10524744" y="3831336"/>
            <a:ext cx="1051560" cy="603504"/>
          </a:xfrm>
          <a:prstGeom prst="rect">
            <a:avLst/>
          </a:prstGeom>
          <a:solidFill>
            <a:srgbClr val="000000"/>
          </a:solidFill>
          <a:ln w="6350">
            <a:solidFill>
              <a:srgbClr val="E2E1EA"/>
            </a:solidFill>
            <a:prstDash val="solid"/>
          </a:ln>
        </p:spPr>
      </p:sp>
      <p:sp>
        <p:nvSpPr>
          <p:cNvPr id="81" name="Text 78"/>
          <p:cNvSpPr txBox="1"/>
          <p:nvPr/>
        </p:nvSpPr>
        <p:spPr>
          <a:xfrm>
            <a:off x="10588752" y="3904488"/>
            <a:ext cx="960120" cy="475488"/>
          </a:xfrm>
          <a:prstGeom prst="rect">
            <a:avLst/>
          </a:prstGeom>
          <a:noFill/>
          <a:ln/>
        </p:spPr>
        <p:txBody>
          <a:bodyPr wrap="square" lIns="0" tIns="0" rIns="0" bIns="0" rtlCol="0" anchor="t"/>
          <a:lstStyle/>
          <a:p>
            <a:pPr indent="0" marL="0">
              <a:buNone/>
            </a:pPr>
            <a:r>
              <a:rPr lang="en-US" sz="850" b="1" dirty="0">
                <a:solidFill>
                  <a:srgbClr val="FFFFFF"/>
                </a:solidFill>
                <a:latin typeface="Arial" pitchFamily="34" charset="0"/>
                <a:ea typeface="Arial" pitchFamily="34" charset="-122"/>
                <a:cs typeface="Arial" pitchFamily="34" charset="-120"/>
              </a:rPr>
              <a:t>1000</a:t>
            </a:r>
            <a:endParaRPr lang="en-US" sz="850" dirty="0"/>
          </a:p>
          <a:p>
            <a:pPr indent="0" marL="0">
              <a:buNone/>
            </a:pPr>
            <a:r>
              <a:rPr lang="en-US" sz="850" dirty="0">
                <a:solidFill>
                  <a:srgbClr val="FFFFFF"/>
                </a:solidFill>
                <a:latin typeface="Arial" pitchFamily="34" charset="0"/>
                <a:ea typeface="Arial" pitchFamily="34" charset="-122"/>
                <a:cs typeface="Arial" pitchFamily="34" charset="-120"/>
              </a:rPr>
              <a:t>#000000</a:t>
            </a:r>
            <a:endParaRPr lang="en-US" sz="850" dirty="0"/>
          </a:p>
        </p:txBody>
      </p:sp>
      <p:sp>
        <p:nvSpPr>
          <p:cNvPr id="82" name="Text 79"/>
          <p:cNvSpPr txBox="1"/>
          <p:nvPr/>
        </p:nvSpPr>
        <p:spPr>
          <a:xfrm>
            <a:off x="548640" y="4572000"/>
            <a:ext cx="10058400" cy="27432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The outlined swatch (400) is the core colour. Use tints for backgrounds and shades for text or depth.</a:t>
            </a:r>
            <a:endParaRPr lang="en-US" sz="1150" dirty="0"/>
          </a:p>
        </p:txBody>
      </p:sp>
      <p:sp>
        <p:nvSpPr>
          <p:cNvPr id="83" name="Shape 80"/>
          <p:cNvSpPr/>
          <p:nvPr/>
        </p:nvSpPr>
        <p:spPr>
          <a:xfrm>
            <a:off x="548640" y="4983480"/>
            <a:ext cx="6656649" cy="502920"/>
          </a:xfrm>
          <a:prstGeom prst="rect">
            <a:avLst/>
          </a:prstGeom>
          <a:solidFill>
            <a:srgbClr val="FFFFFF"/>
          </a:solidFill>
          <a:ln w="6350">
            <a:solidFill>
              <a:srgbClr val="E2E1EA"/>
            </a:solidFill>
            <a:prstDash val="solid"/>
          </a:ln>
        </p:spPr>
      </p:sp>
      <p:sp>
        <p:nvSpPr>
          <p:cNvPr id="84" name="Text 81"/>
          <p:cNvSpPr txBox="1"/>
          <p:nvPr/>
        </p:nvSpPr>
        <p:spPr>
          <a:xfrm>
            <a:off x="640080" y="4983480"/>
            <a:ext cx="6519489" cy="502920"/>
          </a:xfrm>
          <a:prstGeom prst="rect">
            <a:avLst/>
          </a:prstGeom>
          <a:noFill/>
          <a:ln/>
        </p:spPr>
        <p:txBody>
          <a:bodyPr wrap="square" lIns="0" tIns="0" rIns="0" bIns="0" rtlCol="0" anchor="ctr"/>
          <a:lstStyle/>
          <a:p>
            <a:pPr indent="0" marL="0">
              <a:buNone/>
            </a:pPr>
            <a:r>
              <a:rPr lang="en-US" sz="1050" b="1" dirty="0">
                <a:solidFill>
                  <a:srgbClr val="23222B"/>
                </a:solidFill>
                <a:latin typeface="Arial" pitchFamily="34" charset="0"/>
                <a:ea typeface="Arial" pitchFamily="34" charset="-122"/>
                <a:cs typeface="Arial" pitchFamily="34" charset="-120"/>
              </a:rPr>
              <a:t>White &amp; neutrals 60%</a:t>
            </a:r>
            <a:endParaRPr lang="en-US" sz="1050" dirty="0"/>
          </a:p>
        </p:txBody>
      </p:sp>
      <p:sp>
        <p:nvSpPr>
          <p:cNvPr id="85" name="Shape 82"/>
          <p:cNvSpPr/>
          <p:nvPr/>
        </p:nvSpPr>
        <p:spPr>
          <a:xfrm>
            <a:off x="7205289" y="4983480"/>
            <a:ext cx="2218883" cy="502920"/>
          </a:xfrm>
          <a:prstGeom prst="rect">
            <a:avLst/>
          </a:prstGeom>
          <a:solidFill>
            <a:srgbClr val="456285"/>
          </a:solidFill>
          <a:ln w="6350">
            <a:solidFill>
              <a:srgbClr val="E2E1EA"/>
            </a:solidFill>
            <a:prstDash val="solid"/>
          </a:ln>
        </p:spPr>
      </p:sp>
      <p:sp>
        <p:nvSpPr>
          <p:cNvPr id="86" name="Text 83"/>
          <p:cNvSpPr txBox="1"/>
          <p:nvPr/>
        </p:nvSpPr>
        <p:spPr>
          <a:xfrm>
            <a:off x="7296729" y="4983480"/>
            <a:ext cx="2081723" cy="5029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Deep Rise / Ink 20%</a:t>
            </a:r>
            <a:endParaRPr lang="en-US" sz="1050" dirty="0"/>
          </a:p>
        </p:txBody>
      </p:sp>
      <p:sp>
        <p:nvSpPr>
          <p:cNvPr id="87" name="Shape 84"/>
          <p:cNvSpPr/>
          <p:nvPr/>
        </p:nvSpPr>
        <p:spPr>
          <a:xfrm>
            <a:off x="9424172" y="4983480"/>
            <a:ext cx="1331330" cy="502920"/>
          </a:xfrm>
          <a:prstGeom prst="rect">
            <a:avLst/>
          </a:prstGeom>
          <a:solidFill>
            <a:srgbClr val="7869BC"/>
          </a:solidFill>
          <a:ln w="6350">
            <a:solidFill>
              <a:srgbClr val="E2E1EA"/>
            </a:solidFill>
            <a:prstDash val="solid"/>
          </a:ln>
        </p:spPr>
      </p:sp>
      <p:sp>
        <p:nvSpPr>
          <p:cNvPr id="88" name="Text 85"/>
          <p:cNvSpPr txBox="1"/>
          <p:nvPr/>
        </p:nvSpPr>
        <p:spPr>
          <a:xfrm>
            <a:off x="9515612" y="4983480"/>
            <a:ext cx="1194170" cy="5029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Star Purple 12%</a:t>
            </a:r>
            <a:endParaRPr lang="en-US" sz="1050" dirty="0"/>
          </a:p>
        </p:txBody>
      </p:sp>
      <p:sp>
        <p:nvSpPr>
          <p:cNvPr id="89" name="Shape 86"/>
          <p:cNvSpPr/>
          <p:nvPr/>
        </p:nvSpPr>
        <p:spPr>
          <a:xfrm>
            <a:off x="10755502" y="4983480"/>
            <a:ext cx="554721" cy="502920"/>
          </a:xfrm>
          <a:prstGeom prst="rect">
            <a:avLst/>
          </a:prstGeom>
          <a:solidFill>
            <a:srgbClr val="6E86AE"/>
          </a:solidFill>
          <a:ln w="6350">
            <a:solidFill>
              <a:srgbClr val="E2E1EA"/>
            </a:solidFill>
            <a:prstDash val="solid"/>
          </a:ln>
        </p:spPr>
      </p:sp>
      <p:sp>
        <p:nvSpPr>
          <p:cNvPr id="90" name="Shape 87"/>
          <p:cNvSpPr/>
          <p:nvPr/>
        </p:nvSpPr>
        <p:spPr>
          <a:xfrm>
            <a:off x="11310223" y="4983480"/>
            <a:ext cx="332832" cy="502920"/>
          </a:xfrm>
          <a:prstGeom prst="rect">
            <a:avLst/>
          </a:prstGeom>
          <a:solidFill>
            <a:srgbClr val="8E8AAE"/>
          </a:solidFill>
          <a:ln w="6350">
            <a:solidFill>
              <a:srgbClr val="E2E1EA"/>
            </a:solidFill>
            <a:prstDash val="solid"/>
          </a:ln>
        </p:spPr>
      </p:sp>
      <p:sp>
        <p:nvSpPr>
          <p:cNvPr id="91" name="Text 88"/>
          <p:cNvSpPr txBox="1"/>
          <p:nvPr/>
        </p:nvSpPr>
        <p:spPr>
          <a:xfrm>
            <a:off x="548640" y="5596128"/>
            <a:ext cx="10058400" cy="45720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Keep layouts light and open. Star Purple is the spark: use it for what people should notice or press. Rise Blue (5%) and Human Lavender (3%) add depth in small amounts.</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04</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COLOUR</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Accessible pairings.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223760" cy="914400"/>
        </p:xfrm>
        <a:graphic>
          <a:graphicData uri="http://schemas.openxmlformats.org/drawingml/2006/table">
            <a:tbl>
              <a:tblPr/>
              <a:tblGrid>
                <a:gridCol w="1600200"/>
                <a:gridCol w="1965960"/>
                <a:gridCol w="868680"/>
                <a:gridCol w="1143000"/>
                <a:gridCol w="1645920"/>
              </a:tblGrid>
              <a:tr h="384048">
                <a:tc>
                  <a:txBody>
                    <a:bodyPr/>
                    <a:lstStyle/>
                    <a:p>
                      <a:pPr indent="0" marL="0">
                        <a:buNone/>
                      </a:pPr>
                      <a:r>
                        <a:rPr lang="en-US" sz="1150" b="1" dirty="0">
                          <a:solidFill>
                            <a:srgbClr val="23222B"/>
                          </a:solidFill>
                          <a:latin typeface="Arial" pitchFamily="34" charset="0"/>
                          <a:ea typeface="Arial" pitchFamily="34" charset="-122"/>
                          <a:cs typeface="Arial" pitchFamily="34" charset="-120"/>
                        </a:rPr>
                        <a:t>Text / foreground</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50" b="1" dirty="0">
                          <a:solidFill>
                            <a:srgbClr val="23222B"/>
                          </a:solidFill>
                          <a:latin typeface="Arial" pitchFamily="34" charset="0"/>
                          <a:ea typeface="Arial" pitchFamily="34" charset="-122"/>
                          <a:cs typeface="Arial" pitchFamily="34" charset="-120"/>
                        </a:rPr>
                        <a:t>Background</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50" b="1" dirty="0">
                          <a:solidFill>
                            <a:srgbClr val="23222B"/>
                          </a:solidFill>
                          <a:latin typeface="Arial" pitchFamily="34" charset="0"/>
                          <a:ea typeface="Arial" pitchFamily="34" charset="-122"/>
                          <a:cs typeface="Arial" pitchFamily="34" charset="-120"/>
                        </a:rPr>
                        <a:t>Ratio</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50" b="1" dirty="0">
                          <a:solidFill>
                            <a:srgbClr val="23222B"/>
                          </a:solidFill>
                          <a:latin typeface="Arial" pitchFamily="34" charset="0"/>
                          <a:ea typeface="Arial" pitchFamily="34" charset="-122"/>
                          <a:cs typeface="Arial" pitchFamily="34" charset="-120"/>
                        </a:rPr>
                        <a:t>Body text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50" b="1" dirty="0">
                          <a:solidFill>
                            <a:srgbClr val="23222B"/>
                          </a:solidFill>
                          <a:latin typeface="Arial" pitchFamily="34" charset="0"/>
                          <a:ea typeface="Arial" pitchFamily="34" charset="-122"/>
                          <a:cs typeface="Arial" pitchFamily="34" charset="-120"/>
                        </a:rPr>
                        <a:t>Large text &amp; icons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Ink</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15.7:1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Deep Rise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6.3:1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Star Purple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4.6:1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Star Purple (buttons)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4.6:1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Deep Rise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6.3:1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Purple 500</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Mist</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6.7:1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Star Purple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Mist</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4.3:1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B3261E"/>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Rise Blue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3.7:1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B3261E"/>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Human Lavender</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3.3:1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B3261E"/>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84048">
                <a:tc>
                  <a:txBody>
                    <a:bodyPr/>
                    <a:lstStyle/>
                    <a:p>
                      <a:pPr indent="0" marL="0">
                        <a:buNone/>
                      </a:pPr>
                      <a:r>
                        <a:rPr lang="en-US" sz="1200" dirty="0">
                          <a:solidFill>
                            <a:srgbClr val="23222B"/>
                          </a:solidFill>
                          <a:latin typeface="Arial" pitchFamily="34" charset="0"/>
                          <a:ea typeface="Arial" pitchFamily="34" charset="-122"/>
                          <a:cs typeface="Arial" pitchFamily="34" charset="-120"/>
                        </a:rPr>
                        <a:t>White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Rise Blue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3.7:1</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B3261E"/>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b="1" dirty="0">
                          <a:solidFill>
                            <a:srgbClr val="2F7A57"/>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7" name="Shape 3"/>
          <p:cNvSpPr/>
          <p:nvPr/>
        </p:nvSpPr>
        <p:spPr>
          <a:xfrm>
            <a:off x="8092440" y="1691640"/>
            <a:ext cx="3547872" cy="4224528"/>
          </a:xfrm>
          <a:prstGeom prst="roundRect">
            <a:avLst>
              <a:gd name="adj" fmla="val 3093"/>
            </a:avLst>
          </a:prstGeom>
          <a:solidFill>
            <a:srgbClr val="F7F6FB"/>
          </a:solidFill>
          <a:ln w="9525">
            <a:solidFill>
              <a:srgbClr val="E2E1EA"/>
            </a:solidFill>
            <a:prstDash val="solid"/>
          </a:ln>
        </p:spPr>
      </p:sp>
      <p:sp>
        <p:nvSpPr>
          <p:cNvPr id="8" name="Text 4"/>
          <p:cNvSpPr txBox="1"/>
          <p:nvPr/>
        </p:nvSpPr>
        <p:spPr>
          <a:xfrm>
            <a:off x="8302752" y="1874520"/>
            <a:ext cx="310896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THE RULES</a:t>
            </a:r>
            <a:endParaRPr lang="en-US" sz="950" dirty="0"/>
          </a:p>
        </p:txBody>
      </p:sp>
      <p:sp>
        <p:nvSpPr>
          <p:cNvPr id="9" name="Text 5"/>
          <p:cNvSpPr txBox="1"/>
          <p:nvPr/>
        </p:nvSpPr>
        <p:spPr>
          <a:xfrm>
            <a:off x="8302752" y="2194560"/>
            <a:ext cx="3154680" cy="3566160"/>
          </a:xfrm>
          <a:prstGeom prst="rect">
            <a:avLst/>
          </a:prstGeom>
          <a:noFill/>
          <a:ln/>
        </p:spPr>
        <p:txBody>
          <a:bodyPr wrap="square" lIns="0" tIns="0" rIns="0" bIns="0" rtlCol="0" anchor="t"/>
          <a:lstStyle/>
          <a:p>
            <a:pPr marL="177800" indent="-177800">
              <a:spcAft>
                <a:spcPts val="900"/>
              </a:spcAft>
              <a:buSzPct val="100000"/>
              <a:buChar char="•"/>
            </a:pPr>
            <a:r>
              <a:rPr lang="en-US" sz="1200" dirty="0">
                <a:solidFill>
                  <a:srgbClr val="474557"/>
                </a:solidFill>
                <a:latin typeface="Arial" pitchFamily="34" charset="0"/>
                <a:ea typeface="Arial" pitchFamily="34" charset="-122"/>
                <a:cs typeface="Arial" pitchFamily="34" charset="-120"/>
              </a:rPr>
              <a:t>Body text needs at least 4.5:1. Large text (24px+, or 19px bold) and icons need 3:1.</a:t>
            </a:r>
            <a:endParaRPr lang="en-US" sz="1200" dirty="0"/>
          </a:p>
          <a:p>
            <a:pPr marL="177800" indent="-177800">
              <a:spcAft>
                <a:spcPts val="900"/>
              </a:spcAft>
              <a:buSzPct val="100000"/>
              <a:buChar char="•"/>
            </a:pPr>
            <a:r>
              <a:rPr lang="en-US" sz="1200" dirty="0">
                <a:solidFill>
                  <a:srgbClr val="474557"/>
                </a:solidFill>
                <a:latin typeface="Arial" pitchFamily="34" charset="0"/>
                <a:ea typeface="Arial" pitchFamily="34" charset="-122"/>
                <a:cs typeface="Arial" pitchFamily="34" charset="-120"/>
              </a:rPr>
              <a:t>Small purple text on a tinted background uses Purple 500 #5A4E8D.</a:t>
            </a:r>
            <a:endParaRPr lang="en-US" sz="1200" dirty="0"/>
          </a:p>
          <a:p>
            <a:pPr marL="177800" indent="-177800">
              <a:spcAft>
                <a:spcPts val="900"/>
              </a:spcAft>
              <a:buSzPct val="100000"/>
              <a:buChar char="•"/>
            </a:pPr>
            <a:r>
              <a:rPr lang="en-US" sz="1200" dirty="0">
                <a:solidFill>
                  <a:srgbClr val="474557"/>
                </a:solidFill>
                <a:latin typeface="Arial" pitchFamily="34" charset="0"/>
                <a:ea typeface="Arial" pitchFamily="34" charset="-122"/>
                <a:cs typeface="Arial" pitchFamily="34" charset="-120"/>
              </a:rPr>
              <a:t>Small uppercase labels use Star Purple or Deep Rise, never Rise Blue.</a:t>
            </a:r>
            <a:endParaRPr lang="en-US" sz="1200" dirty="0"/>
          </a:p>
          <a:p>
            <a:pPr marL="177800" indent="-177800">
              <a:spcAft>
                <a:spcPts val="900"/>
              </a:spcAft>
              <a:buSzPct val="100000"/>
              <a:buChar char="•"/>
            </a:pPr>
            <a:r>
              <a:rPr lang="en-US" sz="1200" dirty="0">
                <a:solidFill>
                  <a:srgbClr val="474557"/>
                </a:solidFill>
                <a:latin typeface="Arial" pitchFamily="34" charset="0"/>
                <a:ea typeface="Arial" pitchFamily="34" charset="-122"/>
                <a:cs typeface="Arial" pitchFamily="34" charset="-120"/>
              </a:rPr>
              <a:t>Never rely on colour alone. Pair it with a word or an icon.</a:t>
            </a:r>
            <a:endParaRPr lang="en-US" sz="12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05</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TYPOGRAPHY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Roboto, set clean and confident.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specimen.png">    </p:cNvPr>
          <p:cNvPicPr>
            <a:picLocks noChangeAspect="1"/>
          </p:cNvPicPr>
          <p:nvPr/>
        </p:nvPicPr>
        <p:blipFill>
          <a:blip r:embed="rId2"/>
          <a:stretch>
            <a:fillRect/>
          </a:stretch>
        </p:blipFill>
        <p:spPr>
          <a:xfrm>
            <a:off x="548640" y="1691640"/>
            <a:ext cx="6629400" cy="4248302"/>
          </a:xfrm>
          <a:prstGeom prst="rect">
            <a:avLst/>
          </a:prstGeom>
        </p:spPr>
      </p:pic>
      <p:sp>
        <p:nvSpPr>
          <p:cNvPr id="7" name="Text 3"/>
          <p:cNvSpPr txBox="1"/>
          <p:nvPr/>
        </p:nvSpPr>
        <p:spPr>
          <a:xfrm>
            <a:off x="7589520" y="1691640"/>
            <a:ext cx="4050792" cy="1188720"/>
          </a:xfrm>
          <a:prstGeom prst="rect">
            <a:avLst/>
          </a:prstGeom>
          <a:noFill/>
          <a:ln/>
        </p:spPr>
        <p:txBody>
          <a:bodyPr wrap="square" lIns="0" tIns="0" rIns="0" bIns="0" rtlCol="0" anchor="t"/>
          <a:lstStyle/>
          <a:p>
            <a:pPr indent="0" marL="0">
              <a:buNone/>
            </a:pPr>
            <a:r>
              <a:rPr lang="en-US" sz="1400" dirty="0">
                <a:solidFill>
                  <a:srgbClr val="474557"/>
                </a:solidFill>
                <a:latin typeface="Arial" pitchFamily="34" charset="0"/>
                <a:ea typeface="Arial" pitchFamily="34" charset="-122"/>
                <a:cs typeface="Arial" pitchFamily="34" charset="-120"/>
              </a:rPr>
              <a:t>One typeface family does everything. Roboto is clean, modern and easy to read at any size, and it is free from Google Fonts.</a:t>
            </a:r>
            <a:endParaRPr lang="en-US" sz="1400" dirty="0"/>
          </a:p>
        </p:txBody>
      </p:sp>
      <p:sp>
        <p:nvSpPr>
          <p:cNvPr id="8" name="Text 4"/>
          <p:cNvSpPr txBox="1"/>
          <p:nvPr/>
        </p:nvSpPr>
        <p:spPr>
          <a:xfrm>
            <a:off x="7589520" y="3017520"/>
            <a:ext cx="4050792"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WHERE TO USE WHAT</a:t>
            </a:r>
            <a:endParaRPr lang="en-US" sz="950" dirty="0"/>
          </a:p>
        </p:txBody>
      </p:sp>
      <p:sp>
        <p:nvSpPr>
          <p:cNvPr id="9" name="Text 5"/>
          <p:cNvSpPr txBox="1"/>
          <p:nvPr/>
        </p:nvSpPr>
        <p:spPr>
          <a:xfrm>
            <a:off x="7589520" y="3310128"/>
            <a:ext cx="4050792" cy="265176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474557"/>
                </a:solidFill>
                <a:latin typeface="Arial" pitchFamily="34" charset="0"/>
                <a:ea typeface="Arial" pitchFamily="34" charset="-122"/>
                <a:cs typeface="Arial" pitchFamily="34" charset="-120"/>
              </a:rPr>
              <a:t>Web: </a:t>
            </a:r>
            <a:r>
              <a:rPr lang="en-US" sz="1200" dirty="0">
                <a:solidFill>
                  <a:srgbClr val="474557"/>
                </a:solidFill>
                <a:latin typeface="Arial" pitchFamily="34" charset="0"/>
                <a:ea typeface="Arial" pitchFamily="34" charset="-122"/>
                <a:cs typeface="Arial" pitchFamily="34" charset="-120"/>
              </a:rPr>
              <a:t>Roboto from Google Fonts, then Arial, Helvetica, sans-serif.</a:t>
            </a:r>
            <a:endParaRPr lang="en-US" sz="1200" dirty="0"/>
          </a:p>
          <a:p>
            <a:pPr marL="177800" indent="-177800">
              <a:spcAft>
                <a:spcPts val="600"/>
              </a:spcAft>
              <a:buSzPct val="100000"/>
              <a:buChar char="•"/>
            </a:pPr>
            <a:r>
              <a:rPr lang="en-US" sz="1200" b="1" dirty="0">
                <a:solidFill>
                  <a:srgbClr val="474557"/>
                </a:solidFill>
                <a:latin typeface="Arial" pitchFamily="34" charset="0"/>
                <a:ea typeface="Arial" pitchFamily="34" charset="-122"/>
                <a:cs typeface="Arial" pitchFamily="34" charset="-120"/>
              </a:rPr>
              <a:t>Google Docs &amp; Slides: </a:t>
            </a:r>
            <a:r>
              <a:rPr lang="en-US" sz="1200" dirty="0">
                <a:solidFill>
                  <a:srgbClr val="474557"/>
                </a:solidFill>
                <a:latin typeface="Arial" pitchFamily="34" charset="0"/>
                <a:ea typeface="Arial" pitchFamily="34" charset="-122"/>
                <a:cs typeface="Arial" pitchFamily="34" charset="-120"/>
              </a:rPr>
              <a:t>Roboto is built in.</a:t>
            </a:r>
            <a:endParaRPr lang="en-US" sz="1200" dirty="0"/>
          </a:p>
          <a:p>
            <a:pPr marL="177800" indent="-177800">
              <a:spcAft>
                <a:spcPts val="600"/>
              </a:spcAft>
              <a:buSzPct val="100000"/>
              <a:buChar char="•"/>
            </a:pPr>
            <a:r>
              <a:rPr lang="en-US" sz="1200" b="1" dirty="0">
                <a:solidFill>
                  <a:srgbClr val="474557"/>
                </a:solidFill>
                <a:latin typeface="Arial" pitchFamily="34" charset="0"/>
                <a:ea typeface="Arial" pitchFamily="34" charset="-122"/>
                <a:cs typeface="Arial" pitchFamily="34" charset="-120"/>
              </a:rPr>
              <a:t>Word &amp; PowerPoint: </a:t>
            </a:r>
            <a:r>
              <a:rPr lang="en-US" sz="1200" dirty="0">
                <a:solidFill>
                  <a:srgbClr val="474557"/>
                </a:solidFill>
                <a:latin typeface="Arial" pitchFamily="34" charset="0"/>
                <a:ea typeface="Arial" pitchFamily="34" charset="-122"/>
                <a:cs typeface="Arial" pitchFamily="34" charset="-120"/>
              </a:rPr>
              <a:t>install Roboto. Use Arial in files others will edit (like this deck).</a:t>
            </a:r>
            <a:endParaRPr lang="en-US" sz="1200" dirty="0"/>
          </a:p>
          <a:p>
            <a:pPr marL="177800" indent="-177800">
              <a:spcAft>
                <a:spcPts val="600"/>
              </a:spcAft>
              <a:buSzPct val="100000"/>
              <a:buChar char="•"/>
            </a:pPr>
            <a:r>
              <a:rPr lang="en-US" sz="1200" b="1" dirty="0">
                <a:solidFill>
                  <a:srgbClr val="474557"/>
                </a:solidFill>
                <a:latin typeface="Arial" pitchFamily="34" charset="0"/>
                <a:ea typeface="Arial" pitchFamily="34" charset="-122"/>
                <a:cs typeface="Arial" pitchFamily="34" charset="-120"/>
              </a:rPr>
              <a:t>Email: </a:t>
            </a:r>
            <a:r>
              <a:rPr lang="en-US" sz="1200" dirty="0">
                <a:solidFill>
                  <a:srgbClr val="474557"/>
                </a:solidFill>
                <a:latin typeface="Arial" pitchFamily="34" charset="0"/>
                <a:ea typeface="Arial" pitchFamily="34" charset="-122"/>
                <a:cs typeface="Arial" pitchFamily="34" charset="-120"/>
              </a:rPr>
              <a:t>Arial.</a:t>
            </a:r>
            <a:endParaRPr lang="en-US" sz="1200" dirty="0"/>
          </a:p>
          <a:p>
            <a:pPr marL="177800" indent="-177800">
              <a:spcAft>
                <a:spcPts val="600"/>
              </a:spcAft>
              <a:buSzPct val="100000"/>
              <a:buChar char="•"/>
            </a:pPr>
            <a:r>
              <a:rPr lang="en-US" sz="1200" b="1" dirty="0">
                <a:solidFill>
                  <a:srgbClr val="474557"/>
                </a:solidFill>
                <a:latin typeface="Arial" pitchFamily="34" charset="0"/>
                <a:ea typeface="Arial" pitchFamily="34" charset="-122"/>
                <a:cs typeface="Arial" pitchFamily="34" charset="-120"/>
              </a:rPr>
              <a:t>Print: </a:t>
            </a:r>
            <a:r>
              <a:rPr lang="en-US" sz="1200" dirty="0">
                <a:solidFill>
                  <a:srgbClr val="474557"/>
                </a:solidFill>
                <a:latin typeface="Arial" pitchFamily="34" charset="0"/>
                <a:ea typeface="Arial" pitchFamily="34" charset="-122"/>
                <a:cs typeface="Arial" pitchFamily="34" charset="-120"/>
              </a:rPr>
              <a:t>PDFs with fonts embedded.</a:t>
            </a:r>
            <a:endParaRPr lang="en-US" sz="12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05</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TYPOGRAPHY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Type scale and setting rules.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858000" cy="914400"/>
        </p:xfrm>
        <a:graphic>
          <a:graphicData uri="http://schemas.openxmlformats.org/drawingml/2006/table">
            <a:tbl>
              <a:tblPr/>
              <a:tblGrid>
                <a:gridCol w="1143000"/>
                <a:gridCol w="1097280"/>
                <a:gridCol w="914400"/>
                <a:gridCol w="3703320"/>
              </a:tblGrid>
              <a:tr h="402336">
                <a:tc>
                  <a:txBody>
                    <a:bodyPr/>
                    <a:lstStyle/>
                    <a:p>
                      <a:pPr indent="0" marL="0">
                        <a:buNone/>
                      </a:pPr>
                      <a:r>
                        <a:rPr lang="en-US" sz="1100" b="1" dirty="0">
                          <a:solidFill>
                            <a:srgbClr val="23222B"/>
                          </a:solidFill>
                          <a:latin typeface="Arial" pitchFamily="34" charset="0"/>
                          <a:ea typeface="Arial" pitchFamily="34" charset="-122"/>
                          <a:cs typeface="Arial" pitchFamily="34" charset="-120"/>
                        </a:rPr>
                        <a:t>Style</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Screen</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Print</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Settings</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Display</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64–78px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48pt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Black 900 · tight tracking · hero and covers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H1</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48–64px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36pt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Black 900 · line height 1.05</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H2</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32–40px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24pt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Black 900 · line height 1.1</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H3</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24–28px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16pt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Bold 700</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Lead</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20px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12pt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Light 300 or Regular 400</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Body</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16–18px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10–11pt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Regular 400 · line height 1.6</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Small</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14px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8.5pt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Captions and legal lines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Eyebrow</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13–14px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8pt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Bold · UPPERCASE · +18% tracking</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02336">
                <a:tc>
                  <a:txBody>
                    <a:bodyPr/>
                    <a:lstStyle/>
                    <a:p>
                      <a:pPr indent="0" marL="0">
                        <a:buNone/>
                      </a:pPr>
                      <a:r>
                        <a:rPr lang="en-US" sz="1150" b="1" dirty="0">
                          <a:solidFill>
                            <a:srgbClr val="23222B"/>
                          </a:solidFill>
                          <a:latin typeface="Arial" pitchFamily="34" charset="0"/>
                          <a:ea typeface="Arial" pitchFamily="34" charset="-122"/>
                          <a:cs typeface="Arial" pitchFamily="34" charset="-120"/>
                        </a:rPr>
                        <a:t>Button</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15px</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Bold · sentence case · +3% tracking</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7" name="Shape 3"/>
          <p:cNvSpPr/>
          <p:nvPr/>
        </p:nvSpPr>
        <p:spPr>
          <a:xfrm>
            <a:off x="7726680" y="1691640"/>
            <a:ext cx="3913632" cy="4224528"/>
          </a:xfrm>
          <a:prstGeom prst="roundRect">
            <a:avLst>
              <a:gd name="adj" fmla="val 2804"/>
            </a:avLst>
          </a:prstGeom>
          <a:solidFill>
            <a:srgbClr val="F7F6FB"/>
          </a:solidFill>
          <a:ln w="9525">
            <a:solidFill>
              <a:srgbClr val="E2E1EA"/>
            </a:solidFill>
            <a:prstDash val="solid"/>
          </a:ln>
        </p:spPr>
      </p:sp>
      <p:sp>
        <p:nvSpPr>
          <p:cNvPr id="8" name="Text 4"/>
          <p:cNvSpPr txBox="1"/>
          <p:nvPr/>
        </p:nvSpPr>
        <p:spPr>
          <a:xfrm>
            <a:off x="7936992" y="1874520"/>
            <a:ext cx="347472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SETTING RULES</a:t>
            </a:r>
            <a:endParaRPr lang="en-US" sz="950" dirty="0"/>
          </a:p>
        </p:txBody>
      </p:sp>
      <p:sp>
        <p:nvSpPr>
          <p:cNvPr id="9" name="Text 5"/>
          <p:cNvSpPr txBox="1"/>
          <p:nvPr/>
        </p:nvSpPr>
        <p:spPr>
          <a:xfrm>
            <a:off x="7936992" y="2194560"/>
            <a:ext cx="3520440" cy="3566160"/>
          </a:xfrm>
          <a:prstGeom prst="rect">
            <a:avLst/>
          </a:prstGeom>
          <a:noFill/>
          <a:ln/>
        </p:spPr>
        <p:txBody>
          <a:bodyPr wrap="square" lIns="0" tIns="0" rIns="0" bIns="0" rtlCol="0" anchor="t"/>
          <a:lstStyle/>
          <a:p>
            <a:pPr marL="177800" indent="-177800">
              <a:spcAft>
                <a:spcPts val="800"/>
              </a:spcAft>
              <a:buSzPct val="100000"/>
              <a:buChar char="•"/>
            </a:pPr>
            <a:r>
              <a:rPr lang="en-US" sz="1250" b="1" dirty="0">
                <a:solidFill>
                  <a:srgbClr val="474557"/>
                </a:solidFill>
                <a:latin typeface="Arial" pitchFamily="34" charset="0"/>
                <a:ea typeface="Arial" pitchFamily="34" charset="-122"/>
                <a:cs typeface="Arial" pitchFamily="34" charset="-120"/>
              </a:rPr>
              <a:t>Sentence case </a:t>
            </a:r>
            <a:r>
              <a:rPr lang="en-US" sz="1250" dirty="0">
                <a:solidFill>
                  <a:srgbClr val="474557"/>
                </a:solidFill>
                <a:latin typeface="Arial" pitchFamily="34" charset="0"/>
                <a:ea typeface="Arial" pitchFamily="34" charset="-122"/>
                <a:cs typeface="Arial" pitchFamily="34" charset="-120"/>
              </a:rPr>
              <a:t>for headings and buttons.</a:t>
            </a:r>
            <a:endParaRPr lang="en-US" sz="1250" dirty="0"/>
          </a:p>
          <a:p>
            <a:pPr marL="177800" indent="-177800">
              <a:spcAft>
                <a:spcPts val="800"/>
              </a:spcAft>
              <a:buSzPct val="100000"/>
              <a:buChar char="•"/>
            </a:pPr>
            <a:r>
              <a:rPr lang="en-US" sz="1250" b="1" dirty="0">
                <a:solidFill>
                  <a:srgbClr val="474557"/>
                </a:solidFill>
                <a:latin typeface="Arial" pitchFamily="34" charset="0"/>
                <a:ea typeface="Arial" pitchFamily="34" charset="-122"/>
                <a:cs typeface="Arial" pitchFamily="34" charset="-120"/>
              </a:rPr>
              <a:t>Left-align </a:t>
            </a:r>
            <a:r>
              <a:rPr lang="en-US" sz="1250" dirty="0">
                <a:solidFill>
                  <a:srgbClr val="474557"/>
                </a:solidFill>
                <a:latin typeface="Arial" pitchFamily="34" charset="0"/>
                <a:ea typeface="Arial" pitchFamily="34" charset="-122"/>
                <a:cs typeface="Arial" pitchFamily="34" charset="-120"/>
              </a:rPr>
              <a:t>text. Centre only short headlines.</a:t>
            </a:r>
            <a:endParaRPr lang="en-US" sz="1250" dirty="0"/>
          </a:p>
          <a:p>
            <a:pPr marL="177800" indent="-177800">
              <a:spcAft>
                <a:spcPts val="800"/>
              </a:spcAft>
              <a:buSzPct val="100000"/>
              <a:buChar char="•"/>
            </a:pPr>
            <a:r>
              <a:rPr lang="en-US" sz="1250" b="1" dirty="0">
                <a:solidFill>
                  <a:srgbClr val="474557"/>
                </a:solidFill>
                <a:latin typeface="Arial" pitchFamily="34" charset="0"/>
                <a:ea typeface="Arial" pitchFamily="34" charset="-122"/>
                <a:cs typeface="Arial" pitchFamily="34" charset="-120"/>
              </a:rPr>
              <a:t>Highlight one idea </a:t>
            </a:r>
            <a:r>
              <a:rPr lang="en-US" sz="1250" dirty="0">
                <a:solidFill>
                  <a:srgbClr val="474557"/>
                </a:solidFill>
                <a:latin typeface="Arial" pitchFamily="34" charset="0"/>
                <a:ea typeface="Arial" pitchFamily="34" charset="-122"/>
                <a:cs typeface="Arial" pitchFamily="34" charset="-120"/>
              </a:rPr>
              <a:t>per headline in Star Purple.</a:t>
            </a:r>
            <a:endParaRPr lang="en-US" sz="1250" dirty="0"/>
          </a:p>
          <a:p>
            <a:pPr marL="177800" indent="-177800">
              <a:spcAft>
                <a:spcPts val="800"/>
              </a:spcAft>
              <a:buSzPct val="100000"/>
              <a:buChar char="•"/>
            </a:pPr>
            <a:r>
              <a:rPr lang="en-US" sz="1250" b="1" dirty="0">
                <a:solidFill>
                  <a:srgbClr val="474557"/>
                </a:solidFill>
                <a:latin typeface="Arial" pitchFamily="34" charset="0"/>
                <a:ea typeface="Arial" pitchFamily="34" charset="-122"/>
                <a:cs typeface="Arial" pitchFamily="34" charset="-120"/>
              </a:rPr>
              <a:t>Emphasise </a:t>
            </a:r>
            <a:r>
              <a:rPr lang="en-US" sz="1250" dirty="0">
                <a:solidFill>
                  <a:srgbClr val="474557"/>
                </a:solidFill>
                <a:latin typeface="Arial" pitchFamily="34" charset="0"/>
                <a:ea typeface="Arial" pitchFamily="34" charset="-122"/>
                <a:cs typeface="Arial" pitchFamily="34" charset="-120"/>
              </a:rPr>
              <a:t>with Medium or Bold, not italics.</a:t>
            </a:r>
            <a:endParaRPr lang="en-US" sz="1250" dirty="0"/>
          </a:p>
          <a:p>
            <a:pPr marL="177800" indent="-177800">
              <a:spcAft>
                <a:spcPts val="800"/>
              </a:spcAft>
              <a:buSzPct val="100000"/>
              <a:buChar char="•"/>
            </a:pPr>
            <a:r>
              <a:rPr lang="en-US" sz="1250" b="1" dirty="0">
                <a:solidFill>
                  <a:srgbClr val="474557"/>
                </a:solidFill>
                <a:latin typeface="Arial" pitchFamily="34" charset="0"/>
                <a:ea typeface="Arial" pitchFamily="34" charset="-122"/>
                <a:cs typeface="Arial" pitchFamily="34" charset="-120"/>
              </a:rPr>
              <a:t>45–75 characters </a:t>
            </a:r>
            <a:r>
              <a:rPr lang="en-US" sz="1250" dirty="0">
                <a:solidFill>
                  <a:srgbClr val="474557"/>
                </a:solidFill>
                <a:latin typeface="Arial" pitchFamily="34" charset="0"/>
                <a:ea typeface="Arial" pitchFamily="34" charset="-122"/>
                <a:cs typeface="Arial" pitchFamily="34" charset="-120"/>
              </a:rPr>
              <a:t>per line of body text.</a:t>
            </a:r>
            <a:endParaRPr lang="en-US" sz="1250" dirty="0"/>
          </a:p>
          <a:p>
            <a:pPr marL="177800" indent="-177800">
              <a:spcAft>
                <a:spcPts val="800"/>
              </a:spcAft>
              <a:buSzPct val="100000"/>
              <a:buChar char="•"/>
            </a:pPr>
            <a:r>
              <a:rPr lang="en-US" sz="1250" dirty="0">
                <a:solidFill>
                  <a:srgbClr val="474557"/>
                </a:solidFill>
                <a:latin typeface="Arial" pitchFamily="34" charset="0"/>
                <a:ea typeface="Arial" pitchFamily="34" charset="-122"/>
                <a:cs typeface="Arial" pitchFamily="34" charset="-120"/>
              </a:rPr>
              <a:t>Never stretch, outline or shadow type.</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06</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GRAPHIC ELEMENTS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The star.</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572768"/>
            <a:ext cx="10241280" cy="594360"/>
          </a:xfrm>
          <a:prstGeom prst="rect">
            <a:avLst/>
          </a:prstGeom>
          <a:noFill/>
          <a:ln/>
        </p:spPr>
        <p:txBody>
          <a:bodyPr wrap="square" lIns="0" tIns="0" rIns="0" bIns="0" rtlCol="0" anchor="t"/>
          <a:lstStyle/>
          <a:p>
            <a:pPr indent="0" marL="0">
              <a:buNone/>
            </a:pPr>
            <a:r>
              <a:rPr lang="en-US" sz="1300" dirty="0">
                <a:solidFill>
                  <a:srgbClr val="474557"/>
                </a:solidFill>
                <a:latin typeface="Arial" pitchFamily="34" charset="0"/>
                <a:ea typeface="Arial" pitchFamily="34" charset="-122"/>
                <a:cs typeface="Arial" pitchFamily="34" charset="-120"/>
              </a:rPr>
              <a:t>One continuous hand-drawn line with two small loops: human and a little imperfect. Always an outline, never filled. Every colourway is drawn at 82% opacity for its soft, pencil-like feel.</a:t>
            </a:r>
            <a:endParaRPr lang="en-US" sz="1300" dirty="0"/>
          </a:p>
        </p:txBody>
      </p:sp>
      <p:sp>
        <p:nvSpPr>
          <p:cNvPr id="7" name="Shape 4"/>
          <p:cNvSpPr/>
          <p:nvPr/>
        </p:nvSpPr>
        <p:spPr>
          <a:xfrm>
            <a:off x="548640" y="2286000"/>
            <a:ext cx="2057400" cy="1371600"/>
          </a:xfrm>
          <a:prstGeom prst="roundRect">
            <a:avLst>
              <a:gd name="adj" fmla="val 6667"/>
            </a:avLst>
          </a:prstGeom>
          <a:solidFill>
            <a:srgbClr val="FFFFFF"/>
          </a:solidFill>
          <a:ln w="9525">
            <a:solidFill>
              <a:srgbClr val="E2E1EA"/>
            </a:solidFill>
            <a:prstDash val="solid"/>
          </a:ln>
        </p:spPr>
      </p:sp>
      <p:pic>
        <p:nvPicPr>
          <p:cNvPr id="8" name="Image 1" descr="/tmp/claude-0/-home-user-HumanRise/ef620e0f-4658-549d-b913-69843549f640/scratchpad/deck/img/star-purple-300.png">    </p:cNvPr>
          <p:cNvPicPr>
            <a:picLocks noChangeAspect="1"/>
          </p:cNvPicPr>
          <p:nvPr/>
        </p:nvPicPr>
        <p:blipFill>
          <a:blip r:embed="rId2"/>
          <a:stretch>
            <a:fillRect/>
          </a:stretch>
        </p:blipFill>
        <p:spPr>
          <a:xfrm>
            <a:off x="1097280" y="2450592"/>
            <a:ext cx="1051560" cy="1051560"/>
          </a:xfrm>
          <a:prstGeom prst="rect">
            <a:avLst/>
          </a:prstGeom>
        </p:spPr>
      </p:pic>
      <p:sp>
        <p:nvSpPr>
          <p:cNvPr id="9" name="Text 5"/>
          <p:cNvSpPr txBox="1"/>
          <p:nvPr/>
        </p:nvSpPr>
        <p:spPr>
          <a:xfrm>
            <a:off x="548640" y="3730752"/>
            <a:ext cx="2057400" cy="256032"/>
          </a:xfrm>
          <a:prstGeom prst="rect">
            <a:avLst/>
          </a:prstGeom>
          <a:noFill/>
          <a:ln/>
        </p:spPr>
        <p:txBody>
          <a:bodyPr wrap="square" lIns="0" tIns="0" rIns="0" bIns="0" rtlCol="0" anchor="t"/>
          <a:lstStyle/>
          <a:p>
            <a:pPr indent="0" marL="0">
              <a:buNone/>
            </a:pPr>
            <a:r>
              <a:rPr lang="en-US" sz="1250" b="1" dirty="0">
                <a:solidFill>
                  <a:srgbClr val="23222B"/>
                </a:solidFill>
                <a:latin typeface="Arial" pitchFamily="34" charset="0"/>
                <a:ea typeface="Arial" pitchFamily="34" charset="-122"/>
                <a:cs typeface="Arial" pitchFamily="34" charset="-120"/>
              </a:rPr>
              <a:t>Star Purple</a:t>
            </a:r>
            <a:endParaRPr lang="en-US" sz="1250" dirty="0"/>
          </a:p>
        </p:txBody>
      </p:sp>
      <p:sp>
        <p:nvSpPr>
          <p:cNvPr id="10" name="Text 6"/>
          <p:cNvSpPr txBox="1"/>
          <p:nvPr/>
        </p:nvSpPr>
        <p:spPr>
          <a:xfrm>
            <a:off x="548640" y="3986784"/>
            <a:ext cx="2057400" cy="256032"/>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Icons, value cards, accents</a:t>
            </a:r>
            <a:endParaRPr lang="en-US" sz="1050" dirty="0"/>
          </a:p>
        </p:txBody>
      </p:sp>
      <p:sp>
        <p:nvSpPr>
          <p:cNvPr id="11" name="Shape 7"/>
          <p:cNvSpPr/>
          <p:nvPr/>
        </p:nvSpPr>
        <p:spPr>
          <a:xfrm>
            <a:off x="2807208" y="2286000"/>
            <a:ext cx="2057400" cy="1371600"/>
          </a:xfrm>
          <a:prstGeom prst="roundRect">
            <a:avLst>
              <a:gd name="adj" fmla="val 6667"/>
            </a:avLst>
          </a:prstGeom>
          <a:solidFill>
            <a:srgbClr val="FFFFFF"/>
          </a:solidFill>
          <a:ln w="9525">
            <a:solidFill>
              <a:srgbClr val="E2E1EA"/>
            </a:solidFill>
            <a:prstDash val="solid"/>
          </a:ln>
        </p:spPr>
      </p:sp>
      <p:pic>
        <p:nvPicPr>
          <p:cNvPr id="12" name="Image 2" descr="/tmp/claude-0/-home-user-HumanRise/ef620e0f-4658-549d-b913-69843549f640/scratchpad/deck/img/star-deep-300.png">    </p:cNvPr>
          <p:cNvPicPr>
            <a:picLocks noChangeAspect="1"/>
          </p:cNvPicPr>
          <p:nvPr/>
        </p:nvPicPr>
        <p:blipFill>
          <a:blip r:embed="rId3"/>
          <a:stretch>
            <a:fillRect/>
          </a:stretch>
        </p:blipFill>
        <p:spPr>
          <a:xfrm>
            <a:off x="3355848" y="2450592"/>
            <a:ext cx="1051560" cy="1051560"/>
          </a:xfrm>
          <a:prstGeom prst="rect">
            <a:avLst/>
          </a:prstGeom>
        </p:spPr>
      </p:pic>
      <p:sp>
        <p:nvSpPr>
          <p:cNvPr id="13" name="Text 8"/>
          <p:cNvSpPr txBox="1"/>
          <p:nvPr/>
        </p:nvSpPr>
        <p:spPr>
          <a:xfrm>
            <a:off x="2807208" y="3730752"/>
            <a:ext cx="2057400" cy="256032"/>
          </a:xfrm>
          <a:prstGeom prst="rect">
            <a:avLst/>
          </a:prstGeom>
          <a:noFill/>
          <a:ln/>
        </p:spPr>
        <p:txBody>
          <a:bodyPr wrap="square" lIns="0" tIns="0" rIns="0" bIns="0" rtlCol="0" anchor="t"/>
          <a:lstStyle/>
          <a:p>
            <a:pPr indent="0" marL="0">
              <a:buNone/>
            </a:pPr>
            <a:r>
              <a:rPr lang="en-US" sz="1250" b="1" dirty="0">
                <a:solidFill>
                  <a:srgbClr val="23222B"/>
                </a:solidFill>
                <a:latin typeface="Arial" pitchFamily="34" charset="0"/>
                <a:ea typeface="Arial" pitchFamily="34" charset="-122"/>
                <a:cs typeface="Arial" pitchFamily="34" charset="-120"/>
              </a:rPr>
              <a:t>Deep Rise</a:t>
            </a:r>
            <a:endParaRPr lang="en-US" sz="1250" dirty="0"/>
          </a:p>
        </p:txBody>
      </p:sp>
      <p:sp>
        <p:nvSpPr>
          <p:cNvPr id="14" name="Text 9"/>
          <p:cNvSpPr txBox="1"/>
          <p:nvPr/>
        </p:nvSpPr>
        <p:spPr>
          <a:xfrm>
            <a:off x="2807208" y="3986784"/>
            <a:ext cx="2057400" cy="256032"/>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Formal documents, print</a:t>
            </a:r>
            <a:endParaRPr lang="en-US" sz="1050" dirty="0"/>
          </a:p>
        </p:txBody>
      </p:sp>
      <p:sp>
        <p:nvSpPr>
          <p:cNvPr id="15" name="Shape 10"/>
          <p:cNvSpPr/>
          <p:nvPr/>
        </p:nvSpPr>
        <p:spPr>
          <a:xfrm>
            <a:off x="5065776" y="2286000"/>
            <a:ext cx="2057400" cy="1371600"/>
          </a:xfrm>
          <a:prstGeom prst="roundRect">
            <a:avLst>
              <a:gd name="adj" fmla="val 6667"/>
            </a:avLst>
          </a:prstGeom>
          <a:solidFill>
            <a:srgbClr val="FFFFFF"/>
          </a:solidFill>
          <a:ln w="9525">
            <a:solidFill>
              <a:srgbClr val="E2E1EA"/>
            </a:solidFill>
            <a:prstDash val="solid"/>
          </a:ln>
        </p:spPr>
      </p:sp>
      <p:pic>
        <p:nvPicPr>
          <p:cNvPr id="16" name="Image 3" descr="/tmp/claude-0/-home-user-HumanRise/ef620e0f-4658-549d-b913-69843549f640/scratchpad/deck/img/star-slate-300.png">    </p:cNvPr>
          <p:cNvPicPr>
            <a:picLocks noChangeAspect="1"/>
          </p:cNvPicPr>
          <p:nvPr/>
        </p:nvPicPr>
        <p:blipFill>
          <a:blip r:embed="rId4"/>
          <a:stretch>
            <a:fillRect/>
          </a:stretch>
        </p:blipFill>
        <p:spPr>
          <a:xfrm>
            <a:off x="5614416" y="2450592"/>
            <a:ext cx="1051560" cy="1051560"/>
          </a:xfrm>
          <a:prstGeom prst="rect">
            <a:avLst/>
          </a:prstGeom>
        </p:spPr>
      </p:pic>
      <p:sp>
        <p:nvSpPr>
          <p:cNvPr id="17" name="Text 11"/>
          <p:cNvSpPr txBox="1"/>
          <p:nvPr/>
        </p:nvSpPr>
        <p:spPr>
          <a:xfrm>
            <a:off x="5065776" y="3730752"/>
            <a:ext cx="2057400" cy="256032"/>
          </a:xfrm>
          <a:prstGeom prst="rect">
            <a:avLst/>
          </a:prstGeom>
          <a:noFill/>
          <a:ln/>
        </p:spPr>
        <p:txBody>
          <a:bodyPr wrap="square" lIns="0" tIns="0" rIns="0" bIns="0" rtlCol="0" anchor="t"/>
          <a:lstStyle/>
          <a:p>
            <a:pPr indent="0" marL="0">
              <a:buNone/>
            </a:pPr>
            <a:r>
              <a:rPr lang="en-US" sz="1250" b="1" dirty="0">
                <a:solidFill>
                  <a:srgbClr val="23222B"/>
                </a:solidFill>
                <a:latin typeface="Arial" pitchFamily="34" charset="0"/>
                <a:ea typeface="Arial" pitchFamily="34" charset="-122"/>
                <a:cs typeface="Arial" pitchFamily="34" charset="-120"/>
              </a:rPr>
              <a:t>Rise Blue</a:t>
            </a:r>
            <a:endParaRPr lang="en-US" sz="1250" dirty="0"/>
          </a:p>
        </p:txBody>
      </p:sp>
      <p:sp>
        <p:nvSpPr>
          <p:cNvPr id="18" name="Text 12"/>
          <p:cNvSpPr txBox="1"/>
          <p:nvPr/>
        </p:nvSpPr>
        <p:spPr>
          <a:xfrm>
            <a:off x="5065776" y="3986784"/>
            <a:ext cx="2057400" cy="256032"/>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Supporting accents</a:t>
            </a:r>
            <a:endParaRPr lang="en-US" sz="1050" dirty="0"/>
          </a:p>
        </p:txBody>
      </p:sp>
      <p:sp>
        <p:nvSpPr>
          <p:cNvPr id="19" name="Shape 13"/>
          <p:cNvSpPr/>
          <p:nvPr/>
        </p:nvSpPr>
        <p:spPr>
          <a:xfrm>
            <a:off x="7324344" y="2286000"/>
            <a:ext cx="2057400" cy="1371600"/>
          </a:xfrm>
          <a:prstGeom prst="roundRect">
            <a:avLst>
              <a:gd name="adj" fmla="val 6667"/>
            </a:avLst>
          </a:prstGeom>
          <a:solidFill>
            <a:srgbClr val="FFFFFF"/>
          </a:solidFill>
          <a:ln w="9525">
            <a:solidFill>
              <a:srgbClr val="E2E1EA"/>
            </a:solidFill>
            <a:prstDash val="solid"/>
          </a:ln>
        </p:spPr>
      </p:sp>
      <p:pic>
        <p:nvPicPr>
          <p:cNvPr id="20" name="Image 4" descr="/tmp/claude-0/-home-user-HumanRise/ef620e0f-4658-549d-b913-69843549f640/scratchpad/deck/img/star-faint-300.png">    </p:cNvPr>
          <p:cNvPicPr>
            <a:picLocks noChangeAspect="1"/>
          </p:cNvPicPr>
          <p:nvPr/>
        </p:nvPicPr>
        <p:blipFill>
          <a:blip r:embed="rId5"/>
          <a:stretch>
            <a:fillRect/>
          </a:stretch>
        </p:blipFill>
        <p:spPr>
          <a:xfrm>
            <a:off x="7872984" y="2450592"/>
            <a:ext cx="1051560" cy="1051560"/>
          </a:xfrm>
          <a:prstGeom prst="rect">
            <a:avLst/>
          </a:prstGeom>
        </p:spPr>
      </p:pic>
      <p:sp>
        <p:nvSpPr>
          <p:cNvPr id="21" name="Text 14"/>
          <p:cNvSpPr txBox="1"/>
          <p:nvPr/>
        </p:nvSpPr>
        <p:spPr>
          <a:xfrm>
            <a:off x="7324344" y="3730752"/>
            <a:ext cx="2057400" cy="256032"/>
          </a:xfrm>
          <a:prstGeom prst="rect">
            <a:avLst/>
          </a:prstGeom>
          <a:noFill/>
          <a:ln/>
        </p:spPr>
        <p:txBody>
          <a:bodyPr wrap="square" lIns="0" tIns="0" rIns="0" bIns="0" rtlCol="0" anchor="t"/>
          <a:lstStyle/>
          <a:p>
            <a:pPr indent="0" marL="0">
              <a:buNone/>
            </a:pPr>
            <a:r>
              <a:rPr lang="en-US" sz="1250" b="1" dirty="0">
                <a:solidFill>
                  <a:srgbClr val="23222B"/>
                </a:solidFill>
                <a:latin typeface="Arial" pitchFamily="34" charset="0"/>
                <a:ea typeface="Arial" pitchFamily="34" charset="-122"/>
                <a:cs typeface="Arial" pitchFamily="34" charset="-120"/>
              </a:rPr>
              <a:t>Faint</a:t>
            </a:r>
            <a:endParaRPr lang="en-US" sz="1250" dirty="0"/>
          </a:p>
        </p:txBody>
      </p:sp>
      <p:sp>
        <p:nvSpPr>
          <p:cNvPr id="22" name="Text 15"/>
          <p:cNvSpPr txBox="1"/>
          <p:nvPr/>
        </p:nvSpPr>
        <p:spPr>
          <a:xfrm>
            <a:off x="7324344" y="3986784"/>
            <a:ext cx="2057400" cy="256032"/>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Large watermarks on white</a:t>
            </a:r>
            <a:endParaRPr lang="en-US" sz="1050" dirty="0"/>
          </a:p>
        </p:txBody>
      </p:sp>
      <p:sp>
        <p:nvSpPr>
          <p:cNvPr id="23" name="Shape 16"/>
          <p:cNvSpPr/>
          <p:nvPr/>
        </p:nvSpPr>
        <p:spPr>
          <a:xfrm>
            <a:off x="9582912" y="2286000"/>
            <a:ext cx="2057400" cy="1371600"/>
          </a:xfrm>
          <a:prstGeom prst="roundRect">
            <a:avLst>
              <a:gd name="adj" fmla="val 6667"/>
            </a:avLst>
          </a:prstGeom>
          <a:solidFill>
            <a:srgbClr val="7869BC"/>
          </a:solidFill>
          <a:ln w="9525">
            <a:solidFill>
              <a:srgbClr val="E2E1EA"/>
            </a:solidFill>
            <a:prstDash val="solid"/>
          </a:ln>
        </p:spPr>
      </p:sp>
      <p:pic>
        <p:nvPicPr>
          <p:cNvPr id="24" name="Image 5" descr="/tmp/claude-0/-home-user-HumanRise/ef620e0f-4658-549d-b913-69843549f640/scratchpad/deck/img/star-white-300.png">    </p:cNvPr>
          <p:cNvPicPr>
            <a:picLocks noChangeAspect="1"/>
          </p:cNvPicPr>
          <p:nvPr/>
        </p:nvPicPr>
        <p:blipFill>
          <a:blip r:embed="rId6"/>
          <a:stretch>
            <a:fillRect/>
          </a:stretch>
        </p:blipFill>
        <p:spPr>
          <a:xfrm>
            <a:off x="10131552" y="2450592"/>
            <a:ext cx="1051560" cy="1051560"/>
          </a:xfrm>
          <a:prstGeom prst="rect">
            <a:avLst/>
          </a:prstGeom>
        </p:spPr>
      </p:pic>
      <p:sp>
        <p:nvSpPr>
          <p:cNvPr id="25" name="Text 17"/>
          <p:cNvSpPr txBox="1"/>
          <p:nvPr/>
        </p:nvSpPr>
        <p:spPr>
          <a:xfrm>
            <a:off x="9582912" y="3730752"/>
            <a:ext cx="2057400" cy="256032"/>
          </a:xfrm>
          <a:prstGeom prst="rect">
            <a:avLst/>
          </a:prstGeom>
          <a:noFill/>
          <a:ln/>
        </p:spPr>
        <p:txBody>
          <a:bodyPr wrap="square" lIns="0" tIns="0" rIns="0" bIns="0" rtlCol="0" anchor="t"/>
          <a:lstStyle/>
          <a:p>
            <a:pPr indent="0" marL="0">
              <a:buNone/>
            </a:pPr>
            <a:r>
              <a:rPr lang="en-US" sz="1250" b="1" dirty="0">
                <a:solidFill>
                  <a:srgbClr val="23222B"/>
                </a:solidFill>
                <a:latin typeface="Arial" pitchFamily="34" charset="0"/>
                <a:ea typeface="Arial" pitchFamily="34" charset="-122"/>
                <a:cs typeface="Arial" pitchFamily="34" charset="-120"/>
              </a:rPr>
              <a:t>White</a:t>
            </a:r>
            <a:endParaRPr lang="en-US" sz="1250" dirty="0"/>
          </a:p>
        </p:txBody>
      </p:sp>
      <p:sp>
        <p:nvSpPr>
          <p:cNvPr id="26" name="Text 18"/>
          <p:cNvSpPr txBox="1"/>
          <p:nvPr/>
        </p:nvSpPr>
        <p:spPr>
          <a:xfrm>
            <a:off x="9582912" y="3986784"/>
            <a:ext cx="2057400" cy="256032"/>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Watermarks on purple and blue</a:t>
            </a:r>
            <a:endParaRPr lang="en-US" sz="1050" dirty="0"/>
          </a:p>
        </p:txBody>
      </p:sp>
      <p:sp>
        <p:nvSpPr>
          <p:cNvPr id="27" name="Shape 19"/>
          <p:cNvSpPr/>
          <p:nvPr/>
        </p:nvSpPr>
        <p:spPr>
          <a:xfrm>
            <a:off x="548640" y="4434840"/>
            <a:ext cx="5440680" cy="1554480"/>
          </a:xfrm>
          <a:prstGeom prst="roundRect">
            <a:avLst>
              <a:gd name="adj" fmla="val 7059"/>
            </a:avLst>
          </a:prstGeom>
          <a:solidFill>
            <a:srgbClr val="FFFFFF"/>
          </a:solidFill>
          <a:ln w="9525">
            <a:solidFill>
              <a:srgbClr val="E2E1EA"/>
            </a:solidFill>
            <a:prstDash val="solid"/>
          </a:ln>
        </p:spPr>
      </p:sp>
      <p:sp>
        <p:nvSpPr>
          <p:cNvPr id="28" name="Shape 20"/>
          <p:cNvSpPr/>
          <p:nvPr/>
        </p:nvSpPr>
        <p:spPr>
          <a:xfrm>
            <a:off x="6199632" y="4434840"/>
            <a:ext cx="5440680" cy="1554480"/>
          </a:xfrm>
          <a:prstGeom prst="roundRect">
            <a:avLst>
              <a:gd name="adj" fmla="val 7059"/>
            </a:avLst>
          </a:prstGeom>
          <a:solidFill>
            <a:srgbClr val="FFFFFF"/>
          </a:solidFill>
          <a:ln w="9525">
            <a:solidFill>
              <a:srgbClr val="E2E1EA"/>
            </a:solidFill>
            <a:prstDash val="solid"/>
          </a:ln>
        </p:spPr>
      </p:sp>
      <p:pic>
        <p:nvPicPr>
          <p:cNvPr id="29" name="Image 6" descr="preencoded.png">    </p:cNvPr>
          <p:cNvPicPr>
            <a:picLocks noChangeAspect="1"/>
          </p:cNvPicPr>
          <p:nvPr/>
        </p:nvPicPr>
        <p:blipFill>
          <a:blip r:embed="rId7"/>
          <a:stretch>
            <a:fillRect/>
          </a:stretch>
        </p:blipFill>
        <p:spPr>
          <a:xfrm>
            <a:off x="731520" y="4572000"/>
            <a:ext cx="237744" cy="237744"/>
          </a:xfrm>
          <a:prstGeom prst="rect">
            <a:avLst/>
          </a:prstGeom>
        </p:spPr>
      </p:pic>
      <p:sp>
        <p:nvSpPr>
          <p:cNvPr id="30" name="Text 21"/>
          <p:cNvSpPr txBox="1"/>
          <p:nvPr/>
        </p:nvSpPr>
        <p:spPr>
          <a:xfrm>
            <a:off x="1051560" y="4562856"/>
            <a:ext cx="3657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Use the star</a:t>
            </a:r>
            <a:endParaRPr lang="en-US" sz="1300" dirty="0"/>
          </a:p>
        </p:txBody>
      </p:sp>
      <p:sp>
        <p:nvSpPr>
          <p:cNvPr id="31" name="Text 22"/>
          <p:cNvSpPr txBox="1"/>
          <p:nvPr/>
        </p:nvSpPr>
        <p:spPr>
          <a:xfrm>
            <a:off x="777240" y="4892040"/>
            <a:ext cx="502920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as one large watermark, cropped by the edge</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as a small icon beside values and key points</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as the avatar and favicon</a:t>
            </a:r>
            <a:endParaRPr lang="en-US" sz="1150" dirty="0"/>
          </a:p>
        </p:txBody>
      </p:sp>
      <p:pic>
        <p:nvPicPr>
          <p:cNvPr id="32" name="Image 7" descr="preencoded.png">    </p:cNvPr>
          <p:cNvPicPr>
            <a:picLocks noChangeAspect="1"/>
          </p:cNvPicPr>
          <p:nvPr/>
        </p:nvPicPr>
        <p:blipFill>
          <a:blip r:embed="rId8"/>
          <a:stretch>
            <a:fillRect/>
          </a:stretch>
        </p:blipFill>
        <p:spPr>
          <a:xfrm>
            <a:off x="6382512" y="4572000"/>
            <a:ext cx="237744" cy="237744"/>
          </a:xfrm>
          <a:prstGeom prst="rect">
            <a:avLst/>
          </a:prstGeom>
        </p:spPr>
      </p:pic>
      <p:sp>
        <p:nvSpPr>
          <p:cNvPr id="33" name="Text 23"/>
          <p:cNvSpPr txBox="1"/>
          <p:nvPr/>
        </p:nvSpPr>
        <p:spPr>
          <a:xfrm>
            <a:off x="6702552" y="4562856"/>
            <a:ext cx="3657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Don’t</a:t>
            </a:r>
            <a:endParaRPr lang="en-US" sz="1300" dirty="0"/>
          </a:p>
        </p:txBody>
      </p:sp>
      <p:sp>
        <p:nvSpPr>
          <p:cNvPr id="34" name="Text 24"/>
          <p:cNvSpPr txBox="1"/>
          <p:nvPr/>
        </p:nvSpPr>
        <p:spPr>
          <a:xfrm>
            <a:off x="6428232" y="4892040"/>
            <a:ext cx="5029200" cy="10058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redraw, trace, smooth or “fix” the line</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fill it, shadow it or put it in a solid shape</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scatter it as a pattern, spin it or use it for ratings</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06</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GRAPHIC ELEMENTS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The rising path, soft edges and buttons.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572768"/>
            <a:ext cx="10058400" cy="320040"/>
          </a:xfrm>
          <a:prstGeom prst="rect">
            <a:avLst/>
          </a:prstGeom>
          <a:noFill/>
          <a:ln/>
        </p:spPr>
        <p:txBody>
          <a:bodyPr wrap="square" lIns="0" tIns="0" rIns="0" bIns="0" rtlCol="0" anchor="t"/>
          <a:lstStyle/>
          <a:p>
            <a:pPr indent="0" marL="0">
              <a:buNone/>
            </a:pPr>
            <a:r>
              <a:rPr lang="en-US" sz="1300" dirty="0">
                <a:solidFill>
                  <a:srgbClr val="474557"/>
                </a:solidFill>
                <a:latin typeface="Arial" pitchFamily="34" charset="0"/>
                <a:ea typeface="Arial" pitchFamily="34" charset="-122"/>
                <a:cs typeface="Arial" pitchFamily="34" charset="-120"/>
              </a:rPr>
              <a:t>A dotted trail joins numbered markers. Use it only for real sequences: a process, a course outline, a timeline.</a:t>
            </a:r>
            <a:endParaRPr lang="en-US" sz="1300" dirty="0"/>
          </a:p>
        </p:txBody>
      </p:sp>
      <p:sp>
        <p:nvSpPr>
          <p:cNvPr id="7" name="Text 4"/>
          <p:cNvSpPr txBox="1"/>
          <p:nvPr/>
        </p:nvSpPr>
        <p:spPr>
          <a:xfrm>
            <a:off x="548640" y="210312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1</a:t>
            </a:r>
            <a:endParaRPr lang="en-US" sz="1300" dirty="0"/>
          </a:p>
        </p:txBody>
      </p:sp>
      <p:sp>
        <p:nvSpPr>
          <p:cNvPr id="8" name="Shape 5"/>
          <p:cNvSpPr/>
          <p:nvPr/>
        </p:nvSpPr>
        <p:spPr>
          <a:xfrm>
            <a:off x="1115568" y="2331720"/>
            <a:ext cx="3063240" cy="0"/>
          </a:xfrm>
          <a:prstGeom prst="line">
            <a:avLst/>
          </a:prstGeom>
          <a:noFill/>
          <a:ln w="30480">
            <a:solidFill>
              <a:srgbClr val="C6C4D6"/>
            </a:solidFill>
            <a:prstDash val="sysDot"/>
          </a:ln>
        </p:spPr>
      </p:sp>
      <p:sp>
        <p:nvSpPr>
          <p:cNvPr id="9" name="Text 6"/>
          <p:cNvSpPr txBox="1"/>
          <p:nvPr/>
        </p:nvSpPr>
        <p:spPr>
          <a:xfrm>
            <a:off x="548640" y="2697480"/>
            <a:ext cx="3383280" cy="274320"/>
          </a:xfrm>
          <a:prstGeom prst="rect">
            <a:avLst/>
          </a:prstGeom>
          <a:noFill/>
          <a:ln/>
        </p:spPr>
        <p:txBody>
          <a:bodyPr wrap="square" lIns="0" tIns="0" rIns="0" bIns="0" rtlCol="0" anchor="t"/>
          <a:lstStyle/>
          <a:p>
            <a:pPr indent="0" marL="0">
              <a:buNone/>
            </a:pPr>
            <a:r>
              <a:rPr lang="en-US" sz="1400" b="1" dirty="0">
                <a:solidFill>
                  <a:srgbClr val="23222B"/>
                </a:solidFill>
                <a:latin typeface="Arial" pitchFamily="34" charset="0"/>
                <a:ea typeface="Arial" pitchFamily="34" charset="-122"/>
                <a:cs typeface="Arial" pitchFamily="34" charset="-120"/>
              </a:rPr>
              <a:t>Tell us your need</a:t>
            </a:r>
            <a:endParaRPr lang="en-US" sz="1400" dirty="0"/>
          </a:p>
        </p:txBody>
      </p:sp>
      <p:sp>
        <p:nvSpPr>
          <p:cNvPr id="10" name="Text 7"/>
          <p:cNvSpPr txBox="1"/>
          <p:nvPr/>
        </p:nvSpPr>
        <p:spPr>
          <a:xfrm>
            <a:off x="548640" y="2990088"/>
            <a:ext cx="3291840" cy="45720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Share the role, the team and the must-haves. We listen first.</a:t>
            </a:r>
            <a:endParaRPr lang="en-US" sz="1150" dirty="0"/>
          </a:p>
        </p:txBody>
      </p:sp>
      <p:sp>
        <p:nvSpPr>
          <p:cNvPr id="11" name="Text 8"/>
          <p:cNvSpPr txBox="1"/>
          <p:nvPr/>
        </p:nvSpPr>
        <p:spPr>
          <a:xfrm>
            <a:off x="4297680" y="210312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2</a:t>
            </a:r>
            <a:endParaRPr lang="en-US" sz="1300" dirty="0"/>
          </a:p>
        </p:txBody>
      </p:sp>
      <p:sp>
        <p:nvSpPr>
          <p:cNvPr id="12" name="Shape 9"/>
          <p:cNvSpPr/>
          <p:nvPr/>
        </p:nvSpPr>
        <p:spPr>
          <a:xfrm>
            <a:off x="4864608" y="2331720"/>
            <a:ext cx="3063240" cy="0"/>
          </a:xfrm>
          <a:prstGeom prst="line">
            <a:avLst/>
          </a:prstGeom>
          <a:noFill/>
          <a:ln w="30480">
            <a:solidFill>
              <a:srgbClr val="C6C4D6"/>
            </a:solidFill>
            <a:prstDash val="sysDot"/>
          </a:ln>
        </p:spPr>
      </p:sp>
      <p:sp>
        <p:nvSpPr>
          <p:cNvPr id="13" name="Text 10"/>
          <p:cNvSpPr txBox="1"/>
          <p:nvPr/>
        </p:nvSpPr>
        <p:spPr>
          <a:xfrm>
            <a:off x="4297680" y="2697480"/>
            <a:ext cx="3383280" cy="274320"/>
          </a:xfrm>
          <a:prstGeom prst="rect">
            <a:avLst/>
          </a:prstGeom>
          <a:noFill/>
          <a:ln/>
        </p:spPr>
        <p:txBody>
          <a:bodyPr wrap="square" lIns="0" tIns="0" rIns="0" bIns="0" rtlCol="0" anchor="t"/>
          <a:lstStyle/>
          <a:p>
            <a:pPr indent="0" marL="0">
              <a:buNone/>
            </a:pPr>
            <a:r>
              <a:rPr lang="en-US" sz="1400" b="1" dirty="0">
                <a:solidFill>
                  <a:srgbClr val="23222B"/>
                </a:solidFill>
                <a:latin typeface="Arial" pitchFamily="34" charset="0"/>
                <a:ea typeface="Arial" pitchFamily="34" charset="-122"/>
                <a:cs typeface="Arial" pitchFamily="34" charset="-120"/>
              </a:rPr>
              <a:t>We shortlist</a:t>
            </a:r>
            <a:endParaRPr lang="en-US" sz="1400" dirty="0"/>
          </a:p>
        </p:txBody>
      </p:sp>
      <p:sp>
        <p:nvSpPr>
          <p:cNvPr id="14" name="Text 11"/>
          <p:cNvSpPr txBox="1"/>
          <p:nvPr/>
        </p:nvSpPr>
        <p:spPr>
          <a:xfrm>
            <a:off x="4297680" y="2990088"/>
            <a:ext cx="3291840" cy="45720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A curated shortlist of screened, fit-matched candidates.</a:t>
            </a:r>
            <a:endParaRPr lang="en-US" sz="1150" dirty="0"/>
          </a:p>
        </p:txBody>
      </p:sp>
      <p:sp>
        <p:nvSpPr>
          <p:cNvPr id="15" name="Text 12"/>
          <p:cNvSpPr txBox="1"/>
          <p:nvPr/>
        </p:nvSpPr>
        <p:spPr>
          <a:xfrm>
            <a:off x="8046720" y="210312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3</a:t>
            </a:r>
            <a:endParaRPr lang="en-US" sz="1300" dirty="0"/>
          </a:p>
        </p:txBody>
      </p:sp>
      <p:sp>
        <p:nvSpPr>
          <p:cNvPr id="16" name="Text 13"/>
          <p:cNvSpPr txBox="1"/>
          <p:nvPr/>
        </p:nvSpPr>
        <p:spPr>
          <a:xfrm>
            <a:off x="8046720" y="2697480"/>
            <a:ext cx="3383280" cy="274320"/>
          </a:xfrm>
          <a:prstGeom prst="rect">
            <a:avLst/>
          </a:prstGeom>
          <a:noFill/>
          <a:ln/>
        </p:spPr>
        <p:txBody>
          <a:bodyPr wrap="square" lIns="0" tIns="0" rIns="0" bIns="0" rtlCol="0" anchor="t"/>
          <a:lstStyle/>
          <a:p>
            <a:pPr indent="0" marL="0">
              <a:buNone/>
            </a:pPr>
            <a:r>
              <a:rPr lang="en-US" sz="1400" b="1" dirty="0">
                <a:solidFill>
                  <a:srgbClr val="23222B"/>
                </a:solidFill>
                <a:latin typeface="Arial" pitchFamily="34" charset="0"/>
                <a:ea typeface="Arial" pitchFamily="34" charset="-122"/>
                <a:cs typeface="Arial" pitchFamily="34" charset="-120"/>
              </a:rPr>
              <a:t>You hire &amp; grow</a:t>
            </a:r>
            <a:endParaRPr lang="en-US" sz="1400" dirty="0"/>
          </a:p>
        </p:txBody>
      </p:sp>
      <p:sp>
        <p:nvSpPr>
          <p:cNvPr id="17" name="Text 14"/>
          <p:cNvSpPr txBox="1"/>
          <p:nvPr/>
        </p:nvSpPr>
        <p:spPr>
          <a:xfrm>
            <a:off x="8046720" y="2990088"/>
            <a:ext cx="3291840" cy="45720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We support onboarding and check in well beyond day one.</a:t>
            </a:r>
            <a:endParaRPr lang="en-US" sz="1150" dirty="0"/>
          </a:p>
        </p:txBody>
      </p:sp>
      <p:sp>
        <p:nvSpPr>
          <p:cNvPr id="18" name="Text 15"/>
          <p:cNvSpPr txBox="1"/>
          <p:nvPr/>
        </p:nvSpPr>
        <p:spPr>
          <a:xfrm>
            <a:off x="548640" y="3749040"/>
            <a:ext cx="365760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SHAPES</a:t>
            </a:r>
            <a:endParaRPr lang="en-US" sz="950" dirty="0"/>
          </a:p>
        </p:txBody>
      </p:sp>
      <p:sp>
        <p:nvSpPr>
          <p:cNvPr id="19" name="Shape 16"/>
          <p:cNvSpPr/>
          <p:nvPr/>
        </p:nvSpPr>
        <p:spPr>
          <a:xfrm>
            <a:off x="548640" y="4069080"/>
            <a:ext cx="2514600" cy="868680"/>
          </a:xfrm>
          <a:prstGeom prst="roundRect">
            <a:avLst>
              <a:gd name="adj" fmla="val 12632"/>
            </a:avLst>
          </a:prstGeom>
          <a:solidFill>
            <a:srgbClr val="F7F6FB"/>
          </a:solidFill>
          <a:ln w="9525">
            <a:solidFill>
              <a:srgbClr val="E2E1EA"/>
            </a:solidFill>
            <a:prstDash val="solid"/>
          </a:ln>
        </p:spPr>
      </p:sp>
      <p:sp>
        <p:nvSpPr>
          <p:cNvPr id="20" name="Text 17"/>
          <p:cNvSpPr txBox="1"/>
          <p:nvPr/>
        </p:nvSpPr>
        <p:spPr>
          <a:xfrm>
            <a:off x="713232" y="4251960"/>
            <a:ext cx="2194560" cy="256032"/>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Buttons</a:t>
            </a:r>
            <a:endParaRPr lang="en-US" sz="1200" dirty="0"/>
          </a:p>
        </p:txBody>
      </p:sp>
      <p:sp>
        <p:nvSpPr>
          <p:cNvPr id="21" name="Text 18"/>
          <p:cNvSpPr txBox="1"/>
          <p:nvPr/>
        </p:nvSpPr>
        <p:spPr>
          <a:xfrm>
            <a:off x="713232" y="4526280"/>
            <a:ext cx="2194560" cy="237744"/>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8–12px radius</a:t>
            </a:r>
            <a:endParaRPr lang="en-US" sz="1050" dirty="0"/>
          </a:p>
        </p:txBody>
      </p:sp>
      <p:sp>
        <p:nvSpPr>
          <p:cNvPr id="22" name="Shape 19"/>
          <p:cNvSpPr/>
          <p:nvPr/>
        </p:nvSpPr>
        <p:spPr>
          <a:xfrm>
            <a:off x="3246120" y="4069080"/>
            <a:ext cx="2514600" cy="868680"/>
          </a:xfrm>
          <a:prstGeom prst="roundRect">
            <a:avLst>
              <a:gd name="adj" fmla="val 10526"/>
            </a:avLst>
          </a:prstGeom>
          <a:solidFill>
            <a:srgbClr val="F7F6FB"/>
          </a:solidFill>
          <a:ln w="9525">
            <a:solidFill>
              <a:srgbClr val="E2E1EA"/>
            </a:solidFill>
            <a:prstDash val="solid"/>
          </a:ln>
        </p:spPr>
      </p:sp>
      <p:sp>
        <p:nvSpPr>
          <p:cNvPr id="23" name="Text 20"/>
          <p:cNvSpPr txBox="1"/>
          <p:nvPr/>
        </p:nvSpPr>
        <p:spPr>
          <a:xfrm>
            <a:off x="3410712" y="4251960"/>
            <a:ext cx="2194560" cy="256032"/>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Inputs</a:t>
            </a:r>
            <a:endParaRPr lang="en-US" sz="1200" dirty="0"/>
          </a:p>
        </p:txBody>
      </p:sp>
      <p:sp>
        <p:nvSpPr>
          <p:cNvPr id="24" name="Text 21"/>
          <p:cNvSpPr txBox="1"/>
          <p:nvPr/>
        </p:nvSpPr>
        <p:spPr>
          <a:xfrm>
            <a:off x="3410712" y="4526280"/>
            <a:ext cx="2194560" cy="237744"/>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10px radius</a:t>
            </a:r>
            <a:endParaRPr lang="en-US" sz="1050" dirty="0"/>
          </a:p>
        </p:txBody>
      </p:sp>
      <p:sp>
        <p:nvSpPr>
          <p:cNvPr id="25" name="Shape 22"/>
          <p:cNvSpPr/>
          <p:nvPr/>
        </p:nvSpPr>
        <p:spPr>
          <a:xfrm>
            <a:off x="548640" y="5056632"/>
            <a:ext cx="2514600" cy="868680"/>
          </a:xfrm>
          <a:prstGeom prst="roundRect">
            <a:avLst>
              <a:gd name="adj" fmla="val 20000"/>
            </a:avLst>
          </a:prstGeom>
          <a:solidFill>
            <a:srgbClr val="F7F6FB"/>
          </a:solidFill>
          <a:ln w="9525">
            <a:solidFill>
              <a:srgbClr val="E2E1EA"/>
            </a:solidFill>
            <a:prstDash val="solid"/>
          </a:ln>
        </p:spPr>
      </p:sp>
      <p:sp>
        <p:nvSpPr>
          <p:cNvPr id="26" name="Text 23"/>
          <p:cNvSpPr txBox="1"/>
          <p:nvPr/>
        </p:nvSpPr>
        <p:spPr>
          <a:xfrm>
            <a:off x="713232" y="5239512"/>
            <a:ext cx="2194560" cy="256032"/>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Cards &amp; images</a:t>
            </a:r>
            <a:endParaRPr lang="en-US" sz="1200" dirty="0"/>
          </a:p>
        </p:txBody>
      </p:sp>
      <p:sp>
        <p:nvSpPr>
          <p:cNvPr id="27" name="Text 24"/>
          <p:cNvSpPr txBox="1"/>
          <p:nvPr/>
        </p:nvSpPr>
        <p:spPr>
          <a:xfrm>
            <a:off x="713232" y="5513832"/>
            <a:ext cx="2194560" cy="237744"/>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18px radius</a:t>
            </a:r>
            <a:endParaRPr lang="en-US" sz="1050" dirty="0"/>
          </a:p>
        </p:txBody>
      </p:sp>
      <p:sp>
        <p:nvSpPr>
          <p:cNvPr id="28" name="Shape 25"/>
          <p:cNvSpPr/>
          <p:nvPr/>
        </p:nvSpPr>
        <p:spPr>
          <a:xfrm>
            <a:off x="3246120" y="5056632"/>
            <a:ext cx="2514600" cy="868680"/>
          </a:xfrm>
          <a:prstGeom prst="roundRect">
            <a:avLst>
              <a:gd name="adj" fmla="val 28421"/>
            </a:avLst>
          </a:prstGeom>
          <a:solidFill>
            <a:srgbClr val="F7F6FB"/>
          </a:solidFill>
          <a:ln w="9525">
            <a:solidFill>
              <a:srgbClr val="E2E1EA"/>
            </a:solidFill>
            <a:prstDash val="solid"/>
          </a:ln>
        </p:spPr>
      </p:sp>
      <p:sp>
        <p:nvSpPr>
          <p:cNvPr id="29" name="Text 26"/>
          <p:cNvSpPr txBox="1"/>
          <p:nvPr/>
        </p:nvSpPr>
        <p:spPr>
          <a:xfrm>
            <a:off x="3410712" y="5239512"/>
            <a:ext cx="2194560" cy="256032"/>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Feature bands</a:t>
            </a:r>
            <a:endParaRPr lang="en-US" sz="1200" dirty="0"/>
          </a:p>
        </p:txBody>
      </p:sp>
      <p:sp>
        <p:nvSpPr>
          <p:cNvPr id="30" name="Text 27"/>
          <p:cNvSpPr txBox="1"/>
          <p:nvPr/>
        </p:nvSpPr>
        <p:spPr>
          <a:xfrm>
            <a:off x="3410712" y="5513832"/>
            <a:ext cx="2194560" cy="237744"/>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26px radius</a:t>
            </a:r>
            <a:endParaRPr lang="en-US" sz="1050" dirty="0"/>
          </a:p>
        </p:txBody>
      </p:sp>
      <p:sp>
        <p:nvSpPr>
          <p:cNvPr id="31" name="Text 28"/>
          <p:cNvSpPr txBox="1"/>
          <p:nvPr/>
        </p:nvSpPr>
        <p:spPr>
          <a:xfrm>
            <a:off x="6199632" y="3749040"/>
            <a:ext cx="457200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BUTTONS · SENTENCE CASE</a:t>
            </a:r>
            <a:endParaRPr lang="en-US" sz="950" dirty="0"/>
          </a:p>
        </p:txBody>
      </p:sp>
      <p:sp>
        <p:nvSpPr>
          <p:cNvPr id="32" name="Text 29"/>
          <p:cNvSpPr txBox="1"/>
          <p:nvPr/>
        </p:nvSpPr>
        <p:spPr>
          <a:xfrm>
            <a:off x="6199632" y="4096512"/>
            <a:ext cx="2331720" cy="548640"/>
          </a:xfrm>
          <a:prstGeom prst="roundRect">
            <a:avLst>
              <a:gd name="adj" fmla="val 20000"/>
            </a:avLst>
          </a:prstGeom>
          <a:solidFill>
            <a:srgbClr val="7869BC"/>
          </a:solidFill>
          <a:ln w="9525">
            <a:solidFill>
              <a:srgbClr val="7869BC"/>
            </a:solidFill>
          </a:ln>
          <a:effectLst>
            <a:outerShdw sx="100000" sy="100000" kx="0" ky="0" algn="bl" rotWithShape="0" blurRad="101600" dist="38100" dir="5400000">
              <a:srgbClr val="7869BC">
                <a:alpha val="30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Book a consultation</a:t>
            </a:r>
            <a:endParaRPr lang="en-US" sz="1300" dirty="0"/>
          </a:p>
        </p:txBody>
      </p:sp>
      <p:sp>
        <p:nvSpPr>
          <p:cNvPr id="33" name="Text 30"/>
          <p:cNvSpPr txBox="1"/>
          <p:nvPr/>
        </p:nvSpPr>
        <p:spPr>
          <a:xfrm>
            <a:off x="8732520" y="4096512"/>
            <a:ext cx="1737360" cy="548640"/>
          </a:xfrm>
          <a:prstGeom prst="roundRect">
            <a:avLst>
              <a:gd name="adj" fmla="val 20000"/>
            </a:avLst>
          </a:prstGeom>
          <a:solidFill>
            <a:srgbClr val="FFFFFF"/>
          </a:solidFill>
          <a:ln w="19050">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Browse jobs</a:t>
            </a:r>
            <a:endParaRPr lang="en-US" sz="1300" dirty="0"/>
          </a:p>
        </p:txBody>
      </p:sp>
      <p:sp>
        <p:nvSpPr>
          <p:cNvPr id="34" name="Shape 31"/>
          <p:cNvSpPr/>
          <p:nvPr/>
        </p:nvSpPr>
        <p:spPr>
          <a:xfrm>
            <a:off x="6199632" y="4800600"/>
            <a:ext cx="5440680" cy="777240"/>
          </a:xfrm>
          <a:prstGeom prst="roundRect">
            <a:avLst>
              <a:gd name="adj" fmla="val 16471"/>
            </a:avLst>
          </a:prstGeom>
          <a:solidFill>
            <a:srgbClr val="456285"/>
          </a:solidFill>
          <a:ln w="9525">
            <a:solidFill>
              <a:srgbClr val="456285"/>
            </a:solidFill>
            <a:prstDash val="solid"/>
          </a:ln>
        </p:spPr>
      </p:sp>
      <p:sp>
        <p:nvSpPr>
          <p:cNvPr id="35" name="Text 32"/>
          <p:cNvSpPr txBox="1"/>
          <p:nvPr/>
        </p:nvSpPr>
        <p:spPr>
          <a:xfrm>
            <a:off x="6400800" y="4937760"/>
            <a:ext cx="1691640" cy="502920"/>
          </a:xfrm>
          <a:prstGeom prst="roundRect">
            <a:avLst>
              <a:gd name="adj" fmla="val 21818"/>
            </a:avLst>
          </a:prstGeom>
          <a:solidFill>
            <a:srgbClr val="FFFFFF"/>
          </a:solidFill>
          <a:ln w="9525">
            <a:solidFill>
              <a:srgbClr val="FFFFFF"/>
            </a:solidFill>
          </a:ln>
        </p:spPr>
        <p:txBody>
          <a:bodyPr wrap="square" lIns="0" tIns="0" rIns="0" bIns="0" rtlCol="0" anchor="ctr"/>
          <a:lstStyle/>
          <a:p>
            <a:pPr algn="ctr" indent="0" marL="0">
              <a:buNone/>
            </a:pPr>
            <a:r>
              <a:rPr lang="en-US" sz="1250" b="1" dirty="0">
                <a:solidFill>
                  <a:srgbClr val="456285"/>
                </a:solidFill>
                <a:latin typeface="Arial" pitchFamily="34" charset="0"/>
                <a:ea typeface="Arial" pitchFamily="34" charset="-122"/>
                <a:cs typeface="Arial" pitchFamily="34" charset="-120"/>
              </a:rPr>
              <a:t>Get in touch</a:t>
            </a:r>
            <a:endParaRPr lang="en-US" sz="1250" dirty="0"/>
          </a:p>
        </p:txBody>
      </p:sp>
      <p:sp>
        <p:nvSpPr>
          <p:cNvPr id="36" name="Text 33"/>
          <p:cNvSpPr txBox="1"/>
          <p:nvPr/>
        </p:nvSpPr>
        <p:spPr>
          <a:xfrm>
            <a:off x="8275320" y="4937760"/>
            <a:ext cx="1783080" cy="502920"/>
          </a:xfrm>
          <a:prstGeom prst="roundRect">
            <a:avLst>
              <a:gd name="adj" fmla="val 21818"/>
            </a:avLst>
          </a:prstGeom>
          <a:solidFill>
            <a:srgbClr val="456285"/>
          </a:solidFill>
          <a:ln w="15875">
            <a:solidFill>
              <a:srgbClr val="C9D1DC"/>
            </a:solid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For businesses</a:t>
            </a:r>
            <a:endParaRPr lang="en-US" sz="1250" dirty="0"/>
          </a:p>
        </p:txBody>
      </p:sp>
      <p:sp>
        <p:nvSpPr>
          <p:cNvPr id="37" name="Text 34"/>
          <p:cNvSpPr txBox="1"/>
          <p:nvPr/>
        </p:nvSpPr>
        <p:spPr>
          <a:xfrm>
            <a:off x="6199632" y="5650992"/>
            <a:ext cx="4572000" cy="45720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One primary (Star Purple) button per view. Hover: #6A5BB0. Start with a verb: “Submit your CV”, “Request talent”.</a:t>
            </a:r>
            <a:endParaRPr lang="en-US" sz="10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06</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GRAPHIC ELEMENTS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Icons.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572768"/>
            <a:ext cx="10241280" cy="594360"/>
          </a:xfrm>
          <a:prstGeom prst="rect">
            <a:avLst/>
          </a:prstGeom>
          <a:noFill/>
          <a:ln/>
        </p:spPr>
        <p:txBody>
          <a:bodyPr wrap="square" lIns="0" tIns="0" rIns="0" bIns="0" rtlCol="0" anchor="t"/>
          <a:lstStyle/>
          <a:p>
            <a:pPr indent="0" marL="0">
              <a:buNone/>
            </a:pPr>
            <a:r>
              <a:rPr lang="en-US" sz="1300" dirty="0">
                <a:solidFill>
                  <a:srgbClr val="474557"/>
                </a:solidFill>
                <a:latin typeface="Arial" pitchFamily="34" charset="0"/>
                <a:ea typeface="Arial" pitchFamily="34" charset="-122"/>
                <a:cs typeface="Arial" pitchFamily="34" charset="-120"/>
              </a:rPr>
              <a:t>Google Material Symbols, Outlined (weight 400, unfilled, 24px grid). Colour them Star Purple, Rise Blue or Deep Rise inside a white rounded square with a soft shadow. One icon style only, and no emoji.</a:t>
            </a:r>
            <a:endParaRPr lang="en-US" sz="1300" dirty="0"/>
          </a:p>
        </p:txBody>
      </p:sp>
      <p:sp>
        <p:nvSpPr>
          <p:cNvPr id="7" name="Shape 4"/>
          <p:cNvSpPr/>
          <p:nvPr/>
        </p:nvSpPr>
        <p:spPr>
          <a:xfrm>
            <a:off x="548640" y="2331720"/>
            <a:ext cx="2057400" cy="1645920"/>
          </a:xfrm>
          <a:prstGeom prst="roundRect">
            <a:avLst>
              <a:gd name="adj" fmla="val 6667"/>
            </a:avLst>
          </a:prstGeom>
          <a:solidFill>
            <a:srgbClr val="FFFFFF"/>
          </a:solidFill>
          <a:ln w="9525">
            <a:solidFill>
              <a:srgbClr val="E2E1EA"/>
            </a:solidFill>
            <a:prstDash val="solid"/>
          </a:ln>
        </p:spPr>
      </p:sp>
      <p:sp>
        <p:nvSpPr>
          <p:cNvPr id="8" name="Shape 5"/>
          <p:cNvSpPr/>
          <p:nvPr/>
        </p:nvSpPr>
        <p:spPr>
          <a:xfrm>
            <a:off x="1280160" y="25328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9" name="Image 1" descr="preencoded.png">    </p:cNvPr>
          <p:cNvPicPr>
            <a:picLocks noChangeAspect="1"/>
          </p:cNvPicPr>
          <p:nvPr/>
        </p:nvPicPr>
        <p:blipFill>
          <a:blip r:embed="rId2"/>
          <a:stretch>
            <a:fillRect/>
          </a:stretch>
        </p:blipFill>
        <p:spPr>
          <a:xfrm>
            <a:off x="1399032" y="2651760"/>
            <a:ext cx="356616" cy="356616"/>
          </a:xfrm>
          <a:prstGeom prst="rect">
            <a:avLst/>
          </a:prstGeom>
        </p:spPr>
      </p:pic>
      <p:sp>
        <p:nvSpPr>
          <p:cNvPr id="10" name="Text 6"/>
          <p:cNvSpPr txBox="1"/>
          <p:nvPr/>
        </p:nvSpPr>
        <p:spPr>
          <a:xfrm>
            <a:off x="548640" y="32461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Recruitment</a:t>
            </a:r>
            <a:endParaRPr lang="en-US" sz="1200" dirty="0"/>
          </a:p>
        </p:txBody>
      </p:sp>
      <p:sp>
        <p:nvSpPr>
          <p:cNvPr id="11" name="Text 7"/>
          <p:cNvSpPr txBox="1"/>
          <p:nvPr/>
        </p:nvSpPr>
        <p:spPr>
          <a:xfrm>
            <a:off x="548640" y="35204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groups</a:t>
            </a:r>
            <a:endParaRPr lang="en-US" sz="1000" dirty="0"/>
          </a:p>
        </p:txBody>
      </p:sp>
      <p:sp>
        <p:nvSpPr>
          <p:cNvPr id="12" name="Shape 8"/>
          <p:cNvSpPr/>
          <p:nvPr/>
        </p:nvSpPr>
        <p:spPr>
          <a:xfrm>
            <a:off x="2807208" y="2331720"/>
            <a:ext cx="2057400" cy="1645920"/>
          </a:xfrm>
          <a:prstGeom prst="roundRect">
            <a:avLst>
              <a:gd name="adj" fmla="val 6667"/>
            </a:avLst>
          </a:prstGeom>
          <a:solidFill>
            <a:srgbClr val="FFFFFF"/>
          </a:solidFill>
          <a:ln w="9525">
            <a:solidFill>
              <a:srgbClr val="E2E1EA"/>
            </a:solidFill>
            <a:prstDash val="solid"/>
          </a:ln>
        </p:spPr>
      </p:sp>
      <p:sp>
        <p:nvSpPr>
          <p:cNvPr id="13" name="Shape 9"/>
          <p:cNvSpPr/>
          <p:nvPr/>
        </p:nvSpPr>
        <p:spPr>
          <a:xfrm>
            <a:off x="3538728" y="25328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14" name="Image 2" descr="preencoded.png">    </p:cNvPr>
          <p:cNvPicPr>
            <a:picLocks noChangeAspect="1"/>
          </p:cNvPicPr>
          <p:nvPr/>
        </p:nvPicPr>
        <p:blipFill>
          <a:blip r:embed="rId3"/>
          <a:stretch>
            <a:fillRect/>
          </a:stretch>
        </p:blipFill>
        <p:spPr>
          <a:xfrm>
            <a:off x="3657600" y="2651760"/>
            <a:ext cx="356616" cy="356616"/>
          </a:xfrm>
          <a:prstGeom prst="rect">
            <a:avLst/>
          </a:prstGeom>
        </p:spPr>
      </p:pic>
      <p:sp>
        <p:nvSpPr>
          <p:cNvPr id="15" name="Text 10"/>
          <p:cNvSpPr txBox="1"/>
          <p:nvPr/>
        </p:nvSpPr>
        <p:spPr>
          <a:xfrm>
            <a:off x="2807208" y="32461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Talent sourcing</a:t>
            </a:r>
            <a:endParaRPr lang="en-US" sz="1200" dirty="0"/>
          </a:p>
        </p:txBody>
      </p:sp>
      <p:sp>
        <p:nvSpPr>
          <p:cNvPr id="16" name="Text 11"/>
          <p:cNvSpPr txBox="1"/>
          <p:nvPr/>
        </p:nvSpPr>
        <p:spPr>
          <a:xfrm>
            <a:off x="2807208" y="35204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person_search</a:t>
            </a:r>
            <a:endParaRPr lang="en-US" sz="1000" dirty="0"/>
          </a:p>
        </p:txBody>
      </p:sp>
      <p:sp>
        <p:nvSpPr>
          <p:cNvPr id="17" name="Shape 12"/>
          <p:cNvSpPr/>
          <p:nvPr/>
        </p:nvSpPr>
        <p:spPr>
          <a:xfrm>
            <a:off x="5065776" y="2331720"/>
            <a:ext cx="2057400" cy="1645920"/>
          </a:xfrm>
          <a:prstGeom prst="roundRect">
            <a:avLst>
              <a:gd name="adj" fmla="val 6667"/>
            </a:avLst>
          </a:prstGeom>
          <a:solidFill>
            <a:srgbClr val="FFFFFF"/>
          </a:solidFill>
          <a:ln w="9525">
            <a:solidFill>
              <a:srgbClr val="E2E1EA"/>
            </a:solidFill>
            <a:prstDash val="solid"/>
          </a:ln>
        </p:spPr>
      </p:sp>
      <p:sp>
        <p:nvSpPr>
          <p:cNvPr id="18" name="Shape 13"/>
          <p:cNvSpPr/>
          <p:nvPr/>
        </p:nvSpPr>
        <p:spPr>
          <a:xfrm>
            <a:off x="5797296" y="25328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19" name="Image 3" descr="preencoded.png">    </p:cNvPr>
          <p:cNvPicPr>
            <a:picLocks noChangeAspect="1"/>
          </p:cNvPicPr>
          <p:nvPr/>
        </p:nvPicPr>
        <p:blipFill>
          <a:blip r:embed="rId4"/>
          <a:stretch>
            <a:fillRect/>
          </a:stretch>
        </p:blipFill>
        <p:spPr>
          <a:xfrm>
            <a:off x="5916168" y="2651760"/>
            <a:ext cx="356616" cy="356616"/>
          </a:xfrm>
          <a:prstGeom prst="rect">
            <a:avLst/>
          </a:prstGeom>
        </p:spPr>
      </p:pic>
      <p:sp>
        <p:nvSpPr>
          <p:cNvPr id="20" name="Text 14"/>
          <p:cNvSpPr txBox="1"/>
          <p:nvPr/>
        </p:nvSpPr>
        <p:spPr>
          <a:xfrm>
            <a:off x="5065776" y="32461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Psychometrics</a:t>
            </a:r>
            <a:endParaRPr lang="en-US" sz="1200" dirty="0"/>
          </a:p>
        </p:txBody>
      </p:sp>
      <p:sp>
        <p:nvSpPr>
          <p:cNvPr id="21" name="Text 15"/>
          <p:cNvSpPr txBox="1"/>
          <p:nvPr/>
        </p:nvSpPr>
        <p:spPr>
          <a:xfrm>
            <a:off x="5065776" y="35204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psychology</a:t>
            </a:r>
            <a:endParaRPr lang="en-US" sz="1000" dirty="0"/>
          </a:p>
        </p:txBody>
      </p:sp>
      <p:sp>
        <p:nvSpPr>
          <p:cNvPr id="22" name="Shape 16"/>
          <p:cNvSpPr/>
          <p:nvPr/>
        </p:nvSpPr>
        <p:spPr>
          <a:xfrm>
            <a:off x="7324344" y="2331720"/>
            <a:ext cx="2057400" cy="1645920"/>
          </a:xfrm>
          <a:prstGeom prst="roundRect">
            <a:avLst>
              <a:gd name="adj" fmla="val 6667"/>
            </a:avLst>
          </a:prstGeom>
          <a:solidFill>
            <a:srgbClr val="FFFFFF"/>
          </a:solidFill>
          <a:ln w="9525">
            <a:solidFill>
              <a:srgbClr val="E2E1EA"/>
            </a:solidFill>
            <a:prstDash val="solid"/>
          </a:ln>
        </p:spPr>
      </p:sp>
      <p:sp>
        <p:nvSpPr>
          <p:cNvPr id="23" name="Shape 17"/>
          <p:cNvSpPr/>
          <p:nvPr/>
        </p:nvSpPr>
        <p:spPr>
          <a:xfrm>
            <a:off x="8055864" y="25328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24" name="Image 4" descr="preencoded.png">    </p:cNvPr>
          <p:cNvPicPr>
            <a:picLocks noChangeAspect="1"/>
          </p:cNvPicPr>
          <p:nvPr/>
        </p:nvPicPr>
        <p:blipFill>
          <a:blip r:embed="rId5"/>
          <a:stretch>
            <a:fillRect/>
          </a:stretch>
        </p:blipFill>
        <p:spPr>
          <a:xfrm>
            <a:off x="8174736" y="2651760"/>
            <a:ext cx="356616" cy="356616"/>
          </a:xfrm>
          <a:prstGeom prst="rect">
            <a:avLst/>
          </a:prstGeom>
        </p:spPr>
      </p:pic>
      <p:sp>
        <p:nvSpPr>
          <p:cNvPr id="25" name="Text 18"/>
          <p:cNvSpPr txBox="1"/>
          <p:nvPr/>
        </p:nvSpPr>
        <p:spPr>
          <a:xfrm>
            <a:off x="7324344" y="32461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HR &amp; compliance</a:t>
            </a:r>
            <a:endParaRPr lang="en-US" sz="1200" dirty="0"/>
          </a:p>
        </p:txBody>
      </p:sp>
      <p:sp>
        <p:nvSpPr>
          <p:cNvPr id="26" name="Text 19"/>
          <p:cNvSpPr txBox="1"/>
          <p:nvPr/>
        </p:nvSpPr>
        <p:spPr>
          <a:xfrm>
            <a:off x="7324344" y="35204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gavel</a:t>
            </a:r>
            <a:endParaRPr lang="en-US" sz="1000" dirty="0"/>
          </a:p>
        </p:txBody>
      </p:sp>
      <p:sp>
        <p:nvSpPr>
          <p:cNvPr id="27" name="Shape 20"/>
          <p:cNvSpPr/>
          <p:nvPr/>
        </p:nvSpPr>
        <p:spPr>
          <a:xfrm>
            <a:off x="9582912" y="2331720"/>
            <a:ext cx="2057400" cy="1645920"/>
          </a:xfrm>
          <a:prstGeom prst="roundRect">
            <a:avLst>
              <a:gd name="adj" fmla="val 6667"/>
            </a:avLst>
          </a:prstGeom>
          <a:solidFill>
            <a:srgbClr val="FFFFFF"/>
          </a:solidFill>
          <a:ln w="9525">
            <a:solidFill>
              <a:srgbClr val="E2E1EA"/>
            </a:solidFill>
            <a:prstDash val="solid"/>
          </a:ln>
        </p:spPr>
      </p:sp>
      <p:sp>
        <p:nvSpPr>
          <p:cNvPr id="28" name="Shape 21"/>
          <p:cNvSpPr/>
          <p:nvPr/>
        </p:nvSpPr>
        <p:spPr>
          <a:xfrm>
            <a:off x="10314432" y="25328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29" name="Image 5" descr="preencoded.png">    </p:cNvPr>
          <p:cNvPicPr>
            <a:picLocks noChangeAspect="1"/>
          </p:cNvPicPr>
          <p:nvPr/>
        </p:nvPicPr>
        <p:blipFill>
          <a:blip r:embed="rId6"/>
          <a:stretch>
            <a:fillRect/>
          </a:stretch>
        </p:blipFill>
        <p:spPr>
          <a:xfrm>
            <a:off x="10433304" y="2651760"/>
            <a:ext cx="356616" cy="356616"/>
          </a:xfrm>
          <a:prstGeom prst="rect">
            <a:avLst/>
          </a:prstGeom>
        </p:spPr>
      </p:pic>
      <p:sp>
        <p:nvSpPr>
          <p:cNvPr id="30" name="Text 22"/>
          <p:cNvSpPr txBox="1"/>
          <p:nvPr/>
        </p:nvSpPr>
        <p:spPr>
          <a:xfrm>
            <a:off x="9582912" y="32461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Payroll</a:t>
            </a:r>
            <a:endParaRPr lang="en-US" sz="1200" dirty="0"/>
          </a:p>
        </p:txBody>
      </p:sp>
      <p:sp>
        <p:nvSpPr>
          <p:cNvPr id="31" name="Text 23"/>
          <p:cNvSpPr txBox="1"/>
          <p:nvPr/>
        </p:nvSpPr>
        <p:spPr>
          <a:xfrm>
            <a:off x="9582912" y="35204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receipt_long</a:t>
            </a:r>
            <a:endParaRPr lang="en-US" sz="1000" dirty="0"/>
          </a:p>
        </p:txBody>
      </p:sp>
      <p:sp>
        <p:nvSpPr>
          <p:cNvPr id="32" name="Shape 24"/>
          <p:cNvSpPr/>
          <p:nvPr/>
        </p:nvSpPr>
        <p:spPr>
          <a:xfrm>
            <a:off x="548640" y="4160520"/>
            <a:ext cx="2057400" cy="1645920"/>
          </a:xfrm>
          <a:prstGeom prst="roundRect">
            <a:avLst>
              <a:gd name="adj" fmla="val 6667"/>
            </a:avLst>
          </a:prstGeom>
          <a:solidFill>
            <a:srgbClr val="FFFFFF"/>
          </a:solidFill>
          <a:ln w="9525">
            <a:solidFill>
              <a:srgbClr val="E2E1EA"/>
            </a:solidFill>
            <a:prstDash val="solid"/>
          </a:ln>
        </p:spPr>
      </p:sp>
      <p:sp>
        <p:nvSpPr>
          <p:cNvPr id="33" name="Shape 25"/>
          <p:cNvSpPr/>
          <p:nvPr/>
        </p:nvSpPr>
        <p:spPr>
          <a:xfrm>
            <a:off x="1280160" y="43616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34" name="Image 6" descr="preencoded.png">    </p:cNvPr>
          <p:cNvPicPr>
            <a:picLocks noChangeAspect="1"/>
          </p:cNvPicPr>
          <p:nvPr/>
        </p:nvPicPr>
        <p:blipFill>
          <a:blip r:embed="rId7"/>
          <a:stretch>
            <a:fillRect/>
          </a:stretch>
        </p:blipFill>
        <p:spPr>
          <a:xfrm>
            <a:off x="1399032" y="4480560"/>
            <a:ext cx="356616" cy="356616"/>
          </a:xfrm>
          <a:prstGeom prst="rect">
            <a:avLst/>
          </a:prstGeom>
        </p:spPr>
      </p:pic>
      <p:sp>
        <p:nvSpPr>
          <p:cNvPr id="35" name="Text 26"/>
          <p:cNvSpPr txBox="1"/>
          <p:nvPr/>
        </p:nvSpPr>
        <p:spPr>
          <a:xfrm>
            <a:off x="548640" y="50749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Training</a:t>
            </a:r>
            <a:endParaRPr lang="en-US" sz="1200" dirty="0"/>
          </a:p>
        </p:txBody>
      </p:sp>
      <p:sp>
        <p:nvSpPr>
          <p:cNvPr id="36" name="Text 27"/>
          <p:cNvSpPr txBox="1"/>
          <p:nvPr/>
        </p:nvSpPr>
        <p:spPr>
          <a:xfrm>
            <a:off x="548640" y="53492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school</a:t>
            </a:r>
            <a:endParaRPr lang="en-US" sz="1000" dirty="0"/>
          </a:p>
        </p:txBody>
      </p:sp>
      <p:sp>
        <p:nvSpPr>
          <p:cNvPr id="37" name="Shape 28"/>
          <p:cNvSpPr/>
          <p:nvPr/>
        </p:nvSpPr>
        <p:spPr>
          <a:xfrm>
            <a:off x="2807208" y="4160520"/>
            <a:ext cx="2057400" cy="1645920"/>
          </a:xfrm>
          <a:prstGeom prst="roundRect">
            <a:avLst>
              <a:gd name="adj" fmla="val 6667"/>
            </a:avLst>
          </a:prstGeom>
          <a:solidFill>
            <a:srgbClr val="FFFFFF"/>
          </a:solidFill>
          <a:ln w="9525">
            <a:solidFill>
              <a:srgbClr val="E2E1EA"/>
            </a:solidFill>
            <a:prstDash val="solid"/>
          </a:ln>
        </p:spPr>
      </p:sp>
      <p:sp>
        <p:nvSpPr>
          <p:cNvPr id="38" name="Shape 29"/>
          <p:cNvSpPr/>
          <p:nvPr/>
        </p:nvSpPr>
        <p:spPr>
          <a:xfrm>
            <a:off x="3538728" y="43616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39" name="Image 7" descr="preencoded.png">    </p:cNvPr>
          <p:cNvPicPr>
            <a:picLocks noChangeAspect="1"/>
          </p:cNvPicPr>
          <p:nvPr/>
        </p:nvPicPr>
        <p:blipFill>
          <a:blip r:embed="rId8"/>
          <a:stretch>
            <a:fillRect/>
          </a:stretch>
        </p:blipFill>
        <p:spPr>
          <a:xfrm>
            <a:off x="3657600" y="4480560"/>
            <a:ext cx="356616" cy="356616"/>
          </a:xfrm>
          <a:prstGeom prst="rect">
            <a:avLst/>
          </a:prstGeom>
        </p:spPr>
      </p:pic>
      <p:sp>
        <p:nvSpPr>
          <p:cNvPr id="40" name="Text 30"/>
          <p:cNvSpPr txBox="1"/>
          <p:nvPr/>
        </p:nvSpPr>
        <p:spPr>
          <a:xfrm>
            <a:off x="2807208" y="50749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Temp &amp; contract</a:t>
            </a:r>
            <a:endParaRPr lang="en-US" sz="1200" dirty="0"/>
          </a:p>
        </p:txBody>
      </p:sp>
      <p:sp>
        <p:nvSpPr>
          <p:cNvPr id="41" name="Text 31"/>
          <p:cNvSpPr txBox="1"/>
          <p:nvPr/>
        </p:nvSpPr>
        <p:spPr>
          <a:xfrm>
            <a:off x="2807208" y="53492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schedule</a:t>
            </a:r>
            <a:endParaRPr lang="en-US" sz="1000" dirty="0"/>
          </a:p>
        </p:txBody>
      </p:sp>
      <p:sp>
        <p:nvSpPr>
          <p:cNvPr id="42" name="Shape 32"/>
          <p:cNvSpPr/>
          <p:nvPr/>
        </p:nvSpPr>
        <p:spPr>
          <a:xfrm>
            <a:off x="5065776" y="4160520"/>
            <a:ext cx="2057400" cy="1645920"/>
          </a:xfrm>
          <a:prstGeom prst="roundRect">
            <a:avLst>
              <a:gd name="adj" fmla="val 6667"/>
            </a:avLst>
          </a:prstGeom>
          <a:solidFill>
            <a:srgbClr val="FFFFFF"/>
          </a:solidFill>
          <a:ln w="9525">
            <a:solidFill>
              <a:srgbClr val="E2E1EA"/>
            </a:solidFill>
            <a:prstDash val="solid"/>
          </a:ln>
        </p:spPr>
      </p:sp>
      <p:sp>
        <p:nvSpPr>
          <p:cNvPr id="43" name="Shape 33"/>
          <p:cNvSpPr/>
          <p:nvPr/>
        </p:nvSpPr>
        <p:spPr>
          <a:xfrm>
            <a:off x="5797296" y="43616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44" name="Image 8" descr="preencoded.png">    </p:cNvPr>
          <p:cNvPicPr>
            <a:picLocks noChangeAspect="1"/>
          </p:cNvPicPr>
          <p:nvPr/>
        </p:nvPicPr>
        <p:blipFill>
          <a:blip r:embed="rId9"/>
          <a:stretch>
            <a:fillRect/>
          </a:stretch>
        </p:blipFill>
        <p:spPr>
          <a:xfrm>
            <a:off x="5916168" y="4480560"/>
            <a:ext cx="356616" cy="356616"/>
          </a:xfrm>
          <a:prstGeom prst="rect">
            <a:avLst/>
          </a:prstGeom>
        </p:spPr>
      </p:pic>
      <p:sp>
        <p:nvSpPr>
          <p:cNvPr id="45" name="Text 34"/>
          <p:cNvSpPr txBox="1"/>
          <p:nvPr/>
        </p:nvSpPr>
        <p:spPr>
          <a:xfrm>
            <a:off x="5065776" y="50749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Jobs</a:t>
            </a:r>
            <a:endParaRPr lang="en-US" sz="1200" dirty="0"/>
          </a:p>
        </p:txBody>
      </p:sp>
      <p:sp>
        <p:nvSpPr>
          <p:cNvPr id="46" name="Text 35"/>
          <p:cNvSpPr txBox="1"/>
          <p:nvPr/>
        </p:nvSpPr>
        <p:spPr>
          <a:xfrm>
            <a:off x="5065776" y="53492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work</a:t>
            </a:r>
            <a:endParaRPr lang="en-US" sz="1000" dirty="0"/>
          </a:p>
        </p:txBody>
      </p:sp>
      <p:sp>
        <p:nvSpPr>
          <p:cNvPr id="47" name="Shape 36"/>
          <p:cNvSpPr/>
          <p:nvPr/>
        </p:nvSpPr>
        <p:spPr>
          <a:xfrm>
            <a:off x="7324344" y="4160520"/>
            <a:ext cx="2057400" cy="1645920"/>
          </a:xfrm>
          <a:prstGeom prst="roundRect">
            <a:avLst>
              <a:gd name="adj" fmla="val 6667"/>
            </a:avLst>
          </a:prstGeom>
          <a:solidFill>
            <a:srgbClr val="FFFFFF"/>
          </a:solidFill>
          <a:ln w="9525">
            <a:solidFill>
              <a:srgbClr val="E2E1EA"/>
            </a:solidFill>
            <a:prstDash val="solid"/>
          </a:ln>
        </p:spPr>
      </p:sp>
      <p:sp>
        <p:nvSpPr>
          <p:cNvPr id="48" name="Shape 37"/>
          <p:cNvSpPr/>
          <p:nvPr/>
        </p:nvSpPr>
        <p:spPr>
          <a:xfrm>
            <a:off x="8055864" y="43616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49" name="Image 9" descr="preencoded.png">    </p:cNvPr>
          <p:cNvPicPr>
            <a:picLocks noChangeAspect="1"/>
          </p:cNvPicPr>
          <p:nvPr/>
        </p:nvPicPr>
        <p:blipFill>
          <a:blip r:embed="rId10"/>
          <a:stretch>
            <a:fillRect/>
          </a:stretch>
        </p:blipFill>
        <p:spPr>
          <a:xfrm>
            <a:off x="8174736" y="4480560"/>
            <a:ext cx="356616" cy="356616"/>
          </a:xfrm>
          <a:prstGeom prst="rect">
            <a:avLst/>
          </a:prstGeom>
        </p:spPr>
      </p:pic>
      <p:sp>
        <p:nvSpPr>
          <p:cNvPr id="50" name="Text 38"/>
          <p:cNvSpPr txBox="1"/>
          <p:nvPr/>
        </p:nvSpPr>
        <p:spPr>
          <a:xfrm>
            <a:off x="7324344" y="50749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Accredited</a:t>
            </a:r>
            <a:endParaRPr lang="en-US" sz="1200" dirty="0"/>
          </a:p>
        </p:txBody>
      </p:sp>
      <p:sp>
        <p:nvSpPr>
          <p:cNvPr id="51" name="Text 39"/>
          <p:cNvSpPr txBox="1"/>
          <p:nvPr/>
        </p:nvSpPr>
        <p:spPr>
          <a:xfrm>
            <a:off x="7324344" y="53492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verified</a:t>
            </a:r>
            <a:endParaRPr lang="en-US" sz="1000" dirty="0"/>
          </a:p>
        </p:txBody>
      </p:sp>
      <p:sp>
        <p:nvSpPr>
          <p:cNvPr id="52" name="Shape 40"/>
          <p:cNvSpPr/>
          <p:nvPr/>
        </p:nvSpPr>
        <p:spPr>
          <a:xfrm>
            <a:off x="9582912" y="4160520"/>
            <a:ext cx="2057400" cy="1645920"/>
          </a:xfrm>
          <a:prstGeom prst="roundRect">
            <a:avLst>
              <a:gd name="adj" fmla="val 6667"/>
            </a:avLst>
          </a:prstGeom>
          <a:solidFill>
            <a:srgbClr val="FFFFFF"/>
          </a:solidFill>
          <a:ln w="9525">
            <a:solidFill>
              <a:srgbClr val="E2E1EA"/>
            </a:solidFill>
            <a:prstDash val="solid"/>
          </a:ln>
        </p:spPr>
      </p:sp>
      <p:sp>
        <p:nvSpPr>
          <p:cNvPr id="53" name="Shape 41"/>
          <p:cNvSpPr/>
          <p:nvPr/>
        </p:nvSpPr>
        <p:spPr>
          <a:xfrm>
            <a:off x="10314432" y="4361688"/>
            <a:ext cx="594360" cy="594360"/>
          </a:xfrm>
          <a:prstGeom prst="roundRect">
            <a:avLst>
              <a:gd name="adj" fmla="val 24615"/>
            </a:avLst>
          </a:prstGeom>
          <a:solidFill>
            <a:srgbClr val="FFFFFF"/>
          </a:solidFill>
          <a:ln w="6350">
            <a:solidFill>
              <a:srgbClr val="E2E1EA"/>
            </a:solidFill>
            <a:prstDash val="solid"/>
          </a:ln>
          <a:effectLst>
            <a:outerShdw sx="100000" sy="100000" kx="0" ky="0" algn="bl" rotWithShape="0" blurRad="76200" dist="25400" dir="5400000">
              <a:srgbClr val="456285">
                <a:alpha val="18000"/>
              </a:srgbClr>
            </a:outerShdw>
          </a:effectLst>
        </p:spPr>
      </p:sp>
      <p:pic>
        <p:nvPicPr>
          <p:cNvPr id="54" name="Image 10" descr="preencoded.png">    </p:cNvPr>
          <p:cNvPicPr>
            <a:picLocks noChangeAspect="1"/>
          </p:cNvPicPr>
          <p:nvPr/>
        </p:nvPicPr>
        <p:blipFill>
          <a:blip r:embed="rId11"/>
          <a:stretch>
            <a:fillRect/>
          </a:stretch>
        </p:blipFill>
        <p:spPr>
          <a:xfrm>
            <a:off x="10433304" y="4480560"/>
            <a:ext cx="356616" cy="356616"/>
          </a:xfrm>
          <a:prstGeom prst="rect">
            <a:avLst/>
          </a:prstGeom>
        </p:spPr>
      </p:pic>
      <p:sp>
        <p:nvSpPr>
          <p:cNvPr id="55" name="Text 42"/>
          <p:cNvSpPr txBox="1"/>
          <p:nvPr/>
        </p:nvSpPr>
        <p:spPr>
          <a:xfrm>
            <a:off x="9582912" y="5074920"/>
            <a:ext cx="2057400" cy="274320"/>
          </a:xfrm>
          <a:prstGeom prst="rect">
            <a:avLst/>
          </a:prstGeom>
          <a:noFill/>
          <a:ln/>
        </p:spPr>
        <p:txBody>
          <a:bodyPr wrap="square" lIns="0" tIns="0" rIns="0" bIns="0" rtlCol="0" anchor="t"/>
          <a:lstStyle/>
          <a:p>
            <a:pPr algn="ctr" indent="0" marL="0">
              <a:buNone/>
            </a:pPr>
            <a:r>
              <a:rPr lang="en-US" sz="1200" b="1" dirty="0">
                <a:solidFill>
                  <a:srgbClr val="23222B"/>
                </a:solidFill>
                <a:latin typeface="Arial" pitchFamily="34" charset="0"/>
                <a:ea typeface="Arial" pitchFamily="34" charset="-122"/>
                <a:cs typeface="Arial" pitchFamily="34" charset="-120"/>
              </a:rPr>
              <a:t>Partners</a:t>
            </a:r>
            <a:endParaRPr lang="en-US" sz="1200" dirty="0"/>
          </a:p>
        </p:txBody>
      </p:sp>
      <p:sp>
        <p:nvSpPr>
          <p:cNvPr id="56" name="Text 43"/>
          <p:cNvSpPr txBox="1"/>
          <p:nvPr/>
        </p:nvSpPr>
        <p:spPr>
          <a:xfrm>
            <a:off x="9582912" y="5349240"/>
            <a:ext cx="2057400" cy="256032"/>
          </a:xfrm>
          <a:prstGeom prst="rect">
            <a:avLst/>
          </a:prstGeom>
          <a:noFill/>
          <a:ln/>
        </p:spPr>
        <p:txBody>
          <a:bodyPr wrap="square" lIns="0" tIns="0" rIns="0" bIns="0" rtlCol="0" anchor="t"/>
          <a:lstStyle/>
          <a:p>
            <a:pPr algn="ctr" indent="0" marL="0">
              <a:buNone/>
            </a:pPr>
            <a:r>
              <a:rPr lang="en-US" sz="1000" dirty="0">
                <a:solidFill>
                  <a:srgbClr val="6A6782"/>
                </a:solidFill>
                <a:latin typeface="Courier New" pitchFamily="34" charset="0"/>
                <a:ea typeface="Courier New" pitchFamily="34" charset="-122"/>
                <a:cs typeface="Courier New" pitchFamily="34" charset="-120"/>
              </a:rPr>
              <a:t>handshake</a:t>
            </a:r>
            <a:endParaRPr lang="en-US" sz="10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07</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PHOTOGRAPHY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Real people, real work, real light.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home/user/HumanRise/brand/assets/photos/team-1.jpg">    </p:cNvPr>
          <p:cNvPicPr>
            <a:picLocks noChangeAspect="1"/>
          </p:cNvPicPr>
          <p:nvPr/>
        </p:nvPicPr>
        <p:blipFill>
          <a:blip r:embed="rId2"/>
          <a:srcRect l="0" r="0" t="0" b="0"/>
          <a:stretch/>
        </p:blipFill>
        <p:spPr>
          <a:xfrm>
            <a:off x="548640" y="1691640"/>
            <a:ext cx="2651760" cy="1920240"/>
          </a:xfrm>
          <a:prstGeom prst="rect">
            <a:avLst/>
          </a:prstGeom>
        </p:spPr>
      </p:pic>
      <p:sp>
        <p:nvSpPr>
          <p:cNvPr id="7" name="Text 3"/>
          <p:cNvSpPr txBox="1"/>
          <p:nvPr/>
        </p:nvSpPr>
        <p:spPr>
          <a:xfrm>
            <a:off x="548640" y="3675888"/>
            <a:ext cx="2651760" cy="2743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Connection: genuine smiles, natural light</a:t>
            </a:r>
            <a:endParaRPr lang="en-US" sz="1050" dirty="0"/>
          </a:p>
        </p:txBody>
      </p:sp>
      <p:pic>
        <p:nvPicPr>
          <p:cNvPr id="8" name="Image 2" descr="/home/user/HumanRise/brand/assets/photos/team-2.jpg">    </p:cNvPr>
          <p:cNvPicPr>
            <a:picLocks noChangeAspect="1"/>
          </p:cNvPicPr>
          <p:nvPr/>
        </p:nvPicPr>
        <p:blipFill>
          <a:blip r:embed="rId3"/>
          <a:srcRect l="0" r="0" t="0" b="0"/>
          <a:stretch/>
        </p:blipFill>
        <p:spPr>
          <a:xfrm>
            <a:off x="3364992" y="1691640"/>
            <a:ext cx="2651760" cy="1920240"/>
          </a:xfrm>
          <a:prstGeom prst="rect">
            <a:avLst/>
          </a:prstGeom>
        </p:spPr>
      </p:pic>
      <p:sp>
        <p:nvSpPr>
          <p:cNvPr id="9" name="Text 4"/>
          <p:cNvSpPr txBox="1"/>
          <p:nvPr/>
        </p:nvSpPr>
        <p:spPr>
          <a:xfrm>
            <a:off x="3364992" y="3675888"/>
            <a:ext cx="2651760" cy="2743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Warmth: people meeting as equals</a:t>
            </a:r>
            <a:endParaRPr lang="en-US" sz="1050" dirty="0"/>
          </a:p>
        </p:txBody>
      </p:sp>
      <p:pic>
        <p:nvPicPr>
          <p:cNvPr id="10" name="Image 3" descr="/home/user/HumanRise/brand/assets/photos/recruitment-1.jpg">    </p:cNvPr>
          <p:cNvPicPr>
            <a:picLocks noChangeAspect="1"/>
          </p:cNvPicPr>
          <p:nvPr/>
        </p:nvPicPr>
        <p:blipFill>
          <a:blip r:embed="rId4"/>
          <a:srcRect l="0" r="0" t="0" b="0"/>
          <a:stretch/>
        </p:blipFill>
        <p:spPr>
          <a:xfrm>
            <a:off x="6181344" y="1691640"/>
            <a:ext cx="2651760" cy="1920240"/>
          </a:xfrm>
          <a:prstGeom prst="rect">
            <a:avLst/>
          </a:prstGeom>
        </p:spPr>
      </p:pic>
      <p:sp>
        <p:nvSpPr>
          <p:cNvPr id="11" name="Text 5"/>
          <p:cNvSpPr txBox="1"/>
          <p:nvPr/>
        </p:nvSpPr>
        <p:spPr>
          <a:xfrm>
            <a:off x="6181344" y="3675888"/>
            <a:ext cx="2651760" cy="2743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Recruitment: calm, respectful talks</a:t>
            </a:r>
            <a:endParaRPr lang="en-US" sz="1050" dirty="0"/>
          </a:p>
        </p:txBody>
      </p:sp>
      <p:pic>
        <p:nvPicPr>
          <p:cNvPr id="12" name="Image 4" descr="/home/user/HumanRise/brand/assets/photos/compliance-3.jpg">    </p:cNvPr>
          <p:cNvPicPr>
            <a:picLocks noChangeAspect="1"/>
          </p:cNvPicPr>
          <p:nvPr/>
        </p:nvPicPr>
        <p:blipFill>
          <a:blip r:embed="rId5"/>
          <a:srcRect l="0" r="0" t="0" b="0"/>
          <a:stretch/>
        </p:blipFill>
        <p:spPr>
          <a:xfrm>
            <a:off x="8997696" y="1691640"/>
            <a:ext cx="2651760" cy="1920240"/>
          </a:xfrm>
          <a:prstGeom prst="rect">
            <a:avLst/>
          </a:prstGeom>
        </p:spPr>
      </p:pic>
      <p:sp>
        <p:nvSpPr>
          <p:cNvPr id="13" name="Text 6"/>
          <p:cNvSpPr txBox="1"/>
          <p:nvPr/>
        </p:nvSpPr>
        <p:spPr>
          <a:xfrm>
            <a:off x="8997696" y="3675888"/>
            <a:ext cx="2651760" cy="2743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Compliance: detail handled carefully</a:t>
            </a:r>
            <a:endParaRPr lang="en-US" sz="1050" dirty="0"/>
          </a:p>
        </p:txBody>
      </p:sp>
      <p:sp>
        <p:nvSpPr>
          <p:cNvPr id="14" name="Shape 7"/>
          <p:cNvSpPr/>
          <p:nvPr/>
        </p:nvSpPr>
        <p:spPr>
          <a:xfrm>
            <a:off x="548640" y="4114800"/>
            <a:ext cx="5440680" cy="1920240"/>
          </a:xfrm>
          <a:prstGeom prst="roundRect">
            <a:avLst>
              <a:gd name="adj" fmla="val 5714"/>
            </a:avLst>
          </a:prstGeom>
          <a:solidFill>
            <a:srgbClr val="FFFFFF"/>
          </a:solidFill>
          <a:ln w="9525">
            <a:solidFill>
              <a:srgbClr val="E2E1EA"/>
            </a:solidFill>
            <a:prstDash val="solid"/>
          </a:ln>
        </p:spPr>
      </p:sp>
      <p:sp>
        <p:nvSpPr>
          <p:cNvPr id="15" name="Shape 8"/>
          <p:cNvSpPr/>
          <p:nvPr/>
        </p:nvSpPr>
        <p:spPr>
          <a:xfrm>
            <a:off x="6199632" y="4114800"/>
            <a:ext cx="5440680" cy="1920240"/>
          </a:xfrm>
          <a:prstGeom prst="roundRect">
            <a:avLst>
              <a:gd name="adj" fmla="val 5714"/>
            </a:avLst>
          </a:prstGeom>
          <a:solidFill>
            <a:srgbClr val="FFFFFF"/>
          </a:solidFill>
          <a:ln w="9525">
            <a:solidFill>
              <a:srgbClr val="E2E1EA"/>
            </a:solidFill>
            <a:prstDash val="solid"/>
          </a:ln>
        </p:spPr>
      </p:sp>
      <p:pic>
        <p:nvPicPr>
          <p:cNvPr id="16" name="Image 5" descr="preencoded.png">    </p:cNvPr>
          <p:cNvPicPr>
            <a:picLocks noChangeAspect="1"/>
          </p:cNvPicPr>
          <p:nvPr/>
        </p:nvPicPr>
        <p:blipFill>
          <a:blip r:embed="rId6"/>
          <a:stretch>
            <a:fillRect/>
          </a:stretch>
        </p:blipFill>
        <p:spPr>
          <a:xfrm>
            <a:off x="731520" y="4251960"/>
            <a:ext cx="237744" cy="237744"/>
          </a:xfrm>
          <a:prstGeom prst="rect">
            <a:avLst/>
          </a:prstGeom>
        </p:spPr>
      </p:pic>
      <p:sp>
        <p:nvSpPr>
          <p:cNvPr id="17" name="Text 9"/>
          <p:cNvSpPr txBox="1"/>
          <p:nvPr/>
        </p:nvSpPr>
        <p:spPr>
          <a:xfrm>
            <a:off x="1051560" y="4242816"/>
            <a:ext cx="3657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Look for</a:t>
            </a:r>
            <a:endParaRPr lang="en-US" sz="1300" dirty="0"/>
          </a:p>
        </p:txBody>
      </p:sp>
      <p:sp>
        <p:nvSpPr>
          <p:cNvPr id="18" name="Text 10"/>
          <p:cNvSpPr txBox="1"/>
          <p:nvPr/>
        </p:nvSpPr>
        <p:spPr>
          <a:xfrm>
            <a:off x="777240" y="4572000"/>
            <a:ext cx="507492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Diverse South African faces, ages and abilities</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Real workplaces: offices, shop floors, factories, training rooms</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Natural light and soft, true colour</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Candid moments, with calm space for a headline</a:t>
            </a:r>
            <a:endParaRPr lang="en-US" sz="1150" dirty="0"/>
          </a:p>
        </p:txBody>
      </p:sp>
      <p:pic>
        <p:nvPicPr>
          <p:cNvPr id="19" name="Image 6" descr="preencoded.png">    </p:cNvPr>
          <p:cNvPicPr>
            <a:picLocks noChangeAspect="1"/>
          </p:cNvPicPr>
          <p:nvPr/>
        </p:nvPicPr>
        <p:blipFill>
          <a:blip r:embed="rId7"/>
          <a:stretch>
            <a:fillRect/>
          </a:stretch>
        </p:blipFill>
        <p:spPr>
          <a:xfrm>
            <a:off x="6382512" y="4251960"/>
            <a:ext cx="237744" cy="237744"/>
          </a:xfrm>
          <a:prstGeom prst="rect">
            <a:avLst/>
          </a:prstGeom>
        </p:spPr>
      </p:pic>
      <p:sp>
        <p:nvSpPr>
          <p:cNvPr id="20" name="Text 11"/>
          <p:cNvSpPr txBox="1"/>
          <p:nvPr/>
        </p:nvSpPr>
        <p:spPr>
          <a:xfrm>
            <a:off x="6702552" y="4242816"/>
            <a:ext cx="3657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Avoid</a:t>
            </a:r>
            <a:endParaRPr lang="en-US" sz="1300" dirty="0"/>
          </a:p>
        </p:txBody>
      </p:sp>
      <p:sp>
        <p:nvSpPr>
          <p:cNvPr id="21" name="Text 12"/>
          <p:cNvSpPr txBox="1"/>
          <p:nvPr/>
        </p:nvSpPr>
        <p:spPr>
          <a:xfrm>
            <a:off x="6428232" y="4572000"/>
            <a:ext cx="5074920" cy="137160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Stock clichés: thumbs-up, pointing at screens, jigsaws</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Cold corporate scenes and heavy, moody filters</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More than one handshake per page</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Visible CVs, ID numbers, payslips or personal data</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07</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PHOTOGRAPHY</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Text on images, and consent.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overlay.jpg">    </p:cNvPr>
          <p:cNvPicPr>
            <a:picLocks noChangeAspect="1"/>
          </p:cNvPicPr>
          <p:nvPr/>
        </p:nvPicPr>
        <p:blipFill>
          <a:blip r:embed="rId2"/>
          <a:stretch>
            <a:fillRect/>
          </a:stretch>
        </p:blipFill>
        <p:spPr>
          <a:xfrm>
            <a:off x="548640" y="1691640"/>
            <a:ext cx="6949440" cy="2992831"/>
          </a:xfrm>
          <a:prstGeom prst="rect">
            <a:avLst/>
          </a:prstGeom>
        </p:spPr>
      </p:pic>
      <p:sp>
        <p:nvSpPr>
          <p:cNvPr id="7" name="Text 3"/>
          <p:cNvSpPr txBox="1"/>
          <p:nvPr/>
        </p:nvSpPr>
        <p:spPr>
          <a:xfrm>
            <a:off x="7818120" y="1691640"/>
            <a:ext cx="3822192" cy="2194560"/>
          </a:xfrm>
          <a:prstGeom prst="rect">
            <a:avLst/>
          </a:prstGeom>
          <a:noFill/>
          <a:ln/>
        </p:spPr>
        <p:txBody>
          <a:bodyPr wrap="square" lIns="0" tIns="0" rIns="0" bIns="0" rtlCol="0" anchor="t"/>
          <a:lstStyle/>
          <a:p>
            <a:pPr indent="0" marL="0">
              <a:buNone/>
            </a:pPr>
            <a:r>
              <a:rPr lang="en-US" sz="1400" dirty="0">
                <a:solidFill>
                  <a:srgbClr val="474557"/>
                </a:solidFill>
                <a:latin typeface="Arial" pitchFamily="34" charset="0"/>
                <a:ea typeface="Arial" pitchFamily="34" charset="-122"/>
                <a:cs typeface="Arial" pitchFamily="34" charset="-120"/>
              </a:rPr>
              <a:t>Put text on a calm area of the photo, or add a Deep Rise overlay that fades from 85% to 0% across the image. Text on photos is white, with bold headlines. Round photo corners to 18px on screens.</a:t>
            </a:r>
            <a:endParaRPr lang="en-US" sz="1400" dirty="0"/>
          </a:p>
        </p:txBody>
      </p:sp>
      <p:sp>
        <p:nvSpPr>
          <p:cNvPr id="8" name="Shape 4"/>
          <p:cNvSpPr/>
          <p:nvPr/>
        </p:nvSpPr>
        <p:spPr>
          <a:xfrm>
            <a:off x="548640" y="4937760"/>
            <a:ext cx="10271455" cy="1005840"/>
          </a:xfrm>
          <a:prstGeom prst="roundRect">
            <a:avLst>
              <a:gd name="adj" fmla="val 10909"/>
            </a:avLst>
          </a:prstGeom>
          <a:solidFill>
            <a:srgbClr val="F7F6FB"/>
          </a:solidFill>
          <a:ln w="9525">
            <a:solidFill>
              <a:srgbClr val="E2E1EA"/>
            </a:solidFill>
            <a:prstDash val="solid"/>
          </a:ln>
        </p:spPr>
      </p:sp>
      <p:pic>
        <p:nvPicPr>
          <p:cNvPr id="9" name="Image 2" descr="preencoded.png">    </p:cNvPr>
          <p:cNvPicPr>
            <a:picLocks noChangeAspect="1"/>
          </p:cNvPicPr>
          <p:nvPr/>
        </p:nvPicPr>
        <p:blipFill>
          <a:blip r:embed="rId3"/>
          <a:stretch>
            <a:fillRect/>
          </a:stretch>
        </p:blipFill>
        <p:spPr>
          <a:xfrm>
            <a:off x="749808" y="5138928"/>
            <a:ext cx="329184" cy="329184"/>
          </a:xfrm>
          <a:prstGeom prst="rect">
            <a:avLst/>
          </a:prstGeom>
        </p:spPr>
      </p:pic>
      <p:sp>
        <p:nvSpPr>
          <p:cNvPr id="10" name="Text 5"/>
          <p:cNvSpPr txBox="1"/>
          <p:nvPr/>
        </p:nvSpPr>
        <p:spPr>
          <a:xfrm>
            <a:off x="1234440" y="5029200"/>
            <a:ext cx="9326880" cy="822960"/>
          </a:xfrm>
          <a:prstGeom prst="rect">
            <a:avLst/>
          </a:prstGeom>
          <a:noFill/>
          <a:ln/>
        </p:spPr>
        <p:txBody>
          <a:bodyPr wrap="square" lIns="0" tIns="0" rIns="0" bIns="0" rtlCol="0" anchor="ctr"/>
          <a:lstStyle/>
          <a:p>
            <a:pPr indent="0" marL="0">
              <a:buNone/>
            </a:pPr>
            <a:r>
              <a:rPr lang="en-US" sz="1250" b="1" dirty="0">
                <a:solidFill>
                  <a:srgbClr val="23222B"/>
                </a:solidFill>
                <a:latin typeface="Arial" pitchFamily="34" charset="0"/>
                <a:ea typeface="Arial" pitchFamily="34" charset="-122"/>
                <a:cs typeface="Arial" pitchFamily="34" charset="-120"/>
              </a:rPr>
              <a:t>Consent comes first. </a:t>
            </a:r>
            <a:r>
              <a:rPr lang="en-US" sz="1250" dirty="0">
                <a:solidFill>
                  <a:srgbClr val="474557"/>
                </a:solidFill>
                <a:latin typeface="Arial" pitchFamily="34" charset="0"/>
                <a:ea typeface="Arial" pitchFamily="34" charset="-122"/>
                <a:cs typeface="Arial" pitchFamily="34" charset="-120"/>
              </a:rPr>
              <a:t>Only photograph or publish real candidates, clients, learners or staff with their written permission, in line with POPIA. Record the consent with the image, and credit stock photos where the licence asks for it.</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7869BC"/>
        </a:solidFill>
      </p:bgPr>
    </p:bg>
    <p:spTree>
      <p:nvGrpSpPr>
        <p:cNvPr id="1" name=""/>
        <p:cNvGrpSpPr/>
        <p:nvPr/>
      </p:nvGrpSpPr>
      <p:grpSpPr>
        <a:xfrm>
          <a:off x="0" y="0"/>
          <a:ext cx="0" cy="0"/>
          <a:chOff x="0" y="0"/>
          <a:chExt cx="0" cy="0"/>
        </a:xfrm>
      </p:grpSpPr>
      <p:pic>
        <p:nvPicPr>
          <p:cNvPr id="2" name="Image 0" descr="/home/user/HumanRise/brand/assets/star/star-white.png">    </p:cNvPr>
          <p:cNvPicPr>
            <a:picLocks noChangeAspect="1"/>
          </p:cNvPicPr>
          <p:nvPr/>
        </p:nvPicPr>
        <p:blipFill>
          <a:blip r:embed="rId1"/>
          <a:stretch>
            <a:fillRect/>
          </a:stretch>
        </p:blipFill>
        <p:spPr>
          <a:xfrm>
            <a:off x="7040880" y="914400"/>
            <a:ext cx="6217920" cy="6217920"/>
          </a:xfrm>
          <a:prstGeom prst="rect">
            <a:avLst/>
          </a:prstGeom>
        </p:spPr>
      </p:pic>
      <p:pic>
        <p:nvPicPr>
          <p:cNvPr id="3" name="Image 1" descr="/tmp/claude-0/-home-user-HumanRise/ef620e0f-4658-549d-b913-69843549f640/scratchpad/deck/img/logo-white-800.png">    </p:cNvPr>
          <p:cNvPicPr>
            <a:picLocks noChangeAspect="1"/>
          </p:cNvPicPr>
          <p:nvPr/>
        </p:nvPicPr>
        <p:blipFill>
          <a:blip r:embed="rId2"/>
          <a:stretch>
            <a:fillRect/>
          </a:stretch>
        </p:blipFill>
        <p:spPr>
          <a:xfrm>
            <a:off x="731520" y="594360"/>
            <a:ext cx="1463040" cy="929030"/>
          </a:xfrm>
          <a:prstGeom prst="rect">
            <a:avLst/>
          </a:prstGeom>
        </p:spPr>
      </p:pic>
      <p:sp>
        <p:nvSpPr>
          <p:cNvPr id="4" name="Text 0"/>
          <p:cNvSpPr txBox="1"/>
          <p:nvPr/>
        </p:nvSpPr>
        <p:spPr>
          <a:xfrm>
            <a:off x="731520" y="2468880"/>
            <a:ext cx="731520" cy="731520"/>
          </a:xfrm>
          <a:prstGeom prst="ellipse">
            <a:avLst/>
          </a:prstGeom>
          <a:solidFill>
            <a:srgbClr val="7869BC"/>
          </a:solidFill>
          <a:ln w="25400">
            <a:solidFill>
              <a:srgbClr val="FFFFF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08</a:t>
            </a:r>
            <a:endParaRPr lang="en-US" sz="1500" dirty="0"/>
          </a:p>
        </p:txBody>
      </p:sp>
      <p:sp>
        <p:nvSpPr>
          <p:cNvPr id="5" name="Text 1"/>
          <p:cNvSpPr txBox="1"/>
          <p:nvPr/>
        </p:nvSpPr>
        <p:spPr>
          <a:xfrm>
            <a:off x="731520" y="3383280"/>
            <a:ext cx="7863840" cy="96012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Voice &amp; tone</a:t>
            </a:r>
            <a:endParaRPr lang="en-US" sz="5400" dirty="0"/>
          </a:p>
        </p:txBody>
      </p:sp>
      <p:sp>
        <p:nvSpPr>
          <p:cNvPr id="6" name="Text 2"/>
          <p:cNvSpPr txBox="1"/>
          <p:nvPr/>
        </p:nvSpPr>
        <p:spPr>
          <a:xfrm>
            <a:off x="731520" y="4480560"/>
            <a:ext cx="6400800" cy="822960"/>
          </a:xfrm>
          <a:prstGeom prst="rect">
            <a:avLst/>
          </a:prstGeom>
          <a:noFill/>
          <a:ln/>
        </p:spPr>
        <p:txBody>
          <a:bodyPr wrap="square" lIns="0" tIns="0" rIns="0" bIns="0" rtlCol="0" anchor="t"/>
          <a:lstStyle/>
          <a:p>
            <a:pPr indent="0" marL="0">
              <a:buNone/>
            </a:pPr>
            <a:r>
              <a:rPr lang="en-US" sz="1800" dirty="0">
                <a:solidFill>
                  <a:srgbClr val="EEEBF8"/>
                </a:solidFill>
                <a:latin typeface="Arial" pitchFamily="34" charset="0"/>
                <a:ea typeface="Arial" pitchFamily="34" charset="-122"/>
                <a:cs typeface="Arial" pitchFamily="34" charset="-120"/>
              </a:rPr>
              <a:t>Professional, clean and modern. Always human, warm and supportive.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We sound like a capable friend.</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737360"/>
            <a:ext cx="2651760" cy="3246120"/>
          </a:xfrm>
          <a:prstGeom prst="roundRect">
            <a:avLst>
              <a:gd name="adj" fmla="val 4138"/>
            </a:avLst>
          </a:prstGeom>
          <a:solidFill>
            <a:srgbClr val="F7F6FB"/>
          </a:solidFill>
          <a:ln w="9525">
            <a:solidFill>
              <a:srgbClr val="E2E1EA"/>
            </a:solidFill>
            <a:prstDash val="solid"/>
          </a:ln>
        </p:spPr>
      </p:sp>
      <p:sp>
        <p:nvSpPr>
          <p:cNvPr id="7" name="Text 4"/>
          <p:cNvSpPr txBox="1"/>
          <p:nvPr/>
        </p:nvSpPr>
        <p:spPr>
          <a:xfrm>
            <a:off x="777240" y="196596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777240" y="2651760"/>
            <a:ext cx="224028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Talk to people</a:t>
            </a:r>
            <a:endParaRPr lang="en-US" sz="1600" dirty="0"/>
          </a:p>
        </p:txBody>
      </p:sp>
      <p:sp>
        <p:nvSpPr>
          <p:cNvPr id="9" name="Text 6"/>
          <p:cNvSpPr txBox="1"/>
          <p:nvPr/>
        </p:nvSpPr>
        <p:spPr>
          <a:xfrm>
            <a:off x="777240" y="3291840"/>
            <a:ext cx="2240280" cy="192024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Write to one person with “you” and “we”. Say people, team and candidate, not “human capital” or “headcount”.</a:t>
            </a:r>
            <a:endParaRPr lang="en-US" sz="1250" dirty="0"/>
          </a:p>
        </p:txBody>
      </p:sp>
      <p:sp>
        <p:nvSpPr>
          <p:cNvPr id="10" name="Shape 7"/>
          <p:cNvSpPr/>
          <p:nvPr/>
        </p:nvSpPr>
        <p:spPr>
          <a:xfrm>
            <a:off x="3364992" y="1737360"/>
            <a:ext cx="2651760" cy="3246120"/>
          </a:xfrm>
          <a:prstGeom prst="roundRect">
            <a:avLst>
              <a:gd name="adj" fmla="val 4138"/>
            </a:avLst>
          </a:prstGeom>
          <a:solidFill>
            <a:srgbClr val="F7F6FB"/>
          </a:solidFill>
          <a:ln w="9525">
            <a:solidFill>
              <a:srgbClr val="E2E1EA"/>
            </a:solidFill>
            <a:prstDash val="solid"/>
          </a:ln>
        </p:spPr>
      </p:sp>
      <p:sp>
        <p:nvSpPr>
          <p:cNvPr id="11" name="Text 8"/>
          <p:cNvSpPr txBox="1"/>
          <p:nvPr/>
        </p:nvSpPr>
        <p:spPr>
          <a:xfrm>
            <a:off x="3593592" y="196596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2</a:t>
            </a:r>
            <a:endParaRPr lang="en-US" sz="1300" dirty="0"/>
          </a:p>
        </p:txBody>
      </p:sp>
      <p:sp>
        <p:nvSpPr>
          <p:cNvPr id="12" name="Text 9"/>
          <p:cNvSpPr txBox="1"/>
          <p:nvPr/>
        </p:nvSpPr>
        <p:spPr>
          <a:xfrm>
            <a:off x="3593592" y="2651760"/>
            <a:ext cx="224028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Keep it clear</a:t>
            </a:r>
            <a:endParaRPr lang="en-US" sz="1600" dirty="0"/>
          </a:p>
        </p:txBody>
      </p:sp>
      <p:sp>
        <p:nvSpPr>
          <p:cNvPr id="13" name="Text 10"/>
          <p:cNvSpPr txBox="1"/>
          <p:nvPr/>
        </p:nvSpPr>
        <p:spPr>
          <a:xfrm>
            <a:off x="3593592" y="3291840"/>
            <a:ext cx="2240280" cy="192024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Short sentences, everyday words, one idea per paragraph. If a 15-year-old wouldn’t follow it, rewrite it.</a:t>
            </a:r>
            <a:endParaRPr lang="en-US" sz="1250" dirty="0"/>
          </a:p>
        </p:txBody>
      </p:sp>
      <p:sp>
        <p:nvSpPr>
          <p:cNvPr id="14" name="Shape 11"/>
          <p:cNvSpPr/>
          <p:nvPr/>
        </p:nvSpPr>
        <p:spPr>
          <a:xfrm>
            <a:off x="6181344" y="1737360"/>
            <a:ext cx="2651760" cy="3246120"/>
          </a:xfrm>
          <a:prstGeom prst="roundRect">
            <a:avLst>
              <a:gd name="adj" fmla="val 4138"/>
            </a:avLst>
          </a:prstGeom>
          <a:solidFill>
            <a:srgbClr val="F7F6FB"/>
          </a:solidFill>
          <a:ln w="9525">
            <a:solidFill>
              <a:srgbClr val="E2E1EA"/>
            </a:solidFill>
            <a:prstDash val="solid"/>
          </a:ln>
        </p:spPr>
      </p:sp>
      <p:sp>
        <p:nvSpPr>
          <p:cNvPr id="15" name="Text 12"/>
          <p:cNvSpPr txBox="1"/>
          <p:nvPr/>
        </p:nvSpPr>
        <p:spPr>
          <a:xfrm>
            <a:off x="6409944" y="196596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3</a:t>
            </a:r>
            <a:endParaRPr lang="en-US" sz="1300" dirty="0"/>
          </a:p>
        </p:txBody>
      </p:sp>
      <p:sp>
        <p:nvSpPr>
          <p:cNvPr id="16" name="Text 13"/>
          <p:cNvSpPr txBox="1"/>
          <p:nvPr/>
        </p:nvSpPr>
        <p:spPr>
          <a:xfrm>
            <a:off x="6409944" y="2651760"/>
            <a:ext cx="224028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Be warm and honest</a:t>
            </a:r>
            <a:endParaRPr lang="en-US" sz="1600" dirty="0"/>
          </a:p>
        </p:txBody>
      </p:sp>
      <p:sp>
        <p:nvSpPr>
          <p:cNvPr id="17" name="Text 14"/>
          <p:cNvSpPr txBox="1"/>
          <p:nvPr/>
        </p:nvSpPr>
        <p:spPr>
          <a:xfrm>
            <a:off x="6409944" y="3291840"/>
            <a:ext cx="2240280" cy="192024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Show empathy, especially with bad news. Never overpromise. Only publish facts and figures we can prove.</a:t>
            </a:r>
            <a:endParaRPr lang="en-US" sz="1250" dirty="0"/>
          </a:p>
        </p:txBody>
      </p:sp>
      <p:sp>
        <p:nvSpPr>
          <p:cNvPr id="18" name="Shape 15"/>
          <p:cNvSpPr/>
          <p:nvPr/>
        </p:nvSpPr>
        <p:spPr>
          <a:xfrm>
            <a:off x="8997696" y="1737360"/>
            <a:ext cx="2651760" cy="3246120"/>
          </a:xfrm>
          <a:prstGeom prst="roundRect">
            <a:avLst>
              <a:gd name="adj" fmla="val 4138"/>
            </a:avLst>
          </a:prstGeom>
          <a:solidFill>
            <a:srgbClr val="F7F6FB"/>
          </a:solidFill>
          <a:ln w="9525">
            <a:solidFill>
              <a:srgbClr val="E2E1EA"/>
            </a:solidFill>
            <a:prstDash val="solid"/>
          </a:ln>
        </p:spPr>
      </p:sp>
      <p:sp>
        <p:nvSpPr>
          <p:cNvPr id="19" name="Text 16"/>
          <p:cNvSpPr txBox="1"/>
          <p:nvPr/>
        </p:nvSpPr>
        <p:spPr>
          <a:xfrm>
            <a:off x="9226296" y="196596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4</a:t>
            </a:r>
            <a:endParaRPr lang="en-US" sz="1300" dirty="0"/>
          </a:p>
        </p:txBody>
      </p:sp>
      <p:sp>
        <p:nvSpPr>
          <p:cNvPr id="20" name="Text 17"/>
          <p:cNvSpPr txBox="1"/>
          <p:nvPr/>
        </p:nvSpPr>
        <p:spPr>
          <a:xfrm>
            <a:off x="9226296" y="2651760"/>
            <a:ext cx="2240280" cy="594360"/>
          </a:xfrm>
          <a:prstGeom prst="rect">
            <a:avLst/>
          </a:prstGeom>
          <a:noFill/>
          <a:ln/>
        </p:spPr>
        <p:txBody>
          <a:bodyPr wrap="square" lIns="0" tIns="0" rIns="0" bIns="0" rtlCol="0" anchor="t"/>
          <a:lstStyle/>
          <a:p>
            <a:pPr indent="0" marL="0">
              <a:buNone/>
            </a:pPr>
            <a:r>
              <a:rPr lang="en-US" sz="1600" b="1" dirty="0">
                <a:solidFill>
                  <a:srgbClr val="23222B"/>
                </a:solidFill>
                <a:latin typeface="Arial" pitchFamily="34" charset="0"/>
                <a:ea typeface="Arial" pitchFamily="34" charset="-122"/>
                <a:cs typeface="Arial" pitchFamily="34" charset="-120"/>
              </a:rPr>
              <a:t>Lead to action</a:t>
            </a:r>
            <a:endParaRPr lang="en-US" sz="1600" dirty="0"/>
          </a:p>
        </p:txBody>
      </p:sp>
      <p:sp>
        <p:nvSpPr>
          <p:cNvPr id="21" name="Text 18"/>
          <p:cNvSpPr txBox="1"/>
          <p:nvPr/>
        </p:nvSpPr>
        <p:spPr>
          <a:xfrm>
            <a:off x="9226296" y="3291840"/>
            <a:ext cx="2240280" cy="192024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Say what happens next and what to do: “Submit your CV”, “Book a seat”, “Request talent”.</a:t>
            </a:r>
            <a:endParaRPr lang="en-US" sz="1250" dirty="0"/>
          </a:p>
        </p:txBody>
      </p:sp>
      <p:sp>
        <p:nvSpPr>
          <p:cNvPr id="22" name="Text 19"/>
          <p:cNvSpPr txBox="1"/>
          <p:nvPr/>
        </p:nvSpPr>
        <p:spPr>
          <a:xfrm>
            <a:off x="548640" y="5212080"/>
            <a:ext cx="9144000" cy="320040"/>
          </a:xfrm>
          <a:prstGeom prst="rect">
            <a:avLst/>
          </a:prstGeom>
          <a:noFill/>
          <a:ln/>
        </p:spPr>
        <p:txBody>
          <a:bodyPr wrap="square" lIns="0" tIns="0" rIns="0" bIns="0" rtlCol="0" anchor="t"/>
          <a:lstStyle/>
          <a:p>
            <a:pPr indent="0" marL="0">
              <a:buNone/>
            </a:pPr>
            <a:r>
              <a:rPr lang="en-US" sz="1300" i="1" dirty="0">
                <a:solidFill>
                  <a:srgbClr val="6A6782"/>
                </a:solidFill>
                <a:latin typeface="Arial" pitchFamily="34" charset="0"/>
                <a:ea typeface="Arial" pitchFamily="34" charset="-122"/>
                <a:cs typeface="Arial" pitchFamily="34" charset="-120"/>
              </a:rPr>
              <a:t>No corporate jargon. Short, clear sentences that lead to an action.</a:t>
            </a:r>
            <a:endParaRPr lang="en-US" sz="13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Our voice stays the same. Our tone adapts.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34640"/>
                <a:gridCol w="2651760"/>
                <a:gridCol w="5608015"/>
              </a:tblGrid>
              <a:tr h="566928">
                <a:tc>
                  <a:txBody>
                    <a:bodyPr/>
                    <a:lstStyle/>
                    <a:p>
                      <a:pPr indent="0" marL="0">
                        <a:buNone/>
                      </a:pPr>
                      <a:r>
                        <a:rPr lang="en-US" sz="1200" b="1" dirty="0">
                          <a:solidFill>
                            <a:srgbClr val="23222B"/>
                          </a:solidFill>
                          <a:latin typeface="Arial" pitchFamily="34" charset="0"/>
                          <a:ea typeface="Arial" pitchFamily="34" charset="-122"/>
                          <a:cs typeface="Arial" pitchFamily="34" charset="-120"/>
                        </a:rPr>
                        <a:t>Situation</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Tone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Sounds like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566928">
                <a:tc>
                  <a:txBody>
                    <a:bodyPr/>
                    <a:lstStyle/>
                    <a:p>
                      <a:pPr indent="0" marL="0">
                        <a:buNone/>
                      </a:pPr>
                      <a:r>
                        <a:rPr lang="en-US" sz="1250" b="1" dirty="0">
                          <a:solidFill>
                            <a:srgbClr val="23222B"/>
                          </a:solidFill>
                          <a:latin typeface="Arial" pitchFamily="34" charset="0"/>
                          <a:ea typeface="Arial" pitchFamily="34" charset="-122"/>
                          <a:cs typeface="Arial" pitchFamily="34" charset="-120"/>
                        </a:rPr>
                        <a:t>Business owners &amp; managers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Confident, practical, efficient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“Tell us what you need. We’ll send a shortlist of people who fit.”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250" b="1" dirty="0">
                          <a:solidFill>
                            <a:srgbClr val="23222B"/>
                          </a:solidFill>
                          <a:latin typeface="Arial" pitchFamily="34" charset="0"/>
                          <a:ea typeface="Arial" pitchFamily="34" charset="-122"/>
                          <a:cs typeface="Arial" pitchFamily="34" charset="-120"/>
                        </a:rPr>
                        <a:t>Job seekers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Warm, encouraging, honest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“Send us your CV and a real consultant will read it.”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250" b="1" dirty="0">
                          <a:solidFill>
                            <a:srgbClr val="23222B"/>
                          </a:solidFill>
                          <a:latin typeface="Arial" pitchFamily="34" charset="0"/>
                          <a:ea typeface="Arial" pitchFamily="34" charset="-122"/>
                          <a:cs typeface="Arial" pitchFamily="34" charset="-120"/>
                        </a:rPr>
                        <a:t>Training delegates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Motivating, hands-on</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“Practical skills you can use at work on Monday.”</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250" b="1" dirty="0">
                          <a:solidFill>
                            <a:srgbClr val="23222B"/>
                          </a:solidFill>
                          <a:latin typeface="Arial" pitchFamily="34" charset="0"/>
                          <a:ea typeface="Arial" pitchFamily="34" charset="-122"/>
                          <a:cs typeface="Arial" pitchFamily="34" charset="-120"/>
                        </a:rPr>
                        <a:t>Discipline, investigations, CCMA</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Calm, neutral, precise</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“Here’s what happens next, and what your rights are at each step.”</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250" b="1" dirty="0">
                          <a:solidFill>
                            <a:srgbClr val="23222B"/>
                          </a:solidFill>
                          <a:latin typeface="Arial" pitchFamily="34" charset="0"/>
                          <a:ea typeface="Arial" pitchFamily="34" charset="-122"/>
                          <a:cs typeface="Arial" pitchFamily="34" charset="-120"/>
                        </a:rPr>
                        <a:t>Unsuccessful candidates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Kind, specific, forward-looking</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“This role went to another candidate. We’d like to keep your CV for roles that fit.”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250" b="1" dirty="0">
                          <a:solidFill>
                            <a:srgbClr val="23222B"/>
                          </a:solidFill>
                          <a:latin typeface="Arial" pitchFamily="34" charset="0"/>
                          <a:ea typeface="Arial" pitchFamily="34" charset="-122"/>
                          <a:cs typeface="Arial" pitchFamily="34" charset="-120"/>
                        </a:rPr>
                        <a:t>Social media</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Friendly, upbeat, professional</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“We’re hiring in Cape Town. Here’s what makes this role special.”</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Words we use.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2926080"/>
                <a:gridCol w="3840480"/>
              </a:tblGrid>
              <a:tr h="475488">
                <a:tc>
                  <a:txBody>
                    <a:bodyPr/>
                    <a:lstStyle/>
                    <a:p>
                      <a:pPr indent="0" marL="0">
                        <a:buNone/>
                      </a:pPr>
                      <a:r>
                        <a:rPr lang="en-US" sz="1200" b="1" dirty="0">
                          <a:solidFill>
                            <a:srgbClr val="23222B"/>
                          </a:solidFill>
                          <a:latin typeface="Arial" pitchFamily="34" charset="0"/>
                          <a:ea typeface="Arial" pitchFamily="34" charset="-122"/>
                          <a:cs typeface="Arial" pitchFamily="34" charset="-120"/>
                        </a:rPr>
                        <a:t>We say</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Instead of</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people, team, staff</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human capital, headcount, resources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candidate, job seeker</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applicant pool, talent stock</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match, fit, the right person</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leverage synergies, best-in-class talent solutions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help, support, look after</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facilitate, action, operationalise</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start, use, about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commence, utilise, in respect of</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a consultant reviews every CV</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applications are processed</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75488">
                <a:tc>
                  <a:txBody>
                    <a:bodyPr/>
                    <a:lstStyle/>
                    <a:p>
                      <a:pPr indent="0" marL="0">
                        <a:buNone/>
                      </a:pPr>
                      <a:r>
                        <a:rPr lang="en-US" sz="1250" dirty="0">
                          <a:solidFill>
                            <a:srgbClr val="23222B"/>
                          </a:solidFill>
                          <a:latin typeface="Arial" pitchFamily="34" charset="0"/>
                          <a:ea typeface="Arial" pitchFamily="34" charset="-122"/>
                          <a:cs typeface="Arial" pitchFamily="34" charset="-120"/>
                        </a:rPr>
                        <a:t>smart tools, AI-assisted</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our AI picks your candidate</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7" name="Shape 3"/>
          <p:cNvSpPr/>
          <p:nvPr/>
        </p:nvSpPr>
        <p:spPr>
          <a:xfrm>
            <a:off x="7680960" y="1691640"/>
            <a:ext cx="3959352" cy="3840480"/>
          </a:xfrm>
          <a:prstGeom prst="roundRect">
            <a:avLst>
              <a:gd name="adj" fmla="val 2857"/>
            </a:avLst>
          </a:prstGeom>
          <a:solidFill>
            <a:srgbClr val="F7F6FB"/>
          </a:solidFill>
          <a:ln w="9525">
            <a:solidFill>
              <a:srgbClr val="E2E1EA"/>
            </a:solidFill>
            <a:prstDash val="solid"/>
          </a:ln>
        </p:spPr>
      </p:sp>
      <p:sp>
        <p:nvSpPr>
          <p:cNvPr id="8" name="Text 4"/>
          <p:cNvSpPr txBox="1"/>
          <p:nvPr/>
        </p:nvSpPr>
        <p:spPr>
          <a:xfrm>
            <a:off x="7909560" y="1874520"/>
            <a:ext cx="347472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OUR NAME</a:t>
            </a:r>
            <a:endParaRPr lang="en-US" sz="950" dirty="0"/>
          </a:p>
        </p:txBody>
      </p:sp>
      <p:sp>
        <p:nvSpPr>
          <p:cNvPr id="9" name="Text 5"/>
          <p:cNvSpPr txBox="1"/>
          <p:nvPr/>
        </p:nvSpPr>
        <p:spPr>
          <a:xfrm>
            <a:off x="7909560" y="2148840"/>
            <a:ext cx="3474720" cy="502920"/>
          </a:xfrm>
          <a:prstGeom prst="rect">
            <a:avLst/>
          </a:prstGeom>
          <a:noFill/>
          <a:ln/>
        </p:spPr>
        <p:txBody>
          <a:bodyPr wrap="square" lIns="0" tIns="0" rIns="0" bIns="0" rtlCol="0" anchor="t"/>
          <a:lstStyle/>
          <a:p>
            <a:pPr indent="0" marL="0">
              <a:buNone/>
            </a:pPr>
            <a:r>
              <a:rPr lang="en-US" sz="2800" b="1" dirty="0">
                <a:solidFill>
                  <a:srgbClr val="7869BC"/>
                </a:solidFill>
                <a:latin typeface="Arial" pitchFamily="34" charset="0"/>
                <a:ea typeface="Arial" pitchFamily="34" charset="-122"/>
                <a:cs typeface="Arial" pitchFamily="34" charset="-120"/>
              </a:rPr>
              <a:t>HumanRise</a:t>
            </a:r>
            <a:endParaRPr lang="en-US" sz="2800" dirty="0"/>
          </a:p>
        </p:txBody>
      </p:sp>
      <p:sp>
        <p:nvSpPr>
          <p:cNvPr id="10" name="Text 6"/>
          <p:cNvSpPr txBox="1"/>
          <p:nvPr/>
        </p:nvSpPr>
        <p:spPr>
          <a:xfrm>
            <a:off x="7909560" y="2788920"/>
            <a:ext cx="3520440" cy="260604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474557"/>
                </a:solidFill>
                <a:latin typeface="Arial" pitchFamily="34" charset="0"/>
                <a:ea typeface="Arial" pitchFamily="34" charset="-122"/>
                <a:cs typeface="Arial" pitchFamily="34" charset="-120"/>
              </a:rPr>
              <a:t>One word, with a capital H and R.</a:t>
            </a:r>
            <a:endParaRPr lang="en-US" sz="1200" dirty="0"/>
          </a:p>
          <a:p>
            <a:pPr marL="177800" indent="-177800">
              <a:spcAft>
                <a:spcPts val="700"/>
              </a:spcAft>
              <a:buSzPct val="100000"/>
              <a:buChar char="•"/>
            </a:pPr>
            <a:r>
              <a:rPr lang="en-US" sz="1200" dirty="0">
                <a:solidFill>
                  <a:srgbClr val="474557"/>
                </a:solidFill>
                <a:latin typeface="Arial" pitchFamily="34" charset="0"/>
                <a:ea typeface="Arial" pitchFamily="34" charset="-122"/>
                <a:cs typeface="Arial" pitchFamily="34" charset="-120"/>
              </a:rPr>
              <a:t>Never “Human Rise”, “Humanrise” or “HUMANRISE” in running text.</a:t>
            </a:r>
            <a:endParaRPr lang="en-US" sz="1200" dirty="0"/>
          </a:p>
          <a:p>
            <a:pPr marL="177800" indent="-177800">
              <a:spcAft>
                <a:spcPts val="700"/>
              </a:spcAft>
              <a:buSzPct val="100000"/>
              <a:buChar char="•"/>
            </a:pPr>
            <a:r>
              <a:rPr lang="en-US" sz="1200" dirty="0">
                <a:solidFill>
                  <a:srgbClr val="474557"/>
                </a:solidFill>
                <a:latin typeface="Arial" pitchFamily="34" charset="0"/>
                <a:ea typeface="Arial" pitchFamily="34" charset="-122"/>
                <a:cs typeface="Arial" pitchFamily="34" charset="-120"/>
              </a:rPr>
              <a:t>Possessive: HumanRise’s.</a:t>
            </a:r>
            <a:endParaRPr lang="en-US" sz="1200" dirty="0"/>
          </a:p>
          <a:p>
            <a:pPr marL="177800" indent="-177800">
              <a:spcAft>
                <a:spcPts val="700"/>
              </a:spcAft>
              <a:buSzPct val="100000"/>
              <a:buChar char="•"/>
            </a:pPr>
            <a:r>
              <a:rPr lang="en-US" sz="1200" dirty="0">
                <a:solidFill>
                  <a:srgbClr val="474557"/>
                </a:solidFill>
                <a:latin typeface="Arial" pitchFamily="34" charset="0"/>
                <a:ea typeface="Arial" pitchFamily="34" charset="-122"/>
                <a:cs typeface="Arial" pitchFamily="34" charset="-120"/>
              </a:rPr>
              <a:t>Legal: HumanRise ZA (Pty) Ltd on contracts, invoices and letterheads.</a:t>
            </a:r>
            <a:endParaRPr lang="en-US" sz="12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Before and after.</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2743200" y="1572768"/>
            <a:ext cx="3657600" cy="228600"/>
          </a:xfrm>
          <a:prstGeom prst="rect">
            <a:avLst/>
          </a:prstGeom>
          <a:noFill/>
          <a:ln/>
        </p:spPr>
        <p:txBody>
          <a:bodyPr wrap="square" lIns="0" tIns="0" rIns="0" bIns="0" rtlCol="0" anchor="t"/>
          <a:lstStyle/>
          <a:p>
            <a:pPr indent="0" marL="0">
              <a:buNone/>
            </a:pPr>
            <a:r>
              <a:rPr lang="en-US" sz="950" b="1" spc="200" kern="0" dirty="0">
                <a:solidFill>
                  <a:srgbClr val="B3261E"/>
                </a:solidFill>
                <a:latin typeface="Arial" pitchFamily="34" charset="0"/>
                <a:ea typeface="Arial" pitchFamily="34" charset="-122"/>
                <a:cs typeface="Arial" pitchFamily="34" charset="-120"/>
              </a:rPr>
              <a:t>BEFORE</a:t>
            </a:r>
            <a:endParaRPr lang="en-US" sz="950" dirty="0"/>
          </a:p>
        </p:txBody>
      </p:sp>
      <p:sp>
        <p:nvSpPr>
          <p:cNvPr id="7" name="Text 4"/>
          <p:cNvSpPr txBox="1"/>
          <p:nvPr/>
        </p:nvSpPr>
        <p:spPr>
          <a:xfrm>
            <a:off x="6995160" y="1572768"/>
            <a:ext cx="3657600" cy="228600"/>
          </a:xfrm>
          <a:prstGeom prst="rect">
            <a:avLst/>
          </a:prstGeom>
          <a:noFill/>
          <a:ln/>
        </p:spPr>
        <p:txBody>
          <a:bodyPr wrap="square" lIns="0" tIns="0" rIns="0" bIns="0" rtlCol="0" anchor="t"/>
          <a:lstStyle/>
          <a:p>
            <a:pPr indent="0" marL="0">
              <a:buNone/>
            </a:pPr>
            <a:r>
              <a:rPr lang="en-US" sz="950" b="1" spc="200" kern="0" dirty="0">
                <a:solidFill>
                  <a:srgbClr val="2F7A57"/>
                </a:solidFill>
                <a:latin typeface="Arial" pitchFamily="34" charset="0"/>
                <a:ea typeface="Arial" pitchFamily="34" charset="-122"/>
                <a:cs typeface="Arial" pitchFamily="34" charset="-120"/>
              </a:rPr>
              <a:t>AFTER</a:t>
            </a:r>
            <a:endParaRPr lang="en-US" sz="950" dirty="0"/>
          </a:p>
        </p:txBody>
      </p:sp>
      <p:sp>
        <p:nvSpPr>
          <p:cNvPr id="8" name="Shape 5"/>
          <p:cNvSpPr/>
          <p:nvPr/>
        </p:nvSpPr>
        <p:spPr>
          <a:xfrm>
            <a:off x="548640" y="1819656"/>
            <a:ext cx="11094415" cy="0"/>
          </a:xfrm>
          <a:prstGeom prst="line">
            <a:avLst/>
          </a:prstGeom>
          <a:noFill/>
          <a:ln w="9525">
            <a:solidFill>
              <a:srgbClr val="E2E1EA"/>
            </a:solidFill>
            <a:prstDash val="solid"/>
          </a:ln>
        </p:spPr>
      </p:sp>
      <p:sp>
        <p:nvSpPr>
          <p:cNvPr id="9" name="Text 6"/>
          <p:cNvSpPr txBox="1"/>
          <p:nvPr/>
        </p:nvSpPr>
        <p:spPr>
          <a:xfrm>
            <a:off x="548640" y="1920240"/>
            <a:ext cx="2011680" cy="822960"/>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Closing line of a job advert</a:t>
            </a:r>
            <a:endParaRPr lang="en-US" sz="1200" dirty="0"/>
          </a:p>
        </p:txBody>
      </p:sp>
      <p:pic>
        <p:nvPicPr>
          <p:cNvPr id="10" name="Image 1" descr="preencoded.png">    </p:cNvPr>
          <p:cNvPicPr>
            <a:picLocks noChangeAspect="1"/>
          </p:cNvPicPr>
          <p:nvPr/>
        </p:nvPicPr>
        <p:blipFill>
          <a:blip r:embed="rId2"/>
          <a:stretch>
            <a:fillRect/>
          </a:stretch>
        </p:blipFill>
        <p:spPr>
          <a:xfrm>
            <a:off x="2743200" y="1938528"/>
            <a:ext cx="201168" cy="201168"/>
          </a:xfrm>
          <a:prstGeom prst="rect">
            <a:avLst/>
          </a:prstGeom>
        </p:spPr>
      </p:pic>
      <p:sp>
        <p:nvSpPr>
          <p:cNvPr id="11" name="Text 7"/>
          <p:cNvSpPr txBox="1"/>
          <p:nvPr/>
        </p:nvSpPr>
        <p:spPr>
          <a:xfrm>
            <a:off x="3017520" y="1920240"/>
            <a:ext cx="3657600" cy="868680"/>
          </a:xfrm>
          <a:prstGeom prst="rect">
            <a:avLst/>
          </a:prstGeom>
          <a:noFill/>
          <a:ln/>
        </p:spPr>
        <p:txBody>
          <a:bodyPr wrap="square" lIns="0" tIns="0" rIns="0" bIns="0" rtlCol="0" anchor="t"/>
          <a:lstStyle/>
          <a:p>
            <a:pPr indent="0" marL="0">
              <a:buNone/>
            </a:pPr>
            <a:r>
              <a:rPr lang="en-US" sz="1200" dirty="0">
                <a:solidFill>
                  <a:srgbClr val="6A6782"/>
                </a:solidFill>
                <a:latin typeface="Arial" pitchFamily="34" charset="0"/>
                <a:ea typeface="Arial" pitchFamily="34" charset="-122"/>
                <a:cs typeface="Arial" pitchFamily="34" charset="-120"/>
              </a:rPr>
              <a:t>Should you not receive a response within 14 days, please consider your application unsuccessful.</a:t>
            </a:r>
            <a:endParaRPr lang="en-US" sz="1200" dirty="0"/>
          </a:p>
        </p:txBody>
      </p:sp>
      <p:sp>
        <p:nvSpPr>
          <p:cNvPr id="12" name="Shape 8"/>
          <p:cNvSpPr/>
          <p:nvPr/>
        </p:nvSpPr>
        <p:spPr>
          <a:xfrm>
            <a:off x="6903720" y="1874520"/>
            <a:ext cx="4736592" cy="932688"/>
          </a:xfrm>
          <a:prstGeom prst="roundRect">
            <a:avLst>
              <a:gd name="adj" fmla="val 11765"/>
            </a:avLst>
          </a:prstGeom>
          <a:solidFill>
            <a:srgbClr val="F7F6FB"/>
          </a:solidFill>
          <a:ln w="9525">
            <a:solidFill>
              <a:srgbClr val="E2E1EA"/>
            </a:solidFill>
            <a:prstDash val="solid"/>
          </a:ln>
        </p:spPr>
      </p:sp>
      <p:pic>
        <p:nvPicPr>
          <p:cNvPr id="13" name="Image 2" descr="preencoded.png">    </p:cNvPr>
          <p:cNvPicPr>
            <a:picLocks noChangeAspect="1"/>
          </p:cNvPicPr>
          <p:nvPr/>
        </p:nvPicPr>
        <p:blipFill>
          <a:blip r:embed="rId3"/>
          <a:stretch>
            <a:fillRect/>
          </a:stretch>
        </p:blipFill>
        <p:spPr>
          <a:xfrm>
            <a:off x="7040880" y="1984248"/>
            <a:ext cx="201168" cy="201168"/>
          </a:xfrm>
          <a:prstGeom prst="rect">
            <a:avLst/>
          </a:prstGeom>
        </p:spPr>
      </p:pic>
      <p:sp>
        <p:nvSpPr>
          <p:cNvPr id="14" name="Text 9"/>
          <p:cNvSpPr txBox="1"/>
          <p:nvPr/>
        </p:nvSpPr>
        <p:spPr>
          <a:xfrm>
            <a:off x="7315200" y="1956816"/>
            <a:ext cx="4206240" cy="804672"/>
          </a:xfrm>
          <a:prstGeom prst="rect">
            <a:avLst/>
          </a:prstGeom>
          <a:noFill/>
          <a:ln/>
        </p:spPr>
        <p:txBody>
          <a:bodyPr wrap="square" lIns="0" tIns="0" rIns="0" bIns="0" rtlCol="0" anchor="t"/>
          <a:lstStyle/>
          <a:p>
            <a:pPr indent="0" marL="0">
              <a:buNone/>
            </a:pPr>
            <a:r>
              <a:rPr lang="en-US" sz="1200" dirty="0">
                <a:solidFill>
                  <a:srgbClr val="23222B"/>
                </a:solidFill>
                <a:latin typeface="Arial" pitchFamily="34" charset="0"/>
                <a:ea typeface="Arial" pitchFamily="34" charset="-122"/>
                <a:cs typeface="Arial" pitchFamily="34" charset="-120"/>
              </a:rPr>
              <a:t>A HumanRise consultant reads every application. If this role isn’t the one, we’ll keep your CV (with your permission) and look out for roles that fit.</a:t>
            </a:r>
            <a:endParaRPr lang="en-US" sz="1200" dirty="0"/>
          </a:p>
        </p:txBody>
      </p:sp>
      <p:sp>
        <p:nvSpPr>
          <p:cNvPr id="15" name="Shape 10"/>
          <p:cNvSpPr/>
          <p:nvPr/>
        </p:nvSpPr>
        <p:spPr>
          <a:xfrm>
            <a:off x="548640" y="2871216"/>
            <a:ext cx="11094415" cy="0"/>
          </a:xfrm>
          <a:prstGeom prst="line">
            <a:avLst/>
          </a:prstGeom>
          <a:noFill/>
          <a:ln w="9525">
            <a:solidFill>
              <a:srgbClr val="E2E1EA"/>
            </a:solidFill>
            <a:prstDash val="solid"/>
          </a:ln>
        </p:spPr>
      </p:sp>
      <p:sp>
        <p:nvSpPr>
          <p:cNvPr id="16" name="Text 11"/>
          <p:cNvSpPr txBox="1"/>
          <p:nvPr/>
        </p:nvSpPr>
        <p:spPr>
          <a:xfrm>
            <a:off x="548640" y="2971800"/>
            <a:ext cx="2011680" cy="822960"/>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A business proposal</a:t>
            </a:r>
            <a:endParaRPr lang="en-US" sz="1200" dirty="0"/>
          </a:p>
        </p:txBody>
      </p:sp>
      <p:pic>
        <p:nvPicPr>
          <p:cNvPr id="17" name="Image 3" descr="preencoded.png">    </p:cNvPr>
          <p:cNvPicPr>
            <a:picLocks noChangeAspect="1"/>
          </p:cNvPicPr>
          <p:nvPr/>
        </p:nvPicPr>
        <p:blipFill>
          <a:blip r:embed="rId4"/>
          <a:stretch>
            <a:fillRect/>
          </a:stretch>
        </p:blipFill>
        <p:spPr>
          <a:xfrm>
            <a:off x="2743200" y="2990088"/>
            <a:ext cx="201168" cy="201168"/>
          </a:xfrm>
          <a:prstGeom prst="rect">
            <a:avLst/>
          </a:prstGeom>
        </p:spPr>
      </p:pic>
      <p:sp>
        <p:nvSpPr>
          <p:cNvPr id="18" name="Text 12"/>
          <p:cNvSpPr txBox="1"/>
          <p:nvPr/>
        </p:nvSpPr>
        <p:spPr>
          <a:xfrm>
            <a:off x="3017520" y="2971800"/>
            <a:ext cx="3657600" cy="868680"/>
          </a:xfrm>
          <a:prstGeom prst="rect">
            <a:avLst/>
          </a:prstGeom>
          <a:noFill/>
          <a:ln/>
        </p:spPr>
        <p:txBody>
          <a:bodyPr wrap="square" lIns="0" tIns="0" rIns="0" bIns="0" rtlCol="0" anchor="t"/>
          <a:lstStyle/>
          <a:p>
            <a:pPr indent="0" marL="0">
              <a:buNone/>
            </a:pPr>
            <a:r>
              <a:rPr lang="en-US" sz="1200" dirty="0">
                <a:solidFill>
                  <a:srgbClr val="6A6782"/>
                </a:solidFill>
                <a:latin typeface="Arial" pitchFamily="34" charset="0"/>
                <a:ea typeface="Arial" pitchFamily="34" charset="-122"/>
                <a:cs typeface="Arial" pitchFamily="34" charset="-120"/>
              </a:rPr>
              <a:t>We leverage best-in-class talent acquisition solutions to optimise your human capital.</a:t>
            </a:r>
            <a:endParaRPr lang="en-US" sz="1200" dirty="0"/>
          </a:p>
        </p:txBody>
      </p:sp>
      <p:sp>
        <p:nvSpPr>
          <p:cNvPr id="19" name="Shape 13"/>
          <p:cNvSpPr/>
          <p:nvPr/>
        </p:nvSpPr>
        <p:spPr>
          <a:xfrm>
            <a:off x="6903720" y="2926080"/>
            <a:ext cx="4736592" cy="932688"/>
          </a:xfrm>
          <a:prstGeom prst="roundRect">
            <a:avLst>
              <a:gd name="adj" fmla="val 11765"/>
            </a:avLst>
          </a:prstGeom>
          <a:solidFill>
            <a:srgbClr val="F7F6FB"/>
          </a:solidFill>
          <a:ln w="9525">
            <a:solidFill>
              <a:srgbClr val="E2E1EA"/>
            </a:solidFill>
            <a:prstDash val="solid"/>
          </a:ln>
        </p:spPr>
      </p:sp>
      <p:pic>
        <p:nvPicPr>
          <p:cNvPr id="20" name="Image 4" descr="preencoded.png">    </p:cNvPr>
          <p:cNvPicPr>
            <a:picLocks noChangeAspect="1"/>
          </p:cNvPicPr>
          <p:nvPr/>
        </p:nvPicPr>
        <p:blipFill>
          <a:blip r:embed="rId5"/>
          <a:stretch>
            <a:fillRect/>
          </a:stretch>
        </p:blipFill>
        <p:spPr>
          <a:xfrm>
            <a:off x="7040880" y="3035808"/>
            <a:ext cx="201168" cy="201168"/>
          </a:xfrm>
          <a:prstGeom prst="rect">
            <a:avLst/>
          </a:prstGeom>
        </p:spPr>
      </p:pic>
      <p:sp>
        <p:nvSpPr>
          <p:cNvPr id="21" name="Text 14"/>
          <p:cNvSpPr txBox="1"/>
          <p:nvPr/>
        </p:nvSpPr>
        <p:spPr>
          <a:xfrm>
            <a:off x="7315200" y="3008376"/>
            <a:ext cx="4206240" cy="804672"/>
          </a:xfrm>
          <a:prstGeom prst="rect">
            <a:avLst/>
          </a:prstGeom>
          <a:noFill/>
          <a:ln/>
        </p:spPr>
        <p:txBody>
          <a:bodyPr wrap="square" lIns="0" tIns="0" rIns="0" bIns="0" rtlCol="0" anchor="t"/>
          <a:lstStyle/>
          <a:p>
            <a:pPr indent="0" marL="0">
              <a:buNone/>
            </a:pPr>
            <a:r>
              <a:rPr lang="en-US" sz="1200" dirty="0">
                <a:solidFill>
                  <a:srgbClr val="23222B"/>
                </a:solidFill>
                <a:latin typeface="Arial" pitchFamily="34" charset="0"/>
                <a:ea typeface="Arial" pitchFamily="34" charset="-122"/>
                <a:cs typeface="Arial" pitchFamily="34" charset="-120"/>
              </a:rPr>
              <a:t>We find people who fit your team, and we handle the HR detail so you can focus on growth.</a:t>
            </a:r>
            <a:endParaRPr lang="en-US" sz="1200" dirty="0"/>
          </a:p>
        </p:txBody>
      </p:sp>
      <p:sp>
        <p:nvSpPr>
          <p:cNvPr id="22" name="Shape 15"/>
          <p:cNvSpPr/>
          <p:nvPr/>
        </p:nvSpPr>
        <p:spPr>
          <a:xfrm>
            <a:off x="548640" y="3922776"/>
            <a:ext cx="11094415" cy="0"/>
          </a:xfrm>
          <a:prstGeom prst="line">
            <a:avLst/>
          </a:prstGeom>
          <a:noFill/>
          <a:ln w="9525">
            <a:solidFill>
              <a:srgbClr val="E2E1EA"/>
            </a:solidFill>
            <a:prstDash val="solid"/>
          </a:ln>
        </p:spPr>
      </p:sp>
      <p:sp>
        <p:nvSpPr>
          <p:cNvPr id="23" name="Text 16"/>
          <p:cNvSpPr txBox="1"/>
          <p:nvPr/>
        </p:nvSpPr>
        <p:spPr>
          <a:xfrm>
            <a:off x="548640" y="4023360"/>
            <a:ext cx="2011680" cy="822960"/>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A disciplinary matter</a:t>
            </a:r>
            <a:endParaRPr lang="en-US" sz="1200" dirty="0"/>
          </a:p>
        </p:txBody>
      </p:sp>
      <p:pic>
        <p:nvPicPr>
          <p:cNvPr id="24" name="Image 5" descr="preencoded.png">    </p:cNvPr>
          <p:cNvPicPr>
            <a:picLocks noChangeAspect="1"/>
          </p:cNvPicPr>
          <p:nvPr/>
        </p:nvPicPr>
        <p:blipFill>
          <a:blip r:embed="rId6"/>
          <a:stretch>
            <a:fillRect/>
          </a:stretch>
        </p:blipFill>
        <p:spPr>
          <a:xfrm>
            <a:off x="2743200" y="4041648"/>
            <a:ext cx="201168" cy="201168"/>
          </a:xfrm>
          <a:prstGeom prst="rect">
            <a:avLst/>
          </a:prstGeom>
        </p:spPr>
      </p:pic>
      <p:sp>
        <p:nvSpPr>
          <p:cNvPr id="25" name="Text 17"/>
          <p:cNvSpPr txBox="1"/>
          <p:nvPr/>
        </p:nvSpPr>
        <p:spPr>
          <a:xfrm>
            <a:off x="3017520" y="4023360"/>
            <a:ext cx="3657600" cy="868680"/>
          </a:xfrm>
          <a:prstGeom prst="rect">
            <a:avLst/>
          </a:prstGeom>
          <a:noFill/>
          <a:ln/>
        </p:spPr>
        <p:txBody>
          <a:bodyPr wrap="square" lIns="0" tIns="0" rIns="0" bIns="0" rtlCol="0" anchor="t"/>
          <a:lstStyle/>
          <a:p>
            <a:pPr indent="0" marL="0">
              <a:buNone/>
            </a:pPr>
            <a:r>
              <a:rPr lang="en-US" sz="1200" dirty="0">
                <a:solidFill>
                  <a:srgbClr val="6A6782"/>
                </a:solidFill>
                <a:latin typeface="Arial" pitchFamily="34" charset="0"/>
                <a:ea typeface="Arial" pitchFamily="34" charset="-122"/>
                <a:cs typeface="Arial" pitchFamily="34" charset="-120"/>
              </a:rPr>
              <a:t>Don’t worry, we’ll sort this out quickly!</a:t>
            </a:r>
            <a:endParaRPr lang="en-US" sz="1200" dirty="0"/>
          </a:p>
        </p:txBody>
      </p:sp>
      <p:sp>
        <p:nvSpPr>
          <p:cNvPr id="26" name="Shape 18"/>
          <p:cNvSpPr/>
          <p:nvPr/>
        </p:nvSpPr>
        <p:spPr>
          <a:xfrm>
            <a:off x="6903720" y="3977640"/>
            <a:ext cx="4736592" cy="932688"/>
          </a:xfrm>
          <a:prstGeom prst="roundRect">
            <a:avLst>
              <a:gd name="adj" fmla="val 11765"/>
            </a:avLst>
          </a:prstGeom>
          <a:solidFill>
            <a:srgbClr val="F7F6FB"/>
          </a:solidFill>
          <a:ln w="9525">
            <a:solidFill>
              <a:srgbClr val="E2E1EA"/>
            </a:solidFill>
            <a:prstDash val="solid"/>
          </a:ln>
        </p:spPr>
      </p:sp>
      <p:pic>
        <p:nvPicPr>
          <p:cNvPr id="27" name="Image 6" descr="preencoded.png">    </p:cNvPr>
          <p:cNvPicPr>
            <a:picLocks noChangeAspect="1"/>
          </p:cNvPicPr>
          <p:nvPr/>
        </p:nvPicPr>
        <p:blipFill>
          <a:blip r:embed="rId7"/>
          <a:stretch>
            <a:fillRect/>
          </a:stretch>
        </p:blipFill>
        <p:spPr>
          <a:xfrm>
            <a:off x="7040880" y="4087368"/>
            <a:ext cx="201168" cy="201168"/>
          </a:xfrm>
          <a:prstGeom prst="rect">
            <a:avLst/>
          </a:prstGeom>
        </p:spPr>
      </p:pic>
      <p:sp>
        <p:nvSpPr>
          <p:cNvPr id="28" name="Text 19"/>
          <p:cNvSpPr txBox="1"/>
          <p:nvPr/>
        </p:nvSpPr>
        <p:spPr>
          <a:xfrm>
            <a:off x="7315200" y="4059936"/>
            <a:ext cx="4206240" cy="804672"/>
          </a:xfrm>
          <a:prstGeom prst="rect">
            <a:avLst/>
          </a:prstGeom>
          <a:noFill/>
          <a:ln/>
        </p:spPr>
        <p:txBody>
          <a:bodyPr wrap="square" lIns="0" tIns="0" rIns="0" bIns="0" rtlCol="0" anchor="t"/>
          <a:lstStyle/>
          <a:p>
            <a:pPr indent="0" marL="0">
              <a:buNone/>
            </a:pPr>
            <a:r>
              <a:rPr lang="en-US" sz="1200" dirty="0">
                <a:solidFill>
                  <a:srgbClr val="23222B"/>
                </a:solidFill>
                <a:latin typeface="Arial" pitchFamily="34" charset="0"/>
                <a:ea typeface="Arial" pitchFamily="34" charset="-122"/>
                <a:cs typeface="Arial" pitchFamily="34" charset="-120"/>
              </a:rPr>
              <a:t>We’ll guide you through each step and make sure the process is fair, lawful and properly recorded.</a:t>
            </a:r>
            <a:endParaRPr lang="en-US" sz="1200" dirty="0"/>
          </a:p>
        </p:txBody>
      </p:sp>
      <p:sp>
        <p:nvSpPr>
          <p:cNvPr id="29" name="Shape 20"/>
          <p:cNvSpPr/>
          <p:nvPr/>
        </p:nvSpPr>
        <p:spPr>
          <a:xfrm>
            <a:off x="548640" y="4974336"/>
            <a:ext cx="11094415" cy="0"/>
          </a:xfrm>
          <a:prstGeom prst="line">
            <a:avLst/>
          </a:prstGeom>
          <a:noFill/>
          <a:ln w="9525">
            <a:solidFill>
              <a:srgbClr val="E2E1EA"/>
            </a:solidFill>
            <a:prstDash val="solid"/>
          </a:ln>
        </p:spPr>
      </p:sp>
      <p:sp>
        <p:nvSpPr>
          <p:cNvPr id="30" name="Text 21"/>
          <p:cNvSpPr txBox="1"/>
          <p:nvPr/>
        </p:nvSpPr>
        <p:spPr>
          <a:xfrm>
            <a:off x="548640" y="5074920"/>
            <a:ext cx="2011680" cy="822960"/>
          </a:xfrm>
          <a:prstGeom prst="rect">
            <a:avLst/>
          </a:prstGeom>
          <a:noFill/>
          <a:ln/>
        </p:spPr>
        <p:txBody>
          <a:bodyPr wrap="square" lIns="0" tIns="0" rIns="0" bIns="0" rtlCol="0" anchor="t"/>
          <a:lstStyle/>
          <a:p>
            <a:pPr indent="0" marL="0">
              <a:buNone/>
            </a:pPr>
            <a:r>
              <a:rPr lang="en-US" sz="1200" b="1" dirty="0">
                <a:solidFill>
                  <a:srgbClr val="23222B"/>
                </a:solidFill>
                <a:latin typeface="Arial" pitchFamily="34" charset="0"/>
                <a:ea typeface="Arial" pitchFamily="34" charset="-122"/>
                <a:cs typeface="Arial" pitchFamily="34" charset="-120"/>
              </a:rPr>
              <a:t>Talking about AI</a:t>
            </a:r>
            <a:endParaRPr lang="en-US" sz="1200" dirty="0"/>
          </a:p>
        </p:txBody>
      </p:sp>
      <p:pic>
        <p:nvPicPr>
          <p:cNvPr id="31" name="Image 7" descr="preencoded.png">    </p:cNvPr>
          <p:cNvPicPr>
            <a:picLocks noChangeAspect="1"/>
          </p:cNvPicPr>
          <p:nvPr/>
        </p:nvPicPr>
        <p:blipFill>
          <a:blip r:embed="rId8"/>
          <a:stretch>
            <a:fillRect/>
          </a:stretch>
        </p:blipFill>
        <p:spPr>
          <a:xfrm>
            <a:off x="2743200" y="5093208"/>
            <a:ext cx="201168" cy="201168"/>
          </a:xfrm>
          <a:prstGeom prst="rect">
            <a:avLst/>
          </a:prstGeom>
        </p:spPr>
      </p:pic>
      <p:sp>
        <p:nvSpPr>
          <p:cNvPr id="32" name="Text 22"/>
          <p:cNvSpPr txBox="1"/>
          <p:nvPr/>
        </p:nvSpPr>
        <p:spPr>
          <a:xfrm>
            <a:off x="3017520" y="5074920"/>
            <a:ext cx="3657600" cy="868680"/>
          </a:xfrm>
          <a:prstGeom prst="rect">
            <a:avLst/>
          </a:prstGeom>
          <a:noFill/>
          <a:ln/>
        </p:spPr>
        <p:txBody>
          <a:bodyPr wrap="square" lIns="0" tIns="0" rIns="0" bIns="0" rtlCol="0" anchor="t"/>
          <a:lstStyle/>
          <a:p>
            <a:pPr indent="0" marL="0">
              <a:buNone/>
            </a:pPr>
            <a:r>
              <a:rPr lang="en-US" sz="1200" dirty="0">
                <a:solidFill>
                  <a:srgbClr val="6A6782"/>
                </a:solidFill>
                <a:latin typeface="Arial" pitchFamily="34" charset="0"/>
                <a:ea typeface="Arial" pitchFamily="34" charset="-122"/>
                <a:cs typeface="Arial" pitchFamily="34" charset="-120"/>
              </a:rPr>
              <a:t>Our AI finds your perfect candidate in seconds.</a:t>
            </a:r>
            <a:endParaRPr lang="en-US" sz="1200" dirty="0"/>
          </a:p>
        </p:txBody>
      </p:sp>
      <p:sp>
        <p:nvSpPr>
          <p:cNvPr id="33" name="Shape 23"/>
          <p:cNvSpPr/>
          <p:nvPr/>
        </p:nvSpPr>
        <p:spPr>
          <a:xfrm>
            <a:off x="6903720" y="5029200"/>
            <a:ext cx="4736592" cy="932688"/>
          </a:xfrm>
          <a:prstGeom prst="roundRect">
            <a:avLst>
              <a:gd name="adj" fmla="val 11765"/>
            </a:avLst>
          </a:prstGeom>
          <a:solidFill>
            <a:srgbClr val="F7F6FB"/>
          </a:solidFill>
          <a:ln w="9525">
            <a:solidFill>
              <a:srgbClr val="E2E1EA"/>
            </a:solidFill>
            <a:prstDash val="solid"/>
          </a:ln>
        </p:spPr>
      </p:sp>
      <p:pic>
        <p:nvPicPr>
          <p:cNvPr id="34" name="Image 8" descr="preencoded.png">    </p:cNvPr>
          <p:cNvPicPr>
            <a:picLocks noChangeAspect="1"/>
          </p:cNvPicPr>
          <p:nvPr/>
        </p:nvPicPr>
        <p:blipFill>
          <a:blip r:embed="rId9"/>
          <a:stretch>
            <a:fillRect/>
          </a:stretch>
        </p:blipFill>
        <p:spPr>
          <a:xfrm>
            <a:off x="7040880" y="5138928"/>
            <a:ext cx="201168" cy="201168"/>
          </a:xfrm>
          <a:prstGeom prst="rect">
            <a:avLst/>
          </a:prstGeom>
        </p:spPr>
      </p:pic>
      <p:sp>
        <p:nvSpPr>
          <p:cNvPr id="35" name="Text 24"/>
          <p:cNvSpPr txBox="1"/>
          <p:nvPr/>
        </p:nvSpPr>
        <p:spPr>
          <a:xfrm>
            <a:off x="7315200" y="5111496"/>
            <a:ext cx="4206240" cy="804672"/>
          </a:xfrm>
          <a:prstGeom prst="rect">
            <a:avLst/>
          </a:prstGeom>
          <a:noFill/>
          <a:ln/>
        </p:spPr>
        <p:txBody>
          <a:bodyPr wrap="square" lIns="0" tIns="0" rIns="0" bIns="0" rtlCol="0" anchor="t"/>
          <a:lstStyle/>
          <a:p>
            <a:pPr indent="0" marL="0">
              <a:buNone/>
            </a:pPr>
            <a:r>
              <a:rPr lang="en-US" sz="1200" dirty="0">
                <a:solidFill>
                  <a:srgbClr val="23222B"/>
                </a:solidFill>
                <a:latin typeface="Arial" pitchFamily="34" charset="0"/>
                <a:ea typeface="Arial" pitchFamily="34" charset="-122"/>
                <a:cs typeface="Arial" pitchFamily="34" charset="-120"/>
              </a:rPr>
              <a:t>Smart tools speed up our search. A HumanRise consultant reviews every CV and every shortlist.</a:t>
            </a:r>
            <a:endParaRPr lang="en-US" sz="12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Taglines and lines.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691640"/>
            <a:ext cx="457200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TAGLINE AND SIGN-OFF</a:t>
            </a:r>
            <a:endParaRPr lang="en-US" sz="950" dirty="0"/>
          </a:p>
        </p:txBody>
      </p:sp>
      <p:sp>
        <p:nvSpPr>
          <p:cNvPr id="7" name="Text 4"/>
          <p:cNvSpPr txBox="1"/>
          <p:nvPr/>
        </p:nvSpPr>
        <p:spPr>
          <a:xfrm>
            <a:off x="548640" y="1965960"/>
            <a:ext cx="6858000" cy="777240"/>
          </a:xfrm>
          <a:prstGeom prst="rect">
            <a:avLst/>
          </a:prstGeom>
          <a:noFill/>
          <a:ln/>
        </p:spPr>
        <p:txBody>
          <a:bodyPr wrap="square" lIns="0" tIns="0" rIns="0" bIns="0" rtlCol="0" anchor="t"/>
          <a:lstStyle/>
          <a:p>
            <a:pPr indent="0" marL="0">
              <a:buNone/>
            </a:pPr>
            <a:r>
              <a:rPr lang="en-US" sz="4800" b="1" dirty="0">
                <a:solidFill>
                  <a:srgbClr val="7869BC"/>
                </a:solidFill>
                <a:latin typeface="Arial" pitchFamily="34" charset="0"/>
                <a:ea typeface="Arial" pitchFamily="34" charset="-122"/>
                <a:cs typeface="Arial" pitchFamily="34" charset="-120"/>
              </a:rPr>
              <a:t>Overcoming Limits.</a:t>
            </a:r>
            <a:endParaRPr lang="en-US" sz="4800" dirty="0"/>
          </a:p>
        </p:txBody>
      </p:sp>
      <p:sp>
        <p:nvSpPr>
          <p:cNvPr id="8" name="Text 5"/>
          <p:cNvSpPr txBox="1"/>
          <p:nvPr/>
        </p:nvSpPr>
        <p:spPr>
          <a:xfrm>
            <a:off x="548640" y="2788920"/>
            <a:ext cx="6035040" cy="685800"/>
          </a:xfrm>
          <a:prstGeom prst="rect">
            <a:avLst/>
          </a:prstGeom>
          <a:noFill/>
          <a:ln/>
        </p:spPr>
        <p:txBody>
          <a:bodyPr wrap="square" lIns="0" tIns="0" rIns="0" bIns="0" rtlCol="0" anchor="t"/>
          <a:lstStyle/>
          <a:p>
            <a:pPr indent="0" marL="0">
              <a:buNone/>
            </a:pPr>
            <a:r>
              <a:rPr lang="en-US" sz="1300" dirty="0">
                <a:solidFill>
                  <a:srgbClr val="474557"/>
                </a:solidFill>
                <a:latin typeface="Arial" pitchFamily="34" charset="0"/>
                <a:ea typeface="Arial" pitchFamily="34" charset="-122"/>
                <a:cs typeface="Arial" pitchFamily="34" charset="-120"/>
              </a:rPr>
              <a:t>With the logo, in footers and email signatures, and at the end of adverts and videos. Title case, with a full stop when it stands alone.</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94415" cy="914400"/>
        </p:xfrm>
        <a:graphic>
          <a:graphicData uri="http://schemas.openxmlformats.org/drawingml/2006/table">
            <a:tbl>
              <a:tblPr/>
              <a:tblGrid>
                <a:gridCol w="3931920"/>
                <a:gridCol w="2103120"/>
                <a:gridCol w="5059375"/>
              </a:tblGrid>
              <a:tr h="411480">
                <a:tc>
                  <a:txBody>
                    <a:bodyPr/>
                    <a:lstStyle/>
                    <a:p>
                      <a:pPr indent="0" marL="0">
                        <a:buNone/>
                      </a:pPr>
                      <a:r>
                        <a:rPr lang="en-US" sz="1200" b="1" dirty="0">
                          <a:solidFill>
                            <a:srgbClr val="23222B"/>
                          </a:solidFill>
                          <a:latin typeface="Arial" pitchFamily="34" charset="0"/>
                          <a:ea typeface="Arial" pitchFamily="34" charset="-122"/>
                          <a:cs typeface="Arial" pitchFamily="34" charset="-120"/>
                        </a:rPr>
                        <a:t>Supporting line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200" b="1" dirty="0">
                          <a:solidFill>
                            <a:srgbClr val="23222B"/>
                          </a:solidFill>
                          <a:latin typeface="Arial" pitchFamily="34" charset="0"/>
                          <a:ea typeface="Arial" pitchFamily="34" charset="-122"/>
                          <a:cs typeface="Arial" pitchFamily="34" charset="-120"/>
                        </a:rPr>
                        <a:t>Where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411480">
                <a:tc>
                  <a:txBody>
                    <a:bodyPr/>
                    <a:lstStyle/>
                    <a:p>
                      <a:pPr indent="0" marL="0">
                        <a:buNone/>
                      </a:pPr>
                      <a:r>
                        <a:rPr lang="en-US" sz="1250" dirty="0">
                          <a:solidFill>
                            <a:srgbClr val="23222B"/>
                          </a:solidFill>
                          <a:latin typeface="Arial" pitchFamily="34" charset="0"/>
                          <a:ea typeface="Arial" pitchFamily="34" charset="-122"/>
                          <a:cs typeface="Arial" pitchFamily="34" charset="-120"/>
                        </a:rPr>
                        <a:t>Raising People. Raising Potential.</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Headline line</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Campaigns, banners, website hero sections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11480">
                <a:tc>
                  <a:txBody>
                    <a:bodyPr/>
                    <a:lstStyle/>
                    <a:p>
                      <a:pPr indent="0" marL="0">
                        <a:buNone/>
                      </a:pPr>
                      <a:r>
                        <a:rPr lang="en-US" sz="1250" dirty="0">
                          <a:solidFill>
                            <a:srgbClr val="23222B"/>
                          </a:solidFill>
                          <a:latin typeface="Arial" pitchFamily="34" charset="0"/>
                          <a:ea typeface="Arial" pitchFamily="34" charset="-122"/>
                          <a:cs typeface="Arial" pitchFamily="34" charset="-120"/>
                        </a:rPr>
                        <a:t>Hire people who raise the room.</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For businesses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Business pages, proposals, LinkedIn</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11480">
                <a:tc>
                  <a:txBody>
                    <a:bodyPr/>
                    <a:lstStyle/>
                    <a:p>
                      <a:pPr indent="0" marL="0">
                        <a:buNone/>
                      </a:pPr>
                      <a:r>
                        <a:rPr lang="en-US" sz="1250" dirty="0">
                          <a:solidFill>
                            <a:srgbClr val="23222B"/>
                          </a:solidFill>
                          <a:latin typeface="Arial" pitchFamily="34" charset="0"/>
                          <a:ea typeface="Arial" pitchFamily="34" charset="-122"/>
                          <a:cs typeface="Arial" pitchFamily="34" charset="-120"/>
                        </a:rPr>
                        <a:t>Building your career, not just your CV.</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For individuals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Career-enhancement content with the Career Cat</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11480">
                <a:tc>
                  <a:txBody>
                    <a:bodyPr/>
                    <a:lstStyle/>
                    <a:p>
                      <a:pPr indent="0" marL="0">
                        <a:buNone/>
                      </a:pPr>
                      <a:r>
                        <a:rPr lang="en-US" sz="1250" dirty="0">
                          <a:solidFill>
                            <a:srgbClr val="23222B"/>
                          </a:solidFill>
                          <a:latin typeface="Arial" pitchFamily="34" charset="0"/>
                          <a:ea typeface="Arial" pitchFamily="34" charset="-122"/>
                          <a:cs typeface="Arial" pitchFamily="34" charset="-120"/>
                        </a:rPr>
                        <a:t>Let’s raise potential together.</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Call to action</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50" dirty="0">
                          <a:solidFill>
                            <a:srgbClr val="23222B"/>
                          </a:solidFill>
                          <a:latin typeface="Arial" pitchFamily="34" charset="0"/>
                          <a:ea typeface="Arial" pitchFamily="34" charset="-122"/>
                          <a:cs typeface="Arial" pitchFamily="34" charset="-120"/>
                        </a:rPr>
                        <a:t>Closing sections, invitations</a:t>
                      </a:r>
                      <a:endParaRPr lang="en-US" sz="12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10" name="Text 6"/>
          <p:cNvSpPr txBox="1"/>
          <p:nvPr/>
        </p:nvSpPr>
        <p:spPr>
          <a:xfrm>
            <a:off x="548640" y="5806440"/>
            <a:ext cx="5486400" cy="274320"/>
          </a:xfrm>
          <a:prstGeom prst="rect">
            <a:avLst/>
          </a:prstGeom>
          <a:noFill/>
          <a:ln/>
        </p:spPr>
        <p:txBody>
          <a:bodyPr wrap="square" lIns="0" tIns="0" rIns="0" bIns="0" rtlCol="0" anchor="t"/>
          <a:lstStyle/>
          <a:p>
            <a:pPr indent="0" marL="0">
              <a:buNone/>
            </a:pPr>
            <a:r>
              <a:rPr lang="en-US" sz="1150" i="1" dirty="0">
                <a:solidFill>
                  <a:srgbClr val="6A6782"/>
                </a:solidFill>
                <a:latin typeface="Arial" pitchFamily="34" charset="0"/>
                <a:ea typeface="Arial" pitchFamily="34" charset="-122"/>
                <a:cs typeface="Arial" pitchFamily="34" charset="-120"/>
              </a:rPr>
              <a:t>Use one line per piece. Don’t stack them.</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Boilerplate: about HumanRise.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45920"/>
            <a:ext cx="11094415" cy="777240"/>
          </a:xfrm>
          <a:prstGeom prst="roundRect">
            <a:avLst>
              <a:gd name="adj" fmla="val 14118"/>
            </a:avLst>
          </a:prstGeom>
          <a:solidFill>
            <a:srgbClr val="FFFFFF"/>
          </a:solidFill>
          <a:ln w="9525">
            <a:solidFill>
              <a:srgbClr val="E2E1EA"/>
            </a:solidFill>
            <a:prstDash val="solid"/>
          </a:ln>
        </p:spPr>
      </p:sp>
      <p:sp>
        <p:nvSpPr>
          <p:cNvPr id="7" name="Text 4"/>
          <p:cNvSpPr txBox="1"/>
          <p:nvPr/>
        </p:nvSpPr>
        <p:spPr>
          <a:xfrm>
            <a:off x="749808" y="1755648"/>
            <a:ext cx="4572000" cy="219456"/>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SHORT · 25 WORDS</a:t>
            </a:r>
            <a:endParaRPr lang="en-US" sz="900" dirty="0"/>
          </a:p>
        </p:txBody>
      </p:sp>
      <p:sp>
        <p:nvSpPr>
          <p:cNvPr id="8" name="Text 5"/>
          <p:cNvSpPr txBox="1"/>
          <p:nvPr/>
        </p:nvSpPr>
        <p:spPr>
          <a:xfrm>
            <a:off x="749808" y="1993392"/>
            <a:ext cx="10692079" cy="365760"/>
          </a:xfrm>
          <a:prstGeom prst="rect">
            <a:avLst/>
          </a:prstGeom>
          <a:noFill/>
          <a:ln/>
        </p:spPr>
        <p:txBody>
          <a:bodyPr wrap="square" lIns="0" tIns="0" rIns="0" bIns="0" rtlCol="0" anchor="t"/>
          <a:lstStyle/>
          <a:p>
            <a:pPr indent="0" marL="0">
              <a:buNone/>
            </a:pPr>
            <a:r>
              <a:rPr lang="en-US" sz="1150" dirty="0">
                <a:solidFill>
                  <a:srgbClr val="23222B"/>
                </a:solidFill>
                <a:latin typeface="Arial" pitchFamily="34" charset="0"/>
                <a:ea typeface="Arial" pitchFamily="34" charset="-122"/>
                <a:cs typeface="Arial" pitchFamily="34" charset="-120"/>
              </a:rPr>
              <a:t>HumanRise is a people-first HR and recruitment partner based in Cape Town, helping businesses and individuals across South Africa overcome their limits.</a:t>
            </a:r>
            <a:endParaRPr lang="en-US" sz="1150" dirty="0"/>
          </a:p>
        </p:txBody>
      </p:sp>
      <p:sp>
        <p:nvSpPr>
          <p:cNvPr id="9" name="Shape 6"/>
          <p:cNvSpPr/>
          <p:nvPr/>
        </p:nvSpPr>
        <p:spPr>
          <a:xfrm>
            <a:off x="548640" y="2560320"/>
            <a:ext cx="11094415" cy="1097280"/>
          </a:xfrm>
          <a:prstGeom prst="roundRect">
            <a:avLst>
              <a:gd name="adj" fmla="val 10000"/>
            </a:avLst>
          </a:prstGeom>
          <a:solidFill>
            <a:srgbClr val="FFFFFF"/>
          </a:solidFill>
          <a:ln w="9525">
            <a:solidFill>
              <a:srgbClr val="E2E1EA"/>
            </a:solidFill>
            <a:prstDash val="solid"/>
          </a:ln>
        </p:spPr>
      </p:sp>
      <p:sp>
        <p:nvSpPr>
          <p:cNvPr id="10" name="Text 7"/>
          <p:cNvSpPr txBox="1"/>
          <p:nvPr/>
        </p:nvSpPr>
        <p:spPr>
          <a:xfrm>
            <a:off x="749808" y="2670048"/>
            <a:ext cx="4572000" cy="219456"/>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MEDIUM · 55 WORDS</a:t>
            </a:r>
            <a:endParaRPr lang="en-US" sz="900" dirty="0"/>
          </a:p>
        </p:txBody>
      </p:sp>
      <p:sp>
        <p:nvSpPr>
          <p:cNvPr id="11" name="Text 8"/>
          <p:cNvSpPr txBox="1"/>
          <p:nvPr/>
        </p:nvSpPr>
        <p:spPr>
          <a:xfrm>
            <a:off x="749808" y="2907792"/>
            <a:ext cx="10692079" cy="685800"/>
          </a:xfrm>
          <a:prstGeom prst="rect">
            <a:avLst/>
          </a:prstGeom>
          <a:noFill/>
          <a:ln/>
        </p:spPr>
        <p:txBody>
          <a:bodyPr wrap="square" lIns="0" tIns="0" rIns="0" bIns="0" rtlCol="0" anchor="t"/>
          <a:lstStyle/>
          <a:p>
            <a:pPr indent="0" marL="0">
              <a:buNone/>
            </a:pPr>
            <a:r>
              <a:rPr lang="en-US" sz="1150" dirty="0">
                <a:solidFill>
                  <a:srgbClr val="23222B"/>
                </a:solidFill>
                <a:latin typeface="Arial" pitchFamily="34" charset="0"/>
                <a:ea typeface="Arial" pitchFamily="34" charset="-122"/>
                <a:cs typeface="Arial" pitchFamily="34" charset="-120"/>
              </a:rPr>
              <a:t>HumanRise is a people-first HR and recruitment partner. We connect great businesses with great people, matching on skills and on fit, and support teams with HR, POPIA-ready compliance and practical, accredited training. Based in Cape Town and working nationally, we are human-led and AI-assisted, and we help people and teams overcome their limits.</a:t>
            </a:r>
            <a:endParaRPr lang="en-US" sz="1150" dirty="0"/>
          </a:p>
        </p:txBody>
      </p:sp>
      <p:sp>
        <p:nvSpPr>
          <p:cNvPr id="12" name="Shape 9"/>
          <p:cNvSpPr/>
          <p:nvPr/>
        </p:nvSpPr>
        <p:spPr>
          <a:xfrm>
            <a:off x="548640" y="3794760"/>
            <a:ext cx="11094415" cy="1737360"/>
          </a:xfrm>
          <a:prstGeom prst="roundRect">
            <a:avLst>
              <a:gd name="adj" fmla="val 6316"/>
            </a:avLst>
          </a:prstGeom>
          <a:solidFill>
            <a:srgbClr val="FFFFFF"/>
          </a:solidFill>
          <a:ln w="9525">
            <a:solidFill>
              <a:srgbClr val="E2E1EA"/>
            </a:solidFill>
            <a:prstDash val="solid"/>
          </a:ln>
        </p:spPr>
      </p:sp>
      <p:sp>
        <p:nvSpPr>
          <p:cNvPr id="13" name="Text 10"/>
          <p:cNvSpPr txBox="1"/>
          <p:nvPr/>
        </p:nvSpPr>
        <p:spPr>
          <a:xfrm>
            <a:off x="749808" y="3904488"/>
            <a:ext cx="4572000" cy="219456"/>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LONG · 110 WORDS</a:t>
            </a:r>
            <a:endParaRPr lang="en-US" sz="900" dirty="0"/>
          </a:p>
        </p:txBody>
      </p:sp>
      <p:sp>
        <p:nvSpPr>
          <p:cNvPr id="14" name="Text 11"/>
          <p:cNvSpPr txBox="1"/>
          <p:nvPr/>
        </p:nvSpPr>
        <p:spPr>
          <a:xfrm>
            <a:off x="749808" y="4142232"/>
            <a:ext cx="10692079" cy="1325880"/>
          </a:xfrm>
          <a:prstGeom prst="rect">
            <a:avLst/>
          </a:prstGeom>
          <a:noFill/>
          <a:ln/>
        </p:spPr>
        <p:txBody>
          <a:bodyPr wrap="square" lIns="0" tIns="0" rIns="0" bIns="0" rtlCol="0" anchor="t"/>
          <a:lstStyle/>
          <a:p>
            <a:pPr indent="0" marL="0">
              <a:buNone/>
            </a:pPr>
            <a:r>
              <a:rPr lang="en-US" sz="1150" dirty="0">
                <a:solidFill>
                  <a:srgbClr val="23222B"/>
                </a:solidFill>
                <a:latin typeface="Arial" pitchFamily="34" charset="0"/>
                <a:ea typeface="Arial" pitchFamily="34" charset="-122"/>
                <a:cs typeface="Arial" pitchFamily="34" charset="-120"/>
              </a:rPr>
              <a:t>HumanRise ZA (Pty) Ltd is a people-first HR and recruitment partner based in Cape Town, serving clients across South Africa. We place permanent, temporary and contract candidates, matching on skills and culture fit, with psychometric testing where it helps. For businesses, we provide outsourced HR support, from contracts and policies to payroll and disciplinary guidance, with POPIA-compliant practice built in. Our training courses, some QCTO-accredited, build capable and motivated teams and prepare first-time job seekers for work. We are human-led and AI-assisted: modern tools help us work faster, and a real consultant makes every decision. Our promise is simple: Overcoming Limits.</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08</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VOICE &amp; TONE</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Writing style.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86000"/>
                <a:gridCol w="8808415"/>
              </a:tblGrid>
              <a:tr h="512064">
                <a:tc>
                  <a:txBody>
                    <a:bodyPr/>
                    <a:lstStyle/>
                    <a:p>
                      <a:pPr indent="0" marL="0">
                        <a:buNone/>
                      </a:pPr>
                      <a:r>
                        <a:rPr lang="en-US" sz="1300" b="1" dirty="0">
                          <a:solidFill>
                            <a:srgbClr val="23222B"/>
                          </a:solidFill>
                          <a:latin typeface="Arial" pitchFamily="34" charset="0"/>
                          <a:ea typeface="Arial" pitchFamily="34" charset="-122"/>
                          <a:cs typeface="Arial" pitchFamily="34" charset="-120"/>
                        </a:rPr>
                        <a:t>Spelling</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South African English: colour, organisation, programme, centre, licence (noun), enrol, practise (verb).</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57200">
                <a:tc>
                  <a:txBody>
                    <a:bodyPr/>
                    <a:lstStyle/>
                    <a:p>
                      <a:pPr indent="0" marL="0">
                        <a:buNone/>
                      </a:pPr>
                      <a:r>
                        <a:rPr lang="en-US" sz="1300" b="1" dirty="0">
                          <a:solidFill>
                            <a:srgbClr val="23222B"/>
                          </a:solidFill>
                          <a:latin typeface="Arial" pitchFamily="34" charset="0"/>
                          <a:ea typeface="Arial" pitchFamily="34" charset="-122"/>
                          <a:cs typeface="Arial" pitchFamily="34" charset="-120"/>
                        </a:rPr>
                        <a:t>Dates and times</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1 October 2026 · Mon–Fri, 08:00–17:00</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300" b="1" dirty="0">
                          <a:solidFill>
                            <a:srgbClr val="23222B"/>
                          </a:solidFill>
                          <a:latin typeface="Arial" pitchFamily="34" charset="0"/>
                          <a:ea typeface="Arial" pitchFamily="34" charset="-122"/>
                          <a:cs typeface="Arial" pitchFamily="34" charset="-120"/>
                        </a:rPr>
                        <a:t>Numbers and money</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One to nine in words, 10 and up in numerals. R2 000 and R15 500 (space as thousands separator, no space after R).</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57200">
                <a:tc>
                  <a:txBody>
                    <a:bodyPr/>
                    <a:lstStyle/>
                    <a:p>
                      <a:pPr indent="0" marL="0">
                        <a:buNone/>
                      </a:pPr>
                      <a:r>
                        <a:rPr lang="en-US" sz="1300" b="1" dirty="0">
                          <a:solidFill>
                            <a:srgbClr val="23222B"/>
                          </a:solidFill>
                          <a:latin typeface="Arial" pitchFamily="34" charset="0"/>
                          <a:ea typeface="Arial" pitchFamily="34" charset="-122"/>
                          <a:cs typeface="Arial" pitchFamily="34" charset="-120"/>
                        </a:rPr>
                        <a:t>Phone</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021 001 8094 locally · +27 21 001 8094 internationally</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713232">
                <a:tc>
                  <a:txBody>
                    <a:bodyPr/>
                    <a:lstStyle/>
                    <a:p>
                      <a:pPr indent="0" marL="0">
                        <a:buNone/>
                      </a:pPr>
                      <a:r>
                        <a:rPr lang="en-US" sz="1300" b="1" dirty="0">
                          <a:solidFill>
                            <a:srgbClr val="23222B"/>
                          </a:solidFill>
                          <a:latin typeface="Arial" pitchFamily="34" charset="0"/>
                          <a:ea typeface="Arial" pitchFamily="34" charset="-122"/>
                          <a:cs typeface="Arial" pitchFamily="34" charset="-120"/>
                        </a:rPr>
                        <a:t>Acronyms</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Spell out first: Protection of Personal Information Act (POPIA), Quality Council for Trades and Occupations (QCTO), Commission for Conciliation, Mediation and Arbitration (CCMA).</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57200">
                <a:tc>
                  <a:txBody>
                    <a:bodyPr/>
                    <a:lstStyle/>
                    <a:p>
                      <a:pPr indent="0" marL="0">
                        <a:buNone/>
                      </a:pPr>
                      <a:r>
                        <a:rPr lang="en-US" sz="1300" b="1" dirty="0">
                          <a:solidFill>
                            <a:srgbClr val="23222B"/>
                          </a:solidFill>
                          <a:latin typeface="Arial" pitchFamily="34" charset="0"/>
                          <a:ea typeface="Arial" pitchFamily="34" charset="-122"/>
                          <a:cs typeface="Arial" pitchFamily="34" charset="-120"/>
                        </a:rPr>
                        <a:t>Ampersands</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“&amp;” in navigation and headings (HR &amp; Compliance). “and” in sentences.</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566928">
                <a:tc>
                  <a:txBody>
                    <a:bodyPr/>
                    <a:lstStyle/>
                    <a:p>
                      <a:pPr indent="0" marL="0">
                        <a:buNone/>
                      </a:pPr>
                      <a:r>
                        <a:rPr lang="en-US" sz="1300" b="1" dirty="0">
                          <a:solidFill>
                            <a:srgbClr val="23222B"/>
                          </a:solidFill>
                          <a:latin typeface="Arial" pitchFamily="34" charset="0"/>
                          <a:ea typeface="Arial" pitchFamily="34" charset="-122"/>
                          <a:cs typeface="Arial" pitchFamily="34" charset="-120"/>
                        </a:rPr>
                        <a:t>Inclusive language</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Gender-neutral titles (chairperson, salesperson), “they” for an unknown person, no age-coded phrases like “young and dynamic”.</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457200">
                <a:tc>
                  <a:txBody>
                    <a:bodyPr/>
                    <a:lstStyle/>
                    <a:p>
                      <a:pPr indent="0" marL="0">
                        <a:buNone/>
                      </a:pPr>
                      <a:r>
                        <a:rPr lang="en-US" sz="1300" b="1" dirty="0">
                          <a:solidFill>
                            <a:srgbClr val="23222B"/>
                          </a:solidFill>
                          <a:latin typeface="Arial" pitchFamily="34" charset="0"/>
                          <a:ea typeface="Arial" pitchFamily="34" charset="-122"/>
                          <a:cs typeface="Arial" pitchFamily="34" charset="-120"/>
                        </a:rPr>
                        <a:t>Exclamation marks</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300" dirty="0">
                          <a:solidFill>
                            <a:srgbClr val="23222B"/>
                          </a:solidFill>
                          <a:latin typeface="Arial" pitchFamily="34" charset="0"/>
                          <a:ea typeface="Arial" pitchFamily="34" charset="-122"/>
                          <a:cs typeface="Arial" pitchFamily="34" charset="-120"/>
                        </a:rPr>
                        <a:t>Rarely, at most one per post. Never in sensitive HR matters.</a:t>
                      </a:r>
                      <a:endParaRPr lang="en-US" sz="13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456285"/>
        </a:solidFill>
      </p:bgPr>
    </p:bg>
    <p:spTree>
      <p:nvGrpSpPr>
        <p:cNvPr id="1" name=""/>
        <p:cNvGrpSpPr/>
        <p:nvPr/>
      </p:nvGrpSpPr>
      <p:grpSpPr>
        <a:xfrm>
          <a:off x="0" y="0"/>
          <a:ext cx="0" cy="0"/>
          <a:chOff x="0" y="0"/>
          <a:chExt cx="0" cy="0"/>
        </a:xfrm>
      </p:grpSpPr>
      <p:pic>
        <p:nvPicPr>
          <p:cNvPr id="2" name="Image 0" descr="/home/user/HumanRise/brand/assets/star/star-white.png">    </p:cNvPr>
          <p:cNvPicPr>
            <a:picLocks noChangeAspect="1"/>
          </p:cNvPicPr>
          <p:nvPr/>
        </p:nvPicPr>
        <p:blipFill>
          <a:blip r:embed="rId1"/>
          <a:stretch>
            <a:fillRect/>
          </a:stretch>
        </p:blipFill>
        <p:spPr>
          <a:xfrm>
            <a:off x="7040880" y="914400"/>
            <a:ext cx="6217920" cy="6217920"/>
          </a:xfrm>
          <a:prstGeom prst="rect">
            <a:avLst/>
          </a:prstGeom>
        </p:spPr>
      </p:pic>
      <p:pic>
        <p:nvPicPr>
          <p:cNvPr id="3" name="Image 1" descr="/tmp/claude-0/-home-user-HumanRise/ef620e0f-4658-549d-b913-69843549f640/scratchpad/deck/img/logo-white-800.png">    </p:cNvPr>
          <p:cNvPicPr>
            <a:picLocks noChangeAspect="1"/>
          </p:cNvPicPr>
          <p:nvPr/>
        </p:nvPicPr>
        <p:blipFill>
          <a:blip r:embed="rId2"/>
          <a:stretch>
            <a:fillRect/>
          </a:stretch>
        </p:blipFill>
        <p:spPr>
          <a:xfrm>
            <a:off x="731520" y="594360"/>
            <a:ext cx="1463040" cy="929030"/>
          </a:xfrm>
          <a:prstGeom prst="rect">
            <a:avLst/>
          </a:prstGeom>
        </p:spPr>
      </p:pic>
      <p:sp>
        <p:nvSpPr>
          <p:cNvPr id="4" name="Text 0"/>
          <p:cNvSpPr txBox="1"/>
          <p:nvPr/>
        </p:nvSpPr>
        <p:spPr>
          <a:xfrm>
            <a:off x="731520" y="2468880"/>
            <a:ext cx="731520" cy="731520"/>
          </a:xfrm>
          <a:prstGeom prst="ellipse">
            <a:avLst/>
          </a:prstGeom>
          <a:solidFill>
            <a:srgbClr val="456285"/>
          </a:solidFill>
          <a:ln w="25400">
            <a:solidFill>
              <a:srgbClr val="FFFFF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09</a:t>
            </a:r>
            <a:endParaRPr lang="en-US" sz="1500" dirty="0"/>
          </a:p>
        </p:txBody>
      </p:sp>
      <p:sp>
        <p:nvSpPr>
          <p:cNvPr id="5" name="Text 1"/>
          <p:cNvSpPr txBox="1"/>
          <p:nvPr/>
        </p:nvSpPr>
        <p:spPr>
          <a:xfrm>
            <a:off x="731520" y="3383280"/>
            <a:ext cx="7863840" cy="96012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Applications</a:t>
            </a:r>
            <a:endParaRPr lang="en-US" sz="5400" dirty="0"/>
          </a:p>
        </p:txBody>
      </p:sp>
      <p:sp>
        <p:nvSpPr>
          <p:cNvPr id="6" name="Text 2"/>
          <p:cNvSpPr txBox="1"/>
          <p:nvPr/>
        </p:nvSpPr>
        <p:spPr>
          <a:xfrm>
            <a:off x="731520" y="4480560"/>
            <a:ext cx="6400800" cy="822960"/>
          </a:xfrm>
          <a:prstGeom prst="rect">
            <a:avLst/>
          </a:prstGeom>
          <a:noFill/>
          <a:ln/>
        </p:spPr>
        <p:txBody>
          <a:bodyPr wrap="square" lIns="0" tIns="0" rIns="0" bIns="0" rtlCol="0" anchor="t"/>
          <a:lstStyle/>
          <a:p>
            <a:pPr indent="0" marL="0">
              <a:buNone/>
            </a:pPr>
            <a:r>
              <a:rPr lang="en-US" sz="1800" dirty="0">
                <a:solidFill>
                  <a:srgbClr val="DAE0EA"/>
                </a:solidFill>
                <a:latin typeface="Arial" pitchFamily="34" charset="0"/>
                <a:ea typeface="Arial" pitchFamily="34" charset="-122"/>
                <a:cs typeface="Arial" pitchFamily="34" charset="-120"/>
              </a:rPr>
              <a:t>Ready-made layouts for the things we produce most.</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Website.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web.png">    </p:cNvPr>
          <p:cNvPicPr>
            <a:picLocks noChangeAspect="1"/>
          </p:cNvPicPr>
          <p:nvPr/>
        </p:nvPicPr>
        <p:blipFill>
          <a:blip r:embed="rId2"/>
          <a:stretch>
            <a:fillRect/>
          </a:stretch>
        </p:blipFill>
        <p:spPr>
          <a:xfrm>
            <a:off x="548640" y="1645920"/>
            <a:ext cx="6903720" cy="4322369"/>
          </a:xfrm>
          <a:prstGeom prst="rect">
            <a:avLst/>
          </a:prstGeom>
        </p:spPr>
      </p:pic>
      <p:sp>
        <p:nvSpPr>
          <p:cNvPr id="7" name="Text 3"/>
          <p:cNvSpPr txBox="1"/>
          <p:nvPr/>
        </p:nvSpPr>
        <p:spPr>
          <a:xfrm>
            <a:off x="7772400" y="1691640"/>
            <a:ext cx="3867912" cy="420624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474557"/>
                </a:solidFill>
                <a:latin typeface="Arial" pitchFamily="34" charset="0"/>
                <a:ea typeface="Arial" pitchFamily="34" charset="-122"/>
                <a:cs typeface="Arial" pitchFamily="34" charset="-120"/>
              </a:rPr>
              <a:t>White pages with Mist and Sky sections, and a sticky header with the logo top left.</a:t>
            </a:r>
            <a:endParaRPr lang="en-US" sz="1300" dirty="0"/>
          </a:p>
          <a:p>
            <a:pPr marL="177800" indent="-177800">
              <a:spcAft>
                <a:spcPts val="1000"/>
              </a:spcAft>
              <a:buSzPct val="100000"/>
              <a:buChar char="•"/>
            </a:pPr>
            <a:r>
              <a:rPr lang="en-US" sz="1300" dirty="0">
                <a:solidFill>
                  <a:srgbClr val="474557"/>
                </a:solidFill>
                <a:latin typeface="Arial" pitchFamily="34" charset="0"/>
                <a:ea typeface="Arial" pitchFamily="34" charset="-122"/>
                <a:cs typeface="Arial" pitchFamily="34" charset="-120"/>
              </a:rPr>
              <a:t>One primary button per view.</a:t>
            </a:r>
            <a:endParaRPr lang="en-US" sz="1300" dirty="0"/>
          </a:p>
          <a:p>
            <a:pPr marL="177800" indent="-177800">
              <a:spcAft>
                <a:spcPts val="1000"/>
              </a:spcAft>
              <a:buSzPct val="100000"/>
              <a:buChar char="•"/>
            </a:pPr>
            <a:r>
              <a:rPr lang="en-US" sz="1300" dirty="0">
                <a:solidFill>
                  <a:srgbClr val="474557"/>
                </a:solidFill>
                <a:latin typeface="Arial" pitchFamily="34" charset="0"/>
                <a:ea typeface="Arial" pitchFamily="34" charset="-122"/>
                <a:cs typeface="Arial" pitchFamily="34" charset="-120"/>
              </a:rPr>
              <a:t>On mobile: sticky bottom navigation and a floating “Book a consultation” button.</a:t>
            </a:r>
            <a:endParaRPr lang="en-US" sz="1300" dirty="0"/>
          </a:p>
          <a:p>
            <a:pPr marL="177800" indent="-177800">
              <a:spcAft>
                <a:spcPts val="1000"/>
              </a:spcAft>
              <a:buSzPct val="100000"/>
              <a:buChar char="•"/>
            </a:pPr>
            <a:r>
              <a:rPr lang="en-US" sz="1300" dirty="0">
                <a:solidFill>
                  <a:srgbClr val="474557"/>
                </a:solidFill>
                <a:latin typeface="Arial" pitchFamily="34" charset="0"/>
                <a:ea typeface="Arial" pitchFamily="34" charset="-122"/>
                <a:cs typeface="Arial" pitchFamily="34" charset="-120"/>
              </a:rPr>
              <a:t>Developers: link brand/tokens.css for every colour, size, radius and shadow.</a:t>
            </a:r>
            <a:endParaRPr lang="en-US" sz="1300" dirty="0"/>
          </a:p>
          <a:p>
            <a:pPr marL="177800" indent="-177800">
              <a:spcAft>
                <a:spcPts val="1000"/>
              </a:spcAft>
              <a:buSzPct val="100000"/>
              <a:buChar char="•"/>
            </a:pPr>
            <a:r>
              <a:rPr lang="en-US" sz="1300" dirty="0">
                <a:solidFill>
                  <a:srgbClr val="474557"/>
                </a:solidFill>
                <a:latin typeface="Arial" pitchFamily="34" charset="0"/>
                <a:ea typeface="Arial" pitchFamily="34" charset="-122"/>
                <a:cs typeface="Arial" pitchFamily="34" charset="-120"/>
              </a:rPr>
              <a:t>Show trust signals: POPIA, the registered name, and QCTO on accredited courses.</a:t>
            </a:r>
            <a:endParaRPr lang="en-US" sz="13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Social media posts.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hire.png">    </p:cNvPr>
          <p:cNvPicPr>
            <a:picLocks noChangeAspect="1"/>
          </p:cNvPicPr>
          <p:nvPr/>
        </p:nvPicPr>
        <p:blipFill>
          <a:blip r:embed="rId2"/>
          <a:stretch>
            <a:fillRect/>
          </a:stretch>
        </p:blipFill>
        <p:spPr>
          <a:xfrm>
            <a:off x="548640" y="1691640"/>
            <a:ext cx="2743200" cy="2753258"/>
          </a:xfrm>
          <a:prstGeom prst="rect">
            <a:avLst/>
          </a:prstGeom>
        </p:spPr>
      </p:pic>
      <p:sp>
        <p:nvSpPr>
          <p:cNvPr id="7" name="Text 3"/>
          <p:cNvSpPr txBox="1"/>
          <p:nvPr/>
        </p:nvSpPr>
        <p:spPr>
          <a:xfrm>
            <a:off x="548640" y="4526280"/>
            <a:ext cx="2743200" cy="5029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Vacancy: white, faint star, purple action. The role shown is an example.</a:t>
            </a:r>
            <a:endParaRPr lang="en-US" sz="1050" dirty="0"/>
          </a:p>
        </p:txBody>
      </p:sp>
      <p:pic>
        <p:nvPicPr>
          <p:cNvPr id="8" name="Image 2" descr="/tmp/claude-0/-home-user-HumanRise/ef620e0f-4658-549d-b913-69843549f640/scratchpad/deck/img/train.png">    </p:cNvPr>
          <p:cNvPicPr>
            <a:picLocks noChangeAspect="1"/>
          </p:cNvPicPr>
          <p:nvPr/>
        </p:nvPicPr>
        <p:blipFill>
          <a:blip r:embed="rId3"/>
          <a:stretch>
            <a:fillRect/>
          </a:stretch>
        </p:blipFill>
        <p:spPr>
          <a:xfrm>
            <a:off x="3520440" y="1691640"/>
            <a:ext cx="2743200" cy="2753258"/>
          </a:xfrm>
          <a:prstGeom prst="rect">
            <a:avLst/>
          </a:prstGeom>
        </p:spPr>
      </p:pic>
      <p:sp>
        <p:nvSpPr>
          <p:cNvPr id="9" name="Text 4"/>
          <p:cNvSpPr txBox="1"/>
          <p:nvPr/>
        </p:nvSpPr>
        <p:spPr>
          <a:xfrm>
            <a:off x="3520440" y="4526280"/>
            <a:ext cx="2743200" cy="5029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Training: Deep Rise with a white logo and star.</a:t>
            </a:r>
            <a:endParaRPr lang="en-US" sz="1050" dirty="0"/>
          </a:p>
        </p:txBody>
      </p:sp>
      <p:pic>
        <p:nvPicPr>
          <p:cNvPr id="10" name="Image 3" descr="/tmp/claude-0/-home-user-HumanRise/ef620e0f-4658-549d-b913-69843549f640/scratchpad/deck/img/quote.png">    </p:cNvPr>
          <p:cNvPicPr>
            <a:picLocks noChangeAspect="1"/>
          </p:cNvPicPr>
          <p:nvPr/>
        </p:nvPicPr>
        <p:blipFill>
          <a:blip r:embed="rId4"/>
          <a:stretch>
            <a:fillRect/>
          </a:stretch>
        </p:blipFill>
        <p:spPr>
          <a:xfrm>
            <a:off x="6492240" y="1691640"/>
            <a:ext cx="2743200" cy="2753258"/>
          </a:xfrm>
          <a:prstGeom prst="rect">
            <a:avLst/>
          </a:prstGeom>
        </p:spPr>
      </p:pic>
      <p:sp>
        <p:nvSpPr>
          <p:cNvPr id="11" name="Text 5"/>
          <p:cNvSpPr txBox="1"/>
          <p:nvPr/>
        </p:nvSpPr>
        <p:spPr>
          <a:xfrm>
            <a:off x="6492240" y="4526280"/>
            <a:ext cx="2743200" cy="50292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Value or insight: Star Purple with a short statement.</a:t>
            </a:r>
            <a:endParaRPr lang="en-US" sz="1050" dirty="0"/>
          </a:p>
        </p:txBody>
      </p:sp>
      <p:sp>
        <p:nvSpPr>
          <p:cNvPr id="12" name="Shape 6"/>
          <p:cNvSpPr/>
          <p:nvPr/>
        </p:nvSpPr>
        <p:spPr>
          <a:xfrm>
            <a:off x="9509760" y="1691640"/>
            <a:ext cx="2130552" cy="2743200"/>
          </a:xfrm>
          <a:prstGeom prst="roundRect">
            <a:avLst>
              <a:gd name="adj" fmla="val 5150"/>
            </a:avLst>
          </a:prstGeom>
          <a:solidFill>
            <a:srgbClr val="F7F6FB"/>
          </a:solidFill>
          <a:ln w="9525">
            <a:solidFill>
              <a:srgbClr val="E2E1EA"/>
            </a:solidFill>
            <a:prstDash val="solid"/>
          </a:ln>
        </p:spPr>
      </p:sp>
      <p:sp>
        <p:nvSpPr>
          <p:cNvPr id="13" name="Text 7"/>
          <p:cNvSpPr txBox="1"/>
          <p:nvPr/>
        </p:nvSpPr>
        <p:spPr>
          <a:xfrm>
            <a:off x="9674352" y="1856232"/>
            <a:ext cx="1828800" cy="2468880"/>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SPECS</a:t>
            </a:r>
            <a:endParaRPr lang="en-US" sz="1100" dirty="0"/>
          </a:p>
          <a:p>
            <a:pPr indent="0" marL="0">
              <a:buNone/>
            </a:pPr>
            <a:r>
              <a:rPr lang="en-US" sz="1100" dirty="0">
                <a:solidFill>
                  <a:srgbClr val="474557"/>
                </a:solidFill>
                <a:latin typeface="Arial" pitchFamily="34" charset="0"/>
                <a:ea typeface="Arial" pitchFamily="34" charset="-122"/>
                <a:cs typeface="Arial" pitchFamily="34" charset="-120"/>
              </a:rPr>
              <a:t>1080 × 1080px, or 1200 × 1200px for LinkedIn. One message, one star, one action. Logo top left at about 22% of the width.</a:t>
            </a:r>
            <a:endParaRPr lang="en-US" sz="1100" dirty="0"/>
          </a:p>
        </p:txBody>
      </p:sp>
      <p:sp>
        <p:nvSpPr>
          <p:cNvPr id="14" name="Shape 8"/>
          <p:cNvSpPr/>
          <p:nvPr/>
        </p:nvSpPr>
        <p:spPr>
          <a:xfrm>
            <a:off x="548640" y="5212080"/>
            <a:ext cx="10149840" cy="777240"/>
          </a:xfrm>
          <a:prstGeom prst="roundRect">
            <a:avLst>
              <a:gd name="adj" fmla="val 14118"/>
            </a:avLst>
          </a:prstGeom>
          <a:solidFill>
            <a:srgbClr val="F7F6FB"/>
          </a:solidFill>
          <a:ln w="9525">
            <a:solidFill>
              <a:srgbClr val="E2E1EA"/>
            </a:solidFill>
            <a:prstDash val="solid"/>
          </a:ln>
        </p:spPr>
      </p:sp>
      <p:pic>
        <p:nvPicPr>
          <p:cNvPr id="15" name="Image 4" descr="preencoded.png">    </p:cNvPr>
          <p:cNvPicPr>
            <a:picLocks noChangeAspect="1"/>
          </p:cNvPicPr>
          <p:nvPr/>
        </p:nvPicPr>
        <p:blipFill>
          <a:blip r:embed="rId5"/>
          <a:stretch>
            <a:fillRect/>
          </a:stretch>
        </p:blipFill>
        <p:spPr>
          <a:xfrm>
            <a:off x="731520" y="5431536"/>
            <a:ext cx="329184" cy="329184"/>
          </a:xfrm>
          <a:prstGeom prst="rect">
            <a:avLst/>
          </a:prstGeom>
        </p:spPr>
      </p:pic>
      <p:sp>
        <p:nvSpPr>
          <p:cNvPr id="16" name="Text 9"/>
          <p:cNvSpPr txBox="1"/>
          <p:nvPr/>
        </p:nvSpPr>
        <p:spPr>
          <a:xfrm>
            <a:off x="1207008" y="5230368"/>
            <a:ext cx="9326880" cy="731520"/>
          </a:xfrm>
          <a:prstGeom prst="rect">
            <a:avLst/>
          </a:prstGeom>
          <a:noFill/>
          <a:ln/>
        </p:spPr>
        <p:txBody>
          <a:bodyPr wrap="square" lIns="0" tIns="0" rIns="0" bIns="0" rtlCol="0" anchor="ctr"/>
          <a:lstStyle/>
          <a:p>
            <a:pPr indent="0" marL="0">
              <a:buNone/>
            </a:pPr>
            <a:r>
              <a:rPr lang="en-US" sz="1150" b="1" dirty="0">
                <a:solidFill>
                  <a:srgbClr val="23222B"/>
                </a:solidFill>
                <a:latin typeface="Arial" pitchFamily="34" charset="0"/>
                <a:ea typeface="Arial" pitchFamily="34" charset="-122"/>
                <a:cs typeface="Arial" pitchFamily="34" charset="-120"/>
              </a:rPr>
              <a:t>Caption: </a:t>
            </a:r>
            <a:r>
              <a:rPr lang="en-US" sz="1150" dirty="0">
                <a:solidFill>
                  <a:srgbClr val="474557"/>
                </a:solidFill>
                <a:latin typeface="Arial" pitchFamily="34" charset="0"/>
                <a:ea typeface="Arial" pitchFamily="34" charset="-122"/>
                <a:cs typeface="Arial" pitchFamily="34" charset="-120"/>
              </a:rPr>
              <a:t>a hook line, two or three short lines of detail, one call to action with a link, then #HumanRise #OvercomingLimits and up to three topic tags (#Hiring #CapeTownJobs #HRSouthAfrica). Tag partners and clients only with permission.</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Profiles and banners.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li.png">    </p:cNvPr>
          <p:cNvPicPr>
            <a:picLocks noChangeAspect="1"/>
          </p:cNvPicPr>
          <p:nvPr/>
        </p:nvPicPr>
        <p:blipFill>
          <a:blip r:embed="rId2"/>
          <a:stretch>
            <a:fillRect/>
          </a:stretch>
        </p:blipFill>
        <p:spPr>
          <a:xfrm>
            <a:off x="548640" y="1691640"/>
            <a:ext cx="11094415" cy="2521001"/>
          </a:xfrm>
          <a:prstGeom prst="rect">
            <a:avLst/>
          </a:prstGeom>
        </p:spPr>
      </p:pic>
      <p:sp>
        <p:nvSpPr>
          <p:cNvPr id="7" name="Text 3"/>
          <p:cNvSpPr txBox="1"/>
          <p:nvPr/>
        </p:nvSpPr>
        <p:spPr>
          <a:xfrm>
            <a:off x="548640" y="4434840"/>
            <a:ext cx="10058400" cy="16002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474557"/>
                </a:solidFill>
                <a:latin typeface="Arial" pitchFamily="34" charset="0"/>
                <a:ea typeface="Arial" pitchFamily="34" charset="-122"/>
                <a:cs typeface="Arial" pitchFamily="34" charset="-120"/>
              </a:rPr>
              <a:t>Profile image: </a:t>
            </a:r>
            <a:r>
              <a:rPr lang="en-US" sz="1250" dirty="0">
                <a:solidFill>
                  <a:srgbClr val="474557"/>
                </a:solidFill>
                <a:latin typeface="Arial" pitchFamily="34" charset="0"/>
                <a:ea typeface="Arial" pitchFamily="34" charset="-122"/>
                <a:cs typeface="Arial" pitchFamily="34" charset="-120"/>
              </a:rPr>
              <a:t>the full logo on white where the platform shows it at 120px or larger. Otherwise use the star avatar (star/humanrise-avatar.png), which also suits WhatsApp, favicons and app icons.</a:t>
            </a:r>
            <a:endParaRPr lang="en-US" sz="1250" dirty="0"/>
          </a:p>
          <a:p>
            <a:pPr marL="177800" indent="-177800">
              <a:spcAft>
                <a:spcPts val="600"/>
              </a:spcAft>
              <a:buSzPct val="100000"/>
              <a:buChar char="•"/>
            </a:pPr>
            <a:r>
              <a:rPr lang="en-US" sz="1250" b="1" dirty="0">
                <a:solidFill>
                  <a:srgbClr val="474557"/>
                </a:solidFill>
                <a:latin typeface="Arial" pitchFamily="34" charset="0"/>
                <a:ea typeface="Arial" pitchFamily="34" charset="-122"/>
                <a:cs typeface="Arial" pitchFamily="34" charset="-120"/>
              </a:rPr>
              <a:t>LinkedIn cover: </a:t>
            </a:r>
            <a:r>
              <a:rPr lang="en-US" sz="1250" dirty="0">
                <a:solidFill>
                  <a:srgbClr val="474557"/>
                </a:solidFill>
                <a:latin typeface="Arial" pitchFamily="34" charset="0"/>
                <a:ea typeface="Arial" pitchFamily="34" charset="-122"/>
                <a:cs typeface="Arial" pitchFamily="34" charset="-120"/>
              </a:rPr>
              <a:t>1128 × 191px in Star Purple, with text on the right. The profile image covers the bottom-left corner.</a:t>
            </a:r>
            <a:endParaRPr lang="en-US" sz="1250" dirty="0"/>
          </a:p>
          <a:p>
            <a:pPr marL="177800" indent="-177800">
              <a:spcAft>
                <a:spcPts val="600"/>
              </a:spcAft>
              <a:buSzPct val="100000"/>
              <a:buChar char="•"/>
            </a:pPr>
            <a:r>
              <a:rPr lang="en-US" sz="1250" b="1" dirty="0">
                <a:solidFill>
                  <a:srgbClr val="474557"/>
                </a:solidFill>
                <a:latin typeface="Arial" pitchFamily="34" charset="0"/>
                <a:ea typeface="Arial" pitchFamily="34" charset="-122"/>
                <a:cs typeface="Arial" pitchFamily="34" charset="-120"/>
              </a:rPr>
              <a:t>Everywhere: </a:t>
            </a:r>
            <a:r>
              <a:rPr lang="en-US" sz="1250" dirty="0">
                <a:solidFill>
                  <a:srgbClr val="474557"/>
                </a:solidFill>
                <a:latin typeface="Arial" pitchFamily="34" charset="0"/>
                <a:ea typeface="Arial" pitchFamily="34" charset="-122"/>
                <a:cs typeface="Arial" pitchFamily="34" charset="-120"/>
              </a:rPr>
              <a:t>the same name (HumanRise) and the medium boilerplate as the bio.</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Job adverts.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91640"/>
            <a:ext cx="7223760" cy="4343400"/>
          </a:xfrm>
          <a:prstGeom prst="roundRect">
            <a:avLst>
              <a:gd name="adj" fmla="val 2526"/>
            </a:avLst>
          </a:prstGeom>
          <a:solidFill>
            <a:srgbClr val="FFFFFF"/>
          </a:solidFill>
          <a:ln w="9525">
            <a:solidFill>
              <a:srgbClr val="E2E1EA"/>
            </a:solidFill>
            <a:prstDash val="solid"/>
          </a:ln>
        </p:spPr>
      </p:sp>
      <p:sp>
        <p:nvSpPr>
          <p:cNvPr id="7" name="Shape 4"/>
          <p:cNvSpPr/>
          <p:nvPr/>
        </p:nvSpPr>
        <p:spPr>
          <a:xfrm>
            <a:off x="557784" y="1700784"/>
            <a:ext cx="7205472" cy="896112"/>
          </a:xfrm>
          <a:prstGeom prst="rect">
            <a:avLst/>
          </a:prstGeom>
          <a:solidFill>
            <a:srgbClr val="F7F6FB"/>
          </a:solidFill>
          <a:ln w="6350">
            <a:solidFill>
              <a:srgbClr val="F7F6FB"/>
            </a:solidFill>
            <a:prstDash val="solid"/>
          </a:ln>
        </p:spPr>
      </p:sp>
      <p:sp>
        <p:nvSpPr>
          <p:cNvPr id="8" name="Text 5"/>
          <p:cNvSpPr txBox="1"/>
          <p:nvPr/>
        </p:nvSpPr>
        <p:spPr>
          <a:xfrm>
            <a:off x="777240" y="1810512"/>
            <a:ext cx="4572000" cy="201168"/>
          </a:xfrm>
          <a:prstGeom prst="rect">
            <a:avLst/>
          </a:prstGeom>
          <a:noFill/>
          <a:ln/>
        </p:spPr>
        <p:txBody>
          <a:bodyPr wrap="square" lIns="0" tIns="0" rIns="0" bIns="0" rtlCol="0" anchor="t"/>
          <a:lstStyle/>
          <a:p>
            <a:pPr indent="0" marL="0">
              <a:buNone/>
            </a:pPr>
            <a:r>
              <a:rPr lang="en-US" sz="900" b="1" spc="200" kern="0" dirty="0">
                <a:solidFill>
                  <a:srgbClr val="5A4E8D"/>
                </a:solidFill>
                <a:latin typeface="Arial" pitchFamily="34" charset="0"/>
                <a:ea typeface="Arial" pitchFamily="34" charset="-122"/>
                <a:cs typeface="Arial" pitchFamily="34" charset="-120"/>
              </a:rPr>
              <a:t>WE’RE HIRING</a:t>
            </a:r>
            <a:endParaRPr lang="en-US" sz="900" dirty="0"/>
          </a:p>
        </p:txBody>
      </p:sp>
      <p:sp>
        <p:nvSpPr>
          <p:cNvPr id="9" name="Text 6"/>
          <p:cNvSpPr txBox="1"/>
          <p:nvPr/>
        </p:nvSpPr>
        <p:spPr>
          <a:xfrm>
            <a:off x="777240" y="2011680"/>
            <a:ext cx="6400800" cy="320040"/>
          </a:xfrm>
          <a:prstGeom prst="rect">
            <a:avLst/>
          </a:prstGeom>
          <a:noFill/>
          <a:ln/>
        </p:spPr>
        <p:txBody>
          <a:bodyPr wrap="square" lIns="0" tIns="0" rIns="0" bIns="0" rtlCol="0" anchor="t"/>
          <a:lstStyle/>
          <a:p>
            <a:pPr indent="0" marL="0">
              <a:buNone/>
            </a:pPr>
            <a:r>
              <a:rPr lang="en-US" sz="1800" b="1" dirty="0">
                <a:solidFill>
                  <a:srgbClr val="23222B"/>
                </a:solidFill>
                <a:latin typeface="Arial" pitchFamily="34" charset="0"/>
                <a:ea typeface="Arial" pitchFamily="34" charset="-122"/>
                <a:cs typeface="Arial" pitchFamily="34" charset="-120"/>
              </a:rPr>
              <a:t>[Job title]</a:t>
            </a:r>
            <a:endParaRPr lang="en-US" sz="1800" dirty="0"/>
          </a:p>
        </p:txBody>
      </p:sp>
      <p:sp>
        <p:nvSpPr>
          <p:cNvPr id="10" name="Text 7"/>
          <p:cNvSpPr txBox="1"/>
          <p:nvPr/>
        </p:nvSpPr>
        <p:spPr>
          <a:xfrm>
            <a:off x="777240" y="2313432"/>
            <a:ext cx="6766560" cy="237744"/>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[Area, City] · [Permanent / Temporary / Contract] · [Salary, if disclosed]</a:t>
            </a:r>
            <a:endParaRPr lang="en-US" sz="1100" dirty="0"/>
          </a:p>
        </p:txBody>
      </p:sp>
      <p:sp>
        <p:nvSpPr>
          <p:cNvPr id="11" name="Text 8"/>
          <p:cNvSpPr txBox="1"/>
          <p:nvPr/>
        </p:nvSpPr>
        <p:spPr>
          <a:xfrm>
            <a:off x="777240" y="2743200"/>
            <a:ext cx="1828800" cy="457200"/>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About the role</a:t>
            </a:r>
            <a:endParaRPr lang="en-US" sz="1150" dirty="0"/>
          </a:p>
        </p:txBody>
      </p:sp>
      <p:sp>
        <p:nvSpPr>
          <p:cNvPr id="12" name="Text 9"/>
          <p:cNvSpPr txBox="1"/>
          <p:nvPr/>
        </p:nvSpPr>
        <p:spPr>
          <a:xfrm>
            <a:off x="2651760" y="2743200"/>
            <a:ext cx="4937760" cy="475488"/>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Two or three warm, plain sentences on what the job is and why it matters.</a:t>
            </a:r>
            <a:endParaRPr lang="en-US" sz="1100" dirty="0"/>
          </a:p>
        </p:txBody>
      </p:sp>
      <p:sp>
        <p:nvSpPr>
          <p:cNvPr id="13" name="Text 10"/>
          <p:cNvSpPr txBox="1"/>
          <p:nvPr/>
        </p:nvSpPr>
        <p:spPr>
          <a:xfrm>
            <a:off x="777240" y="3273552"/>
            <a:ext cx="1828800" cy="457200"/>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What you’ll do</a:t>
            </a:r>
            <a:endParaRPr lang="en-US" sz="1150" dirty="0"/>
          </a:p>
        </p:txBody>
      </p:sp>
      <p:sp>
        <p:nvSpPr>
          <p:cNvPr id="14" name="Text 11"/>
          <p:cNvSpPr txBox="1"/>
          <p:nvPr/>
        </p:nvSpPr>
        <p:spPr>
          <a:xfrm>
            <a:off x="2651760" y="3273552"/>
            <a:ext cx="4937760" cy="475488"/>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Four to six bullet points, each starting with a verb.</a:t>
            </a:r>
            <a:endParaRPr lang="en-US" sz="1100" dirty="0"/>
          </a:p>
        </p:txBody>
      </p:sp>
      <p:sp>
        <p:nvSpPr>
          <p:cNvPr id="15" name="Text 12"/>
          <p:cNvSpPr txBox="1"/>
          <p:nvPr/>
        </p:nvSpPr>
        <p:spPr>
          <a:xfrm>
            <a:off x="777240" y="3803904"/>
            <a:ext cx="1828800" cy="457200"/>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What you’ll bring</a:t>
            </a:r>
            <a:endParaRPr lang="en-US" sz="1150" dirty="0"/>
          </a:p>
        </p:txBody>
      </p:sp>
      <p:sp>
        <p:nvSpPr>
          <p:cNvPr id="16" name="Text 13"/>
          <p:cNvSpPr txBox="1"/>
          <p:nvPr/>
        </p:nvSpPr>
        <p:spPr>
          <a:xfrm>
            <a:off x="2651760" y="3803904"/>
            <a:ext cx="4937760" cy="475488"/>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Four to six points, with must-haves separate from nice-to-haves.</a:t>
            </a:r>
            <a:endParaRPr lang="en-US" sz="1100" dirty="0"/>
          </a:p>
        </p:txBody>
      </p:sp>
      <p:sp>
        <p:nvSpPr>
          <p:cNvPr id="17" name="Text 14"/>
          <p:cNvSpPr txBox="1"/>
          <p:nvPr/>
        </p:nvSpPr>
        <p:spPr>
          <a:xfrm>
            <a:off x="777240" y="4334256"/>
            <a:ext cx="1828800" cy="457200"/>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Why you’ll like it</a:t>
            </a:r>
            <a:endParaRPr lang="en-US" sz="1150" dirty="0"/>
          </a:p>
        </p:txBody>
      </p:sp>
      <p:sp>
        <p:nvSpPr>
          <p:cNvPr id="18" name="Text 15"/>
          <p:cNvSpPr txBox="1"/>
          <p:nvPr/>
        </p:nvSpPr>
        <p:spPr>
          <a:xfrm>
            <a:off x="2651760" y="4334256"/>
            <a:ext cx="4937760" cy="475488"/>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Team, growth and benefits, as the client confirms them.</a:t>
            </a:r>
            <a:endParaRPr lang="en-US" sz="1100" dirty="0"/>
          </a:p>
        </p:txBody>
      </p:sp>
      <p:sp>
        <p:nvSpPr>
          <p:cNvPr id="19" name="Text 16"/>
          <p:cNvSpPr txBox="1"/>
          <p:nvPr/>
        </p:nvSpPr>
        <p:spPr>
          <a:xfrm>
            <a:off x="777240" y="4864608"/>
            <a:ext cx="1828800" cy="457200"/>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How to apply</a:t>
            </a:r>
            <a:endParaRPr lang="en-US" sz="1150" dirty="0"/>
          </a:p>
        </p:txBody>
      </p:sp>
      <p:sp>
        <p:nvSpPr>
          <p:cNvPr id="20" name="Text 17"/>
          <p:cNvSpPr txBox="1"/>
          <p:nvPr/>
        </p:nvSpPr>
        <p:spPr>
          <a:xfrm>
            <a:off x="2651760" y="4864608"/>
            <a:ext cx="4937760" cy="475488"/>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“Apply at jobs.humanrise.co.za. A HumanRise consultant reviews every application.” Add the closing date.</a:t>
            </a:r>
            <a:endParaRPr lang="en-US" sz="1100" dirty="0"/>
          </a:p>
        </p:txBody>
      </p:sp>
      <p:sp>
        <p:nvSpPr>
          <p:cNvPr id="21" name="Text 18"/>
          <p:cNvSpPr txBox="1"/>
          <p:nvPr/>
        </p:nvSpPr>
        <p:spPr>
          <a:xfrm>
            <a:off x="777240" y="5394960"/>
            <a:ext cx="1828800" cy="457200"/>
          </a:xfrm>
          <a:prstGeom prst="rect">
            <a:avLst/>
          </a:prstGeom>
          <a:noFill/>
          <a:ln/>
        </p:spPr>
        <p:txBody>
          <a:bodyPr wrap="square" lIns="0" tIns="0" rIns="0" bIns="0" rtlCol="0" anchor="t"/>
          <a:lstStyle/>
          <a:p>
            <a:pPr indent="0" marL="0">
              <a:buNone/>
            </a:pPr>
            <a:r>
              <a:rPr lang="en-US" sz="1150" b="1" dirty="0">
                <a:solidFill>
                  <a:srgbClr val="23222B"/>
                </a:solidFill>
                <a:latin typeface="Arial" pitchFamily="34" charset="0"/>
                <a:ea typeface="Arial" pitchFamily="34" charset="-122"/>
                <a:cs typeface="Arial" pitchFamily="34" charset="-120"/>
              </a:rPr>
              <a:t>Compliance lines</a:t>
            </a:r>
            <a:endParaRPr lang="en-US" sz="1150" dirty="0"/>
          </a:p>
        </p:txBody>
      </p:sp>
      <p:sp>
        <p:nvSpPr>
          <p:cNvPr id="22" name="Text 19"/>
          <p:cNvSpPr txBox="1"/>
          <p:nvPr/>
        </p:nvSpPr>
        <p:spPr>
          <a:xfrm>
            <a:off x="2651760" y="5394960"/>
            <a:ext cx="4937760" cy="475488"/>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The POPIA line, plus the client’s employment equity statement where it applies.</a:t>
            </a:r>
            <a:endParaRPr lang="en-US" sz="1100" dirty="0"/>
          </a:p>
        </p:txBody>
      </p:sp>
      <p:sp>
        <p:nvSpPr>
          <p:cNvPr id="23" name="Text 20"/>
          <p:cNvSpPr txBox="1"/>
          <p:nvPr/>
        </p:nvSpPr>
        <p:spPr>
          <a:xfrm>
            <a:off x="8092440" y="1737360"/>
            <a:ext cx="3547872" cy="411480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474557"/>
                </a:solidFill>
                <a:latin typeface="Arial" pitchFamily="34" charset="0"/>
                <a:ea typeface="Arial" pitchFamily="34" charset="-122"/>
                <a:cs typeface="Arial" pitchFamily="34" charset="-120"/>
              </a:rPr>
              <a:t>Use the same structure on our website, LinkedIn and job boards.</a:t>
            </a:r>
            <a:endParaRPr lang="en-US" sz="1250" dirty="0"/>
          </a:p>
          <a:p>
            <a:pPr marL="177800" indent="-177800">
              <a:spcAft>
                <a:spcPts val="1000"/>
              </a:spcAft>
              <a:buSzPct val="100000"/>
              <a:buChar char="•"/>
            </a:pPr>
            <a:r>
              <a:rPr lang="en-US" sz="1250" dirty="0">
                <a:solidFill>
                  <a:srgbClr val="474557"/>
                </a:solidFill>
                <a:latin typeface="Arial" pitchFamily="34" charset="0"/>
                <a:ea typeface="Arial" pitchFamily="34" charset="-122"/>
                <a:cs typeface="Arial" pitchFamily="34" charset="-120"/>
              </a:rPr>
              <a:t>Point every application to jobs.humanrise.co.za, so candidates use the same secure, POPIA-compliant form.</a:t>
            </a:r>
            <a:endParaRPr lang="en-US" sz="1250" dirty="0"/>
          </a:p>
          <a:p>
            <a:pPr marL="177800" indent="-177800">
              <a:spcAft>
                <a:spcPts val="1000"/>
              </a:spcAft>
              <a:buSzPct val="100000"/>
              <a:buChar char="•"/>
            </a:pPr>
            <a:r>
              <a:rPr lang="en-US" sz="1250" dirty="0">
                <a:solidFill>
                  <a:srgbClr val="474557"/>
                </a:solidFill>
                <a:latin typeface="Arial" pitchFamily="34" charset="0"/>
                <a:ea typeface="Arial" pitchFamily="34" charset="-122"/>
                <a:cs typeface="Arial" pitchFamily="34" charset="-120"/>
              </a:rPr>
              <a:t>Mark example or placeholder roles clearly. Never publish a role that doesn’t exist.</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Email signature.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sig.png">    </p:cNvPr>
          <p:cNvPicPr>
            <a:picLocks noChangeAspect="1"/>
          </p:cNvPicPr>
          <p:nvPr/>
        </p:nvPicPr>
        <p:blipFill>
          <a:blip r:embed="rId2"/>
          <a:stretch>
            <a:fillRect/>
          </a:stretch>
        </p:blipFill>
        <p:spPr>
          <a:xfrm>
            <a:off x="548640" y="1691640"/>
            <a:ext cx="8229600" cy="1973275"/>
          </a:xfrm>
          <a:prstGeom prst="rect">
            <a:avLst/>
          </a:prstGeom>
        </p:spPr>
      </p:pic>
      <p:sp>
        <p:nvSpPr>
          <p:cNvPr id="7" name="Text 3"/>
          <p:cNvSpPr txBox="1"/>
          <p:nvPr/>
        </p:nvSpPr>
        <p:spPr>
          <a:xfrm>
            <a:off x="548640" y="3931920"/>
            <a:ext cx="7772400" cy="20116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474557"/>
                </a:solidFill>
                <a:latin typeface="Arial" pitchFamily="34" charset="0"/>
                <a:ea typeface="Arial" pitchFamily="34" charset="-122"/>
                <a:cs typeface="Arial" pitchFamily="34" charset="-120"/>
              </a:rPr>
              <a:t>Arial, a 120px logo (logo/humanrise-logo-email.png) and one Star Purple divider.</a:t>
            </a:r>
            <a:endParaRPr lang="en-US" sz="1300" dirty="0"/>
          </a:p>
          <a:p>
            <a:pPr marL="177800" indent="-177800">
              <a:spcAft>
                <a:spcPts val="700"/>
              </a:spcAft>
              <a:buSzPct val="100000"/>
              <a:buChar char="•"/>
            </a:pPr>
            <a:r>
              <a:rPr lang="en-US" sz="1300" dirty="0">
                <a:solidFill>
                  <a:srgbClr val="474557"/>
                </a:solidFill>
                <a:latin typeface="Arial" pitchFamily="34" charset="0"/>
                <a:ea typeface="Arial" pitchFamily="34" charset="-122"/>
                <a:cs typeface="Arial" pitchFamily="34" charset="-120"/>
              </a:rPr>
              <a:t>Name, job title, phone, email, website and live-jobs link, then “Overcoming Limits.”</a:t>
            </a:r>
            <a:endParaRPr lang="en-US" sz="1300" dirty="0"/>
          </a:p>
          <a:p>
            <a:pPr marL="177800" indent="-177800">
              <a:spcAft>
                <a:spcPts val="700"/>
              </a:spcAft>
              <a:buSzPct val="100000"/>
              <a:buChar char="•"/>
            </a:pPr>
            <a:r>
              <a:rPr lang="en-US" sz="1300" dirty="0">
                <a:solidFill>
                  <a:srgbClr val="474557"/>
                </a:solidFill>
                <a:latin typeface="Arial" pitchFamily="34" charset="0"/>
                <a:ea typeface="Arial" pitchFamily="34" charset="-122"/>
                <a:cs typeface="Arial" pitchFamily="34" charset="-120"/>
              </a:rPr>
              <a:t>The confidentiality and POPIA line underneath in 11px grey.</a:t>
            </a:r>
            <a:endParaRPr lang="en-US" sz="1300" dirty="0"/>
          </a:p>
          <a:p>
            <a:pPr marL="177800" indent="-177800">
              <a:spcAft>
                <a:spcPts val="700"/>
              </a:spcAft>
              <a:buSzPct val="100000"/>
              <a:buChar char="•"/>
            </a:pPr>
            <a:r>
              <a:rPr lang="en-US" sz="1300" dirty="0">
                <a:solidFill>
                  <a:srgbClr val="474557"/>
                </a:solidFill>
                <a:latin typeface="Arial" pitchFamily="34" charset="0"/>
                <a:ea typeface="Arial" pitchFamily="34" charset="-122"/>
                <a:cs typeface="Arial" pitchFamily="34" charset="-120"/>
              </a:rPr>
              <a:t>No extra images, quotes, banners or coloured backgrounds.</a:t>
            </a:r>
            <a:endParaRPr lang="en-US" sz="1300" dirty="0"/>
          </a:p>
        </p:txBody>
      </p:sp>
      <p:sp>
        <p:nvSpPr>
          <p:cNvPr id="8" name="Shape 4"/>
          <p:cNvSpPr/>
          <p:nvPr/>
        </p:nvSpPr>
        <p:spPr>
          <a:xfrm>
            <a:off x="9052560" y="1691640"/>
            <a:ext cx="2587752" cy="1975104"/>
          </a:xfrm>
          <a:prstGeom prst="roundRect">
            <a:avLst>
              <a:gd name="adj" fmla="val 5556"/>
            </a:avLst>
          </a:prstGeom>
          <a:solidFill>
            <a:srgbClr val="F7F6FB"/>
          </a:solidFill>
          <a:ln w="9525">
            <a:solidFill>
              <a:srgbClr val="E2E1EA"/>
            </a:solidFill>
            <a:prstDash val="solid"/>
          </a:ln>
        </p:spPr>
      </p:sp>
      <p:pic>
        <p:nvPicPr>
          <p:cNvPr id="9" name="Image 2" descr="preencoded.png">    </p:cNvPr>
          <p:cNvPicPr>
            <a:picLocks noChangeAspect="1"/>
          </p:cNvPicPr>
          <p:nvPr/>
        </p:nvPicPr>
        <p:blipFill>
          <a:blip r:embed="rId3"/>
          <a:stretch>
            <a:fillRect/>
          </a:stretch>
        </p:blipFill>
        <p:spPr>
          <a:xfrm>
            <a:off x="9235440" y="1874520"/>
            <a:ext cx="329184" cy="329184"/>
          </a:xfrm>
          <a:prstGeom prst="rect">
            <a:avLst/>
          </a:prstGeom>
        </p:spPr>
      </p:pic>
      <p:sp>
        <p:nvSpPr>
          <p:cNvPr id="10" name="Text 5"/>
          <p:cNvSpPr txBox="1"/>
          <p:nvPr/>
        </p:nvSpPr>
        <p:spPr>
          <a:xfrm>
            <a:off x="9235440" y="2286000"/>
            <a:ext cx="2240280" cy="128016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Copy the ready-made HTML from the web version of this guide (brand/index.html, chapter 09) into your email settings.</a:t>
            </a:r>
            <a:endParaRPr lang="en-US" sz="11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Business cards.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bc_front.png">    </p:cNvPr>
          <p:cNvPicPr>
            <a:picLocks noChangeAspect="1"/>
          </p:cNvPicPr>
          <p:nvPr/>
        </p:nvPicPr>
        <p:blipFill>
          <a:blip r:embed="rId2"/>
          <a:stretch>
            <a:fillRect/>
          </a:stretch>
        </p:blipFill>
        <p:spPr>
          <a:xfrm>
            <a:off x="548640" y="1691640"/>
            <a:ext cx="5394960" cy="3304642"/>
          </a:xfrm>
          <a:prstGeom prst="rect">
            <a:avLst/>
          </a:prstGeom>
        </p:spPr>
      </p:pic>
      <p:pic>
        <p:nvPicPr>
          <p:cNvPr id="7" name="Image 2" descr="/tmp/claude-0/-home-user-HumanRise/ef620e0f-4658-549d-b913-69843549f640/scratchpad/deck/img/bc_back.png">    </p:cNvPr>
          <p:cNvPicPr>
            <a:picLocks noChangeAspect="1"/>
          </p:cNvPicPr>
          <p:nvPr/>
        </p:nvPicPr>
        <p:blipFill>
          <a:blip r:embed="rId3"/>
          <a:stretch>
            <a:fillRect/>
          </a:stretch>
        </p:blipFill>
        <p:spPr>
          <a:xfrm>
            <a:off x="6245352" y="1691640"/>
            <a:ext cx="5394960" cy="3304642"/>
          </a:xfrm>
          <a:prstGeom prst="rect">
            <a:avLst/>
          </a:prstGeom>
        </p:spPr>
      </p:pic>
      <p:sp>
        <p:nvSpPr>
          <p:cNvPr id="8" name="Text 3"/>
          <p:cNvSpPr txBox="1"/>
          <p:nvPr/>
        </p:nvSpPr>
        <p:spPr>
          <a:xfrm>
            <a:off x="548640" y="5074920"/>
            <a:ext cx="5394960" cy="27432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Front: the logo centred on white.</a:t>
            </a:r>
            <a:endParaRPr lang="en-US" sz="1100" dirty="0"/>
          </a:p>
        </p:txBody>
      </p:sp>
      <p:sp>
        <p:nvSpPr>
          <p:cNvPr id="9" name="Text 4"/>
          <p:cNvSpPr txBox="1"/>
          <p:nvPr/>
        </p:nvSpPr>
        <p:spPr>
          <a:xfrm>
            <a:off x="6245352" y="5074920"/>
            <a:ext cx="5394960" cy="274320"/>
          </a:xfrm>
          <a:prstGeom prst="rect">
            <a:avLst/>
          </a:prstGeom>
          <a:noFill/>
          <a:ln/>
        </p:spPr>
        <p:txBody>
          <a:bodyPr wrap="square" lIns="0" tIns="0" rIns="0" bIns="0" rtlCol="0" anchor="t"/>
          <a:lstStyle/>
          <a:p>
            <a:pPr indent="0" marL="0">
              <a:buNone/>
            </a:pPr>
            <a:r>
              <a:rPr lang="en-US" sz="1100" dirty="0">
                <a:solidFill>
                  <a:srgbClr val="6A6782"/>
                </a:solidFill>
                <a:latin typeface="Arial" pitchFamily="34" charset="0"/>
                <a:ea typeface="Arial" pitchFamily="34" charset="-122"/>
                <a:cs typeface="Arial" pitchFamily="34" charset="-120"/>
              </a:rPr>
              <a:t>Back: Deep Rise, with the white star bleeding off the corner.</a:t>
            </a:r>
            <a:endParaRPr lang="en-US" sz="1100" dirty="0"/>
          </a:p>
        </p:txBody>
      </p:sp>
      <p:sp>
        <p:nvSpPr>
          <p:cNvPr id="10" name="Text 5"/>
          <p:cNvSpPr txBox="1"/>
          <p:nvPr/>
        </p:nvSpPr>
        <p:spPr>
          <a:xfrm>
            <a:off x="548640" y="5486400"/>
            <a:ext cx="9875520" cy="457200"/>
          </a:xfrm>
          <a:prstGeom prst="rect">
            <a:avLst/>
          </a:prstGeom>
          <a:noFill/>
          <a:ln/>
        </p:spPr>
        <p:txBody>
          <a:bodyPr wrap="square" lIns="0" tIns="0" rIns="0" bIns="0" rtlCol="0" anchor="t"/>
          <a:lstStyle/>
          <a:p>
            <a:pPr indent="0" marL="0">
              <a:buNone/>
            </a:pPr>
            <a:r>
              <a:rPr lang="en-US" sz="1250" dirty="0">
                <a:solidFill>
                  <a:srgbClr val="474557"/>
                </a:solidFill>
                <a:latin typeface="Arial" pitchFamily="34" charset="0"/>
                <a:ea typeface="Arial" pitchFamily="34" charset="-122"/>
                <a:cs typeface="Arial" pitchFamily="34" charset="-120"/>
              </a:rPr>
              <a:t>90 × 55mm with 3mm bleed on 350gsm matt board. Name in Roboto Bold 9pt, details in Regular 7.5pt. Keep text 5mm inside the trim.</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Letterhead and documents.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a4.png">    </p:cNvPr>
          <p:cNvPicPr>
            <a:picLocks noChangeAspect="1"/>
          </p:cNvPicPr>
          <p:nvPr/>
        </p:nvPicPr>
        <p:blipFill>
          <a:blip r:embed="rId2"/>
          <a:stretch>
            <a:fillRect/>
          </a:stretch>
        </p:blipFill>
        <p:spPr>
          <a:xfrm>
            <a:off x="548640" y="1600200"/>
            <a:ext cx="3145536" cy="4455871"/>
          </a:xfrm>
          <a:prstGeom prst="rect">
            <a:avLst/>
          </a:prstGeom>
        </p:spPr>
      </p:pic>
      <p:sp>
        <p:nvSpPr>
          <p:cNvPr id="7" name="Text 3"/>
          <p:cNvSpPr txBox="1"/>
          <p:nvPr/>
        </p:nvSpPr>
        <p:spPr>
          <a:xfrm>
            <a:off x="4206240" y="1691640"/>
            <a:ext cx="6858000" cy="420624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rgbClr val="474557"/>
                </a:solidFill>
                <a:latin typeface="Arial" pitchFamily="34" charset="0"/>
                <a:ea typeface="Arial" pitchFamily="34" charset="-122"/>
                <a:cs typeface="Arial" pitchFamily="34" charset="-120"/>
              </a:rPr>
              <a:t>A4 with 20mm margins. The logo goes top left at 40mm wide.</a:t>
            </a:r>
            <a:endParaRPr lang="en-US" sz="1400" dirty="0"/>
          </a:p>
          <a:p>
            <a:pPr marL="177800" indent="-177800">
              <a:spcAft>
                <a:spcPts val="1000"/>
              </a:spcAft>
              <a:buSzPct val="100000"/>
              <a:buChar char="•"/>
            </a:pPr>
            <a:r>
              <a:rPr lang="en-US" sz="1400" dirty="0">
                <a:solidFill>
                  <a:srgbClr val="474557"/>
                </a:solidFill>
                <a:latin typeface="Arial" pitchFamily="34" charset="0"/>
                <a:ea typeface="Arial" pitchFamily="34" charset="-122"/>
                <a:cs typeface="Arial" pitchFamily="34" charset="-120"/>
              </a:rPr>
              <a:t>Contact details top right in Roboto Regular 8pt.</a:t>
            </a:r>
            <a:endParaRPr lang="en-US" sz="1400" dirty="0"/>
          </a:p>
          <a:p>
            <a:pPr marL="177800" indent="-177800">
              <a:spcAft>
                <a:spcPts val="1000"/>
              </a:spcAft>
              <a:buSzPct val="100000"/>
              <a:buChar char="•"/>
            </a:pPr>
            <a:r>
              <a:rPr lang="en-US" sz="1400" dirty="0">
                <a:solidFill>
                  <a:srgbClr val="474557"/>
                </a:solidFill>
                <a:latin typeface="Arial" pitchFamily="34" charset="0"/>
                <a:ea typeface="Arial" pitchFamily="34" charset="-122"/>
                <a:cs typeface="Arial" pitchFamily="34" charset="-120"/>
              </a:rPr>
              <a:t>Body in Roboto 10.5pt (Arial in editable Word files), Ink on white, left-aligned.</a:t>
            </a:r>
            <a:endParaRPr lang="en-US" sz="1400" dirty="0"/>
          </a:p>
          <a:p>
            <a:pPr marL="177800" indent="-177800">
              <a:spcAft>
                <a:spcPts val="1000"/>
              </a:spcAft>
              <a:buSzPct val="100000"/>
              <a:buChar char="•"/>
            </a:pPr>
            <a:r>
              <a:rPr lang="en-US" sz="1400" dirty="0">
                <a:solidFill>
                  <a:srgbClr val="474557"/>
                </a:solidFill>
                <a:latin typeface="Arial" pitchFamily="34" charset="0"/>
                <a:ea typeface="Arial" pitchFamily="34" charset="-122"/>
                <a:cs typeface="Arial" pitchFamily="34" charset="-120"/>
              </a:rPr>
              <a:t>Headings in Roboto Black. The faint star is cropped in the bottom-right corner.</a:t>
            </a:r>
            <a:endParaRPr lang="en-US" sz="1400" dirty="0"/>
          </a:p>
          <a:p>
            <a:pPr marL="177800" indent="-177800">
              <a:spcAft>
                <a:spcPts val="1000"/>
              </a:spcAft>
              <a:buSzPct val="100000"/>
              <a:buChar char="•"/>
            </a:pPr>
            <a:r>
              <a:rPr lang="en-US" sz="1400" dirty="0">
                <a:solidFill>
                  <a:srgbClr val="474557"/>
                </a:solidFill>
                <a:latin typeface="Arial" pitchFamily="34" charset="0"/>
                <a:ea typeface="Arial" pitchFamily="34" charset="-122"/>
                <a:cs typeface="Arial" pitchFamily="34" charset="-120"/>
              </a:rPr>
              <a:t>The footer carries the legal name, registration number, city and the POPIA line.</a:t>
            </a:r>
            <a:endParaRPr lang="en-US" sz="1400" dirty="0"/>
          </a:p>
          <a:p>
            <a:pPr marL="177800" indent="-177800">
              <a:spcAft>
                <a:spcPts val="1000"/>
              </a:spcAft>
              <a:buSzPct val="100000"/>
              <a:buChar char="•"/>
            </a:pPr>
            <a:r>
              <a:rPr lang="en-US" sz="1400" dirty="0">
                <a:solidFill>
                  <a:srgbClr val="474557"/>
                </a:solidFill>
                <a:latin typeface="Arial" pitchFamily="34" charset="0"/>
                <a:ea typeface="Arial" pitchFamily="34" charset="-122"/>
                <a:cs typeface="Arial" pitchFamily="34" charset="-120"/>
              </a:rPr>
              <a:t>Use it for proposals, quotes, contracts, policies, handbooks and certificates.</a:t>
            </a:r>
            <a:endParaRPr lang="en-US" sz="14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Presentations and training material.</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slide1.png">    </p:cNvPr>
          <p:cNvPicPr>
            <a:picLocks noChangeAspect="1"/>
          </p:cNvPicPr>
          <p:nvPr/>
        </p:nvPicPr>
        <p:blipFill>
          <a:blip r:embed="rId2"/>
          <a:stretch>
            <a:fillRect/>
          </a:stretch>
        </p:blipFill>
        <p:spPr>
          <a:xfrm>
            <a:off x="548640" y="1691640"/>
            <a:ext cx="5394960" cy="3054096"/>
          </a:xfrm>
          <a:prstGeom prst="rect">
            <a:avLst/>
          </a:prstGeom>
        </p:spPr>
      </p:pic>
      <p:pic>
        <p:nvPicPr>
          <p:cNvPr id="7" name="Image 2" descr="/tmp/claude-0/-home-user-HumanRise/ef620e0f-4658-549d-b913-69843549f640/scratchpad/deck/img/slide2.png">    </p:cNvPr>
          <p:cNvPicPr>
            <a:picLocks noChangeAspect="1"/>
          </p:cNvPicPr>
          <p:nvPr/>
        </p:nvPicPr>
        <p:blipFill>
          <a:blip r:embed="rId3"/>
          <a:stretch>
            <a:fillRect/>
          </a:stretch>
        </p:blipFill>
        <p:spPr>
          <a:xfrm>
            <a:off x="6245352" y="1691640"/>
            <a:ext cx="5394960" cy="3054096"/>
          </a:xfrm>
          <a:prstGeom prst="rect">
            <a:avLst/>
          </a:prstGeom>
        </p:spPr>
      </p:pic>
      <p:sp>
        <p:nvSpPr>
          <p:cNvPr id="8" name="Text 3"/>
          <p:cNvSpPr txBox="1"/>
          <p:nvPr/>
        </p:nvSpPr>
        <p:spPr>
          <a:xfrm>
            <a:off x="548640" y="4937760"/>
            <a:ext cx="10058400" cy="118872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474557"/>
                </a:solidFill>
                <a:latin typeface="Arial" pitchFamily="34" charset="0"/>
                <a:ea typeface="Arial" pitchFamily="34" charset="-122"/>
                <a:cs typeface="Arial" pitchFamily="34" charset="-120"/>
              </a:rPr>
              <a:t>16:9, white backgrounds, one idea per slide. Section dividers use Deep Rise or Star Purple with the white logo and star.</a:t>
            </a:r>
            <a:endParaRPr lang="en-US" sz="1200" dirty="0"/>
          </a:p>
          <a:p>
            <a:pPr marL="177800" indent="-177800">
              <a:spcAft>
                <a:spcPts val="400"/>
              </a:spcAft>
              <a:buSzPct val="100000"/>
              <a:buChar char="•"/>
            </a:pPr>
            <a:r>
              <a:rPr lang="en-US" sz="1200" dirty="0">
                <a:solidFill>
                  <a:srgbClr val="474557"/>
                </a:solidFill>
                <a:latin typeface="Arial" pitchFamily="34" charset="0"/>
                <a:ea typeface="Arial" pitchFamily="34" charset="-122"/>
                <a:cs typeface="Arial" pitchFamily="34" charset="-120"/>
              </a:rPr>
              <a:t>Write course titles exactly. Show “QCTO accredited” only on accredited courses (currently My Team Motivator and Workplace Preparation).</a:t>
            </a:r>
            <a:endParaRPr lang="en-US" sz="1200" dirty="0"/>
          </a:p>
          <a:p>
            <a:pPr marL="177800" indent="-177800">
              <a:spcAft>
                <a:spcPts val="400"/>
              </a:spcAft>
              <a:buSzPct val="100000"/>
              <a:buChar char="•"/>
            </a:pPr>
            <a:r>
              <a:rPr lang="en-US" sz="1200" dirty="0">
                <a:solidFill>
                  <a:srgbClr val="474557"/>
                </a:solidFill>
                <a:latin typeface="Arial" pitchFamily="34" charset="0"/>
                <a:ea typeface="Arial" pitchFamily="34" charset="-122"/>
                <a:cs typeface="Arial" pitchFamily="34" charset="-120"/>
              </a:rPr>
              <a:t>Workbooks and certificates use the letterhead layout, with the course title in a bold headline.</a:t>
            </a:r>
            <a:endParaRPr lang="en-US" sz="12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09</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APPLICATIONS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Pull-up banner.</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pic>
        <p:nvPicPr>
          <p:cNvPr id="6" name="Image 1" descr="/tmp/claude-0/-home-user-HumanRise/ef620e0f-4658-549d-b913-69843549f640/scratchpad/deck/img/banner.jpg">    </p:cNvPr>
          <p:cNvPicPr>
            <a:picLocks noChangeAspect="1"/>
          </p:cNvPicPr>
          <p:nvPr/>
        </p:nvPicPr>
        <p:blipFill>
          <a:blip r:embed="rId2"/>
          <a:stretch>
            <a:fillRect/>
          </a:stretch>
        </p:blipFill>
        <p:spPr>
          <a:xfrm>
            <a:off x="548640" y="1600200"/>
            <a:ext cx="1892808" cy="4466844"/>
          </a:xfrm>
          <a:prstGeom prst="rect">
            <a:avLst/>
          </a:prstGeom>
        </p:spPr>
      </p:pic>
      <p:sp>
        <p:nvSpPr>
          <p:cNvPr id="7" name="Text 3"/>
          <p:cNvSpPr txBox="1"/>
          <p:nvPr/>
        </p:nvSpPr>
        <p:spPr>
          <a:xfrm>
            <a:off x="3017520" y="1691640"/>
            <a:ext cx="7315200" cy="402336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474557"/>
                </a:solidFill>
                <a:latin typeface="Arial" pitchFamily="34" charset="0"/>
                <a:ea typeface="Arial" pitchFamily="34" charset="-122"/>
                <a:cs typeface="Arial" pitchFamily="34" charset="-120"/>
              </a:rPr>
              <a:t>850 × 2000mm. Logo in the top quarter, at eye level.</a:t>
            </a:r>
            <a:endParaRPr lang="en-US" sz="1500" dirty="0"/>
          </a:p>
          <a:p>
            <a:pPr marL="177800" indent="-177800">
              <a:spcAft>
                <a:spcPts val="1200"/>
              </a:spcAft>
              <a:buSzPct val="100000"/>
              <a:buChar char="•"/>
            </a:pPr>
            <a:r>
              <a:rPr lang="en-US" sz="1500" dirty="0">
                <a:solidFill>
                  <a:srgbClr val="474557"/>
                </a:solidFill>
                <a:latin typeface="Arial" pitchFamily="34" charset="0"/>
                <a:ea typeface="Arial" pitchFamily="34" charset="-122"/>
                <a:cs typeface="Arial" pitchFamily="34" charset="-120"/>
              </a:rPr>
              <a:t>One line, three services and one photo. Nothing else.</a:t>
            </a:r>
            <a:endParaRPr lang="en-US" sz="1500" dirty="0"/>
          </a:p>
          <a:p>
            <a:pPr marL="177800" indent="-177800">
              <a:spcAft>
                <a:spcPts val="1200"/>
              </a:spcAft>
              <a:buSzPct val="100000"/>
              <a:buChar char="•"/>
            </a:pPr>
            <a:r>
              <a:rPr lang="en-US" sz="1500" dirty="0">
                <a:solidFill>
                  <a:srgbClr val="474557"/>
                </a:solidFill>
                <a:latin typeface="Arial" pitchFamily="34" charset="0"/>
                <a:ea typeface="Arial" pitchFamily="34" charset="-122"/>
                <a:cs typeface="Arial" pitchFamily="34" charset="-120"/>
              </a:rPr>
              <a:t>The website in white on a Deep Rise base band.</a:t>
            </a:r>
            <a:endParaRPr lang="en-US" sz="1500" dirty="0"/>
          </a:p>
          <a:p>
            <a:pPr marL="177800" indent="-177800">
              <a:spcAft>
                <a:spcPts val="1200"/>
              </a:spcAft>
              <a:buSzPct val="100000"/>
              <a:buChar char="•"/>
            </a:pPr>
            <a:r>
              <a:rPr lang="en-US" sz="1500" dirty="0">
                <a:solidFill>
                  <a:srgbClr val="474557"/>
                </a:solidFill>
                <a:latin typeface="Arial" pitchFamily="34" charset="0"/>
                <a:ea typeface="Arial" pitchFamily="34" charset="-122"/>
                <a:cs typeface="Arial" pitchFamily="34" charset="-120"/>
              </a:rPr>
              <a:t>Keep text out of the bottom 200mm (shown striped). The stand and the crowd hide it.</a:t>
            </a:r>
            <a:endParaRPr lang="en-US" sz="1500" dirty="0"/>
          </a:p>
          <a:p>
            <a:pPr marL="177800" indent="-177800">
              <a:spcAft>
                <a:spcPts val="1200"/>
              </a:spcAft>
              <a:buSzPct val="100000"/>
              <a:buChar char="•"/>
            </a:pPr>
            <a:r>
              <a:rPr lang="en-US" sz="1500" dirty="0">
                <a:solidFill>
                  <a:srgbClr val="474557"/>
                </a:solidFill>
                <a:latin typeface="Arial" pitchFamily="34" charset="0"/>
                <a:ea typeface="Arial" pitchFamily="34" charset="-122"/>
                <a:cs typeface="Arial" pitchFamily="34" charset="-120"/>
              </a:rPr>
              <a:t>Supply vector PDFs, with images at 150dpi at full size.</a:t>
            </a:r>
            <a:endParaRPr lang="en-US" sz="15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7869BC"/>
        </a:solidFill>
      </p:bgPr>
    </p:bg>
    <p:spTree>
      <p:nvGrpSpPr>
        <p:cNvPr id="1" name=""/>
        <p:cNvGrpSpPr/>
        <p:nvPr/>
      </p:nvGrpSpPr>
      <p:grpSpPr>
        <a:xfrm>
          <a:off x="0" y="0"/>
          <a:ext cx="0" cy="0"/>
          <a:chOff x="0" y="0"/>
          <a:chExt cx="0" cy="0"/>
        </a:xfrm>
      </p:grpSpPr>
      <p:pic>
        <p:nvPicPr>
          <p:cNvPr id="2" name="Image 0" descr="/home/user/HumanRise/brand/assets/star/star-white.png">    </p:cNvPr>
          <p:cNvPicPr>
            <a:picLocks noChangeAspect="1"/>
          </p:cNvPicPr>
          <p:nvPr/>
        </p:nvPicPr>
        <p:blipFill>
          <a:blip r:embed="rId1"/>
          <a:stretch>
            <a:fillRect/>
          </a:stretch>
        </p:blipFill>
        <p:spPr>
          <a:xfrm>
            <a:off x="7040880" y="914400"/>
            <a:ext cx="6217920" cy="6217920"/>
          </a:xfrm>
          <a:prstGeom prst="rect">
            <a:avLst/>
          </a:prstGeom>
        </p:spPr>
      </p:pic>
      <p:pic>
        <p:nvPicPr>
          <p:cNvPr id="3" name="Image 1" descr="/tmp/claude-0/-home-user-HumanRise/ef620e0f-4658-549d-b913-69843549f640/scratchpad/deck/img/logo-white-800.png">    </p:cNvPr>
          <p:cNvPicPr>
            <a:picLocks noChangeAspect="1"/>
          </p:cNvPicPr>
          <p:nvPr/>
        </p:nvPicPr>
        <p:blipFill>
          <a:blip r:embed="rId2"/>
          <a:stretch>
            <a:fillRect/>
          </a:stretch>
        </p:blipFill>
        <p:spPr>
          <a:xfrm>
            <a:off x="731520" y="594360"/>
            <a:ext cx="1463040" cy="929030"/>
          </a:xfrm>
          <a:prstGeom prst="rect">
            <a:avLst/>
          </a:prstGeom>
        </p:spPr>
      </p:pic>
      <p:sp>
        <p:nvSpPr>
          <p:cNvPr id="4" name="Text 0"/>
          <p:cNvSpPr txBox="1"/>
          <p:nvPr/>
        </p:nvSpPr>
        <p:spPr>
          <a:xfrm>
            <a:off x="731520" y="2468880"/>
            <a:ext cx="731520" cy="731520"/>
          </a:xfrm>
          <a:prstGeom prst="ellipse">
            <a:avLst/>
          </a:prstGeom>
          <a:solidFill>
            <a:srgbClr val="7869BC"/>
          </a:solidFill>
          <a:ln w="25400">
            <a:solidFill>
              <a:srgbClr val="FFFFFF"/>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10</a:t>
            </a:r>
            <a:endParaRPr lang="en-US" sz="1500" dirty="0"/>
          </a:p>
        </p:txBody>
      </p:sp>
      <p:sp>
        <p:nvSpPr>
          <p:cNvPr id="5" name="Text 1"/>
          <p:cNvSpPr txBox="1"/>
          <p:nvPr/>
        </p:nvSpPr>
        <p:spPr>
          <a:xfrm>
            <a:off x="731520" y="3383280"/>
            <a:ext cx="7863840" cy="96012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Partners &amp; linking</a:t>
            </a:r>
            <a:endParaRPr lang="en-US" sz="5400" dirty="0"/>
          </a:p>
        </p:txBody>
      </p:sp>
      <p:sp>
        <p:nvSpPr>
          <p:cNvPr id="6" name="Text 2"/>
          <p:cNvSpPr txBox="1"/>
          <p:nvPr/>
        </p:nvSpPr>
        <p:spPr>
          <a:xfrm>
            <a:off x="731520" y="4480560"/>
            <a:ext cx="6400800" cy="822960"/>
          </a:xfrm>
          <a:prstGeom prst="rect">
            <a:avLst/>
          </a:prstGeom>
          <a:noFill/>
          <a:ln/>
        </p:spPr>
        <p:txBody>
          <a:bodyPr wrap="square" lIns="0" tIns="0" rIns="0" bIns="0" rtlCol="0" anchor="t"/>
          <a:lstStyle/>
          <a:p>
            <a:pPr indent="0" marL="0">
              <a:buNone/>
            </a:pPr>
            <a:r>
              <a:rPr lang="en-US" sz="1800" dirty="0">
                <a:solidFill>
                  <a:srgbClr val="EEEBF8"/>
                </a:solidFill>
                <a:latin typeface="Arial" pitchFamily="34" charset="0"/>
                <a:ea typeface="Arial" pitchFamily="34" charset="-122"/>
                <a:cs typeface="Arial" pitchFamily="34" charset="-120"/>
              </a:rPr>
              <a:t>For partners, clients, venues, job boards and media who mention, link to or co-brand with HumanRise.</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10</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PARTNERS &amp; LINKING</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Mentioning us and co-branding.</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691640"/>
            <a:ext cx="4937760" cy="4206240"/>
          </a:xfrm>
          <a:prstGeom prst="rect">
            <a:avLst/>
          </a:prstGeom>
          <a:noFill/>
          <a:ln/>
        </p:spPr>
        <p:txBody>
          <a:bodyPr wrap="square" lIns="0" tIns="0" rIns="0" bIns="0" rtlCol="0" anchor="t"/>
          <a:lstStyle/>
          <a:p>
            <a:pPr marL="177800" indent="-177800">
              <a:spcAft>
                <a:spcPts val="1200"/>
              </a:spcAft>
              <a:buSzPct val="100000"/>
              <a:buChar char="•"/>
            </a:pPr>
            <a:r>
              <a:rPr lang="en-US" sz="1350" b="1" dirty="0">
                <a:solidFill>
                  <a:srgbClr val="474557"/>
                </a:solidFill>
                <a:latin typeface="Arial" pitchFamily="34" charset="0"/>
                <a:ea typeface="Arial" pitchFamily="34" charset="-122"/>
                <a:cs typeface="Arial" pitchFamily="34" charset="-120"/>
              </a:rPr>
              <a:t>Write HumanRise </a:t>
            </a:r>
            <a:r>
              <a:rPr lang="en-US" sz="1350" dirty="0">
                <a:solidFill>
                  <a:srgbClr val="474557"/>
                </a:solidFill>
                <a:latin typeface="Arial" pitchFamily="34" charset="0"/>
                <a:ea typeface="Arial" pitchFamily="34" charset="-122"/>
                <a:cs typeface="Arial" pitchFamily="34" charset="-120"/>
              </a:rPr>
              <a:t>as one word with a capital H and R. Use HumanRise ZA (Pty) Ltd in contracts.</a:t>
            </a:r>
            <a:endParaRPr lang="en-US" sz="1350" dirty="0"/>
          </a:p>
          <a:p>
            <a:pPr marL="177800" indent="-177800">
              <a:spcAft>
                <a:spcPts val="1200"/>
              </a:spcAft>
              <a:buSzPct val="100000"/>
              <a:buChar char="•"/>
            </a:pPr>
            <a:r>
              <a:rPr lang="en-US" sz="1350" dirty="0">
                <a:solidFill>
                  <a:srgbClr val="474557"/>
                </a:solidFill>
                <a:latin typeface="Arial" pitchFamily="34" charset="0"/>
                <a:ea typeface="Arial" pitchFamily="34" charset="-122"/>
                <a:cs typeface="Arial" pitchFamily="34" charset="-120"/>
              </a:rPr>
              <a:t>Describe us as a “people-first HR and recruitment partner”, or use a boilerplate.</a:t>
            </a:r>
            <a:endParaRPr lang="en-US" sz="1350" dirty="0"/>
          </a:p>
          <a:p>
            <a:pPr marL="177800" indent="-177800">
              <a:spcAft>
                <a:spcPts val="1200"/>
              </a:spcAft>
              <a:buSzPct val="100000"/>
              <a:buChar char="•"/>
            </a:pPr>
            <a:r>
              <a:rPr lang="en-US" sz="1350" dirty="0">
                <a:solidFill>
                  <a:srgbClr val="474557"/>
                </a:solidFill>
                <a:latin typeface="Arial" pitchFamily="34" charset="0"/>
                <a:ea typeface="Arial" pitchFamily="34" charset="-122"/>
                <a:cs typeface="Arial" pitchFamily="34" charset="-120"/>
              </a:rPr>
              <a:t>Credit lines: “Recruitment partner: HumanRise”, “Training by HumanRise”, “In partnership with HumanRise”.</a:t>
            </a:r>
            <a:endParaRPr lang="en-US" sz="1350" dirty="0"/>
          </a:p>
          <a:p>
            <a:pPr marL="177800" indent="-177800">
              <a:spcAft>
                <a:spcPts val="1200"/>
              </a:spcAft>
              <a:buSzPct val="100000"/>
              <a:buChar char="•"/>
            </a:pPr>
            <a:r>
              <a:rPr lang="en-US" sz="1350" dirty="0">
                <a:solidFill>
                  <a:srgbClr val="474557"/>
                </a:solidFill>
                <a:latin typeface="Arial" pitchFamily="34" charset="0"/>
                <a:ea typeface="Arial" pitchFamily="34" charset="-122"/>
                <a:cs typeface="Arial" pitchFamily="34" charset="-120"/>
              </a:rPr>
              <a:t>Don’t present HumanRise as endorsing a product or service without our written agreement.</a:t>
            </a:r>
            <a:endParaRPr lang="en-US" sz="1350" dirty="0"/>
          </a:p>
        </p:txBody>
      </p:sp>
      <p:sp>
        <p:nvSpPr>
          <p:cNvPr id="7" name="Shape 4"/>
          <p:cNvSpPr/>
          <p:nvPr/>
        </p:nvSpPr>
        <p:spPr>
          <a:xfrm>
            <a:off x="5852160" y="1691640"/>
            <a:ext cx="5788152" cy="2240280"/>
          </a:xfrm>
          <a:prstGeom prst="roundRect">
            <a:avLst>
              <a:gd name="adj" fmla="val 4898"/>
            </a:avLst>
          </a:prstGeom>
          <a:solidFill>
            <a:srgbClr val="FFFFFF"/>
          </a:solidFill>
          <a:ln w="9525">
            <a:solidFill>
              <a:srgbClr val="E2E1EA"/>
            </a:solidFill>
            <a:prstDash val="solid"/>
          </a:ln>
        </p:spPr>
      </p:sp>
      <p:pic>
        <p:nvPicPr>
          <p:cNvPr id="8" name="Image 1" descr="/tmp/claude-0/-home-user-HumanRise/ef620e0f-4658-549d-b913-69843549f640/scratchpad/deck/img/lockup.png">    </p:cNvPr>
          <p:cNvPicPr>
            <a:picLocks noChangeAspect="1"/>
          </p:cNvPicPr>
          <p:nvPr/>
        </p:nvPicPr>
        <p:blipFill>
          <a:blip r:embed="rId2"/>
          <a:stretch>
            <a:fillRect/>
          </a:stretch>
        </p:blipFill>
        <p:spPr>
          <a:xfrm>
            <a:off x="6172200" y="1737360"/>
            <a:ext cx="4023360" cy="1768450"/>
          </a:xfrm>
          <a:prstGeom prst="rect">
            <a:avLst/>
          </a:prstGeom>
        </p:spPr>
      </p:pic>
      <p:sp>
        <p:nvSpPr>
          <p:cNvPr id="9" name="Text 5"/>
          <p:cNvSpPr txBox="1"/>
          <p:nvPr/>
        </p:nvSpPr>
        <p:spPr>
          <a:xfrm>
            <a:off x="6035040" y="3429000"/>
            <a:ext cx="5440680" cy="45720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Partnership lock-up: equal visual size, a Lavender 200 divider and 2X clear space around each logo.</a:t>
            </a:r>
            <a:endParaRPr lang="en-US" sz="1050" dirty="0"/>
          </a:p>
        </p:txBody>
      </p:sp>
      <p:sp>
        <p:nvSpPr>
          <p:cNvPr id="10" name="Shape 6"/>
          <p:cNvSpPr/>
          <p:nvPr/>
        </p:nvSpPr>
        <p:spPr>
          <a:xfrm>
            <a:off x="5852160" y="4069080"/>
            <a:ext cx="5788152" cy="1874520"/>
          </a:xfrm>
          <a:prstGeom prst="roundRect">
            <a:avLst>
              <a:gd name="adj" fmla="val 5854"/>
            </a:avLst>
          </a:prstGeom>
          <a:solidFill>
            <a:srgbClr val="FFFFFF"/>
          </a:solidFill>
          <a:ln w="9525">
            <a:solidFill>
              <a:srgbClr val="E2E1EA"/>
            </a:solidFill>
            <a:prstDash val="solid"/>
          </a:ln>
        </p:spPr>
      </p:sp>
      <p:pic>
        <p:nvPicPr>
          <p:cNvPr id="11" name="Image 2" descr="/tmp/claude-0/-home-user-HumanRise/ef620e0f-4658-549d-b913-69843549f640/scratchpad/deck/img/endorse.png">    </p:cNvPr>
          <p:cNvPicPr>
            <a:picLocks noChangeAspect="1"/>
          </p:cNvPicPr>
          <p:nvPr/>
        </p:nvPicPr>
        <p:blipFill>
          <a:blip r:embed="rId3"/>
          <a:stretch>
            <a:fillRect/>
          </a:stretch>
        </p:blipFill>
        <p:spPr>
          <a:xfrm>
            <a:off x="6172200" y="4114800"/>
            <a:ext cx="4023360" cy="1328623"/>
          </a:xfrm>
          <a:prstGeom prst="rect">
            <a:avLst/>
          </a:prstGeom>
        </p:spPr>
      </p:pic>
      <p:sp>
        <p:nvSpPr>
          <p:cNvPr id="12" name="Text 7"/>
          <p:cNvSpPr txBox="1"/>
          <p:nvPr/>
        </p:nvSpPr>
        <p:spPr>
          <a:xfrm>
            <a:off x="6035040" y="5440680"/>
            <a:ext cx="5440680" cy="457200"/>
          </a:xfrm>
          <a:prstGeom prst="rect">
            <a:avLst/>
          </a:prstGeom>
          <a:noFill/>
          <a:ln/>
        </p:spPr>
        <p:txBody>
          <a:bodyPr wrap="square" lIns="0" tIns="0" rIns="0" bIns="0" rtlCol="0" anchor="t"/>
          <a:lstStyle/>
          <a:p>
            <a:pPr indent="0" marL="0">
              <a:buNone/>
            </a:pPr>
            <a:r>
              <a:rPr lang="en-US" sz="1050" dirty="0">
                <a:solidFill>
                  <a:srgbClr val="6A6782"/>
                </a:solidFill>
                <a:latin typeface="Arial" pitchFamily="34" charset="0"/>
                <a:ea typeface="Arial" pitchFamily="34" charset="-122"/>
                <a:cs typeface="Arial" pitchFamily="34" charset="-120"/>
              </a:rPr>
              <a:t>Endorsement: on partner-led material, our logo follows “in partnership with”, at no less than the minimum size.</a:t>
            </a:r>
            <a:endParaRPr lang="en-US" sz="10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10</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PARTNERS &amp; LINKING</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Co-branding rules and approval.</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91640"/>
            <a:ext cx="5440680" cy="2148840"/>
          </a:xfrm>
          <a:prstGeom prst="roundRect">
            <a:avLst>
              <a:gd name="adj" fmla="val 5106"/>
            </a:avLst>
          </a:prstGeom>
          <a:solidFill>
            <a:srgbClr val="FFFFFF"/>
          </a:solidFill>
          <a:ln w="9525">
            <a:solidFill>
              <a:srgbClr val="E2E1EA"/>
            </a:solidFill>
            <a:prstDash val="solid"/>
          </a:ln>
        </p:spPr>
      </p:sp>
      <p:sp>
        <p:nvSpPr>
          <p:cNvPr id="7" name="Shape 4"/>
          <p:cNvSpPr/>
          <p:nvPr/>
        </p:nvSpPr>
        <p:spPr>
          <a:xfrm>
            <a:off x="6199632" y="1691640"/>
            <a:ext cx="5440680" cy="2148840"/>
          </a:xfrm>
          <a:prstGeom prst="roundRect">
            <a:avLst>
              <a:gd name="adj" fmla="val 5106"/>
            </a:avLst>
          </a:prstGeom>
          <a:solidFill>
            <a:srgbClr val="FFFFFF"/>
          </a:solidFill>
          <a:ln w="9525">
            <a:solidFill>
              <a:srgbClr val="E2E1EA"/>
            </a:solidFill>
            <a:prstDash val="solid"/>
          </a:ln>
        </p:spPr>
      </p:sp>
      <p:pic>
        <p:nvPicPr>
          <p:cNvPr id="8" name="Image 1" descr="preencoded.png">    </p:cNvPr>
          <p:cNvPicPr>
            <a:picLocks noChangeAspect="1"/>
          </p:cNvPicPr>
          <p:nvPr/>
        </p:nvPicPr>
        <p:blipFill>
          <a:blip r:embed="rId2"/>
          <a:stretch>
            <a:fillRect/>
          </a:stretch>
        </p:blipFill>
        <p:spPr>
          <a:xfrm>
            <a:off x="731520" y="1828800"/>
            <a:ext cx="237744" cy="237744"/>
          </a:xfrm>
          <a:prstGeom prst="rect">
            <a:avLst/>
          </a:prstGeom>
        </p:spPr>
      </p:pic>
      <p:sp>
        <p:nvSpPr>
          <p:cNvPr id="9" name="Text 5"/>
          <p:cNvSpPr txBox="1"/>
          <p:nvPr/>
        </p:nvSpPr>
        <p:spPr>
          <a:xfrm>
            <a:off x="1051560" y="1819656"/>
            <a:ext cx="3657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Do</a:t>
            </a:r>
            <a:endParaRPr lang="en-US" sz="1300" dirty="0"/>
          </a:p>
        </p:txBody>
      </p:sp>
      <p:sp>
        <p:nvSpPr>
          <p:cNvPr id="10" name="Text 6"/>
          <p:cNvSpPr txBox="1"/>
          <p:nvPr/>
        </p:nvSpPr>
        <p:spPr>
          <a:xfrm>
            <a:off x="777240" y="2148840"/>
            <a:ext cx="5029200" cy="16002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Use our master logo files, unaltered</a:t>
            </a:r>
            <a:endParaRPr lang="en-US" sz="1200" dirty="0"/>
          </a:p>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Give each logo its own clear space</a:t>
            </a:r>
            <a:endParaRPr lang="en-US" sz="1200" dirty="0"/>
          </a:p>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Full colour on white, white logo on dark colours</a:t>
            </a:r>
            <a:endParaRPr lang="en-US" sz="1200" dirty="0"/>
          </a:p>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Send artwork for approval before it goes out</a:t>
            </a:r>
            <a:endParaRPr lang="en-US" sz="1200" dirty="0"/>
          </a:p>
        </p:txBody>
      </p:sp>
      <p:pic>
        <p:nvPicPr>
          <p:cNvPr id="11" name="Image 2" descr="preencoded.png">    </p:cNvPr>
          <p:cNvPicPr>
            <a:picLocks noChangeAspect="1"/>
          </p:cNvPicPr>
          <p:nvPr/>
        </p:nvPicPr>
        <p:blipFill>
          <a:blip r:embed="rId3"/>
          <a:stretch>
            <a:fillRect/>
          </a:stretch>
        </p:blipFill>
        <p:spPr>
          <a:xfrm>
            <a:off x="6382512" y="1828800"/>
            <a:ext cx="237744" cy="237744"/>
          </a:xfrm>
          <a:prstGeom prst="rect">
            <a:avLst/>
          </a:prstGeom>
        </p:spPr>
      </p:pic>
      <p:sp>
        <p:nvSpPr>
          <p:cNvPr id="12" name="Text 7"/>
          <p:cNvSpPr txBox="1"/>
          <p:nvPr/>
        </p:nvSpPr>
        <p:spPr>
          <a:xfrm>
            <a:off x="6702552" y="1819656"/>
            <a:ext cx="3657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Don’t</a:t>
            </a:r>
            <a:endParaRPr lang="en-US" sz="1300" dirty="0"/>
          </a:p>
        </p:txBody>
      </p:sp>
      <p:sp>
        <p:nvSpPr>
          <p:cNvPr id="13" name="Text 8"/>
          <p:cNvSpPr txBox="1"/>
          <p:nvPr/>
        </p:nvSpPr>
        <p:spPr>
          <a:xfrm>
            <a:off x="6428232" y="2148840"/>
            <a:ext cx="5029200" cy="16002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Merge logos or create a combined mark</a:t>
            </a:r>
            <a:endParaRPr lang="en-US" sz="1200" dirty="0"/>
          </a:p>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Recolour either logo to match the other</a:t>
            </a:r>
            <a:endParaRPr lang="en-US" sz="1200" dirty="0"/>
          </a:p>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Shrink ours below minimum size</a:t>
            </a:r>
            <a:endParaRPr lang="en-US" sz="1200" dirty="0"/>
          </a:p>
          <a:p>
            <a:pPr marL="177800" indent="-177800">
              <a:spcAft>
                <a:spcPts val="300"/>
              </a:spcAft>
              <a:buSzPct val="100000"/>
              <a:buChar char="•"/>
            </a:pPr>
            <a:r>
              <a:rPr lang="en-US" sz="1200" dirty="0">
                <a:solidFill>
                  <a:srgbClr val="474557"/>
                </a:solidFill>
                <a:latin typeface="Arial" pitchFamily="34" charset="0"/>
                <a:ea typeface="Arial" pitchFamily="34" charset="-122"/>
                <a:cs typeface="Arial" pitchFamily="34" charset="-120"/>
              </a:rPr>
              <a:t>Use the star on its own in co-branded work</a:t>
            </a:r>
            <a:endParaRPr lang="en-US" sz="1200" dirty="0"/>
          </a:p>
        </p:txBody>
      </p:sp>
      <p:sp>
        <p:nvSpPr>
          <p:cNvPr id="14" name="Text 9"/>
          <p:cNvSpPr txBox="1"/>
          <p:nvPr/>
        </p:nvSpPr>
        <p:spPr>
          <a:xfrm>
            <a:off x="548640" y="4069080"/>
            <a:ext cx="4572000" cy="237744"/>
          </a:xfrm>
          <a:prstGeom prst="rect">
            <a:avLst/>
          </a:prstGeom>
          <a:noFill/>
          <a:ln/>
        </p:spPr>
        <p:txBody>
          <a:bodyPr wrap="square" lIns="0" tIns="0" rIns="0" bIns="0" rtlCol="0" anchor="t"/>
          <a:lstStyle/>
          <a:p>
            <a:pPr indent="0" marL="0">
              <a:buNone/>
            </a:pPr>
            <a:r>
              <a:rPr lang="en-US" sz="950" b="1" spc="200" kern="0" dirty="0">
                <a:solidFill>
                  <a:srgbClr val="6A6782"/>
                </a:solidFill>
                <a:latin typeface="Arial" pitchFamily="34" charset="0"/>
                <a:ea typeface="Arial" pitchFamily="34" charset="-122"/>
                <a:cs typeface="Arial" pitchFamily="34" charset="-120"/>
              </a:rPr>
              <a:t>GETTING APPROVAL</a:t>
            </a:r>
            <a:endParaRPr lang="en-US" sz="950" dirty="0"/>
          </a:p>
        </p:txBody>
      </p:sp>
      <p:sp>
        <p:nvSpPr>
          <p:cNvPr id="15" name="Text 10"/>
          <p:cNvSpPr txBox="1"/>
          <p:nvPr/>
        </p:nvSpPr>
        <p:spPr>
          <a:xfrm>
            <a:off x="548640" y="443484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1</a:t>
            </a:r>
            <a:endParaRPr lang="en-US" sz="1300" dirty="0"/>
          </a:p>
        </p:txBody>
      </p:sp>
      <p:sp>
        <p:nvSpPr>
          <p:cNvPr id="16" name="Shape 11"/>
          <p:cNvSpPr/>
          <p:nvPr/>
        </p:nvSpPr>
        <p:spPr>
          <a:xfrm>
            <a:off x="1115568" y="4663440"/>
            <a:ext cx="3063240" cy="0"/>
          </a:xfrm>
          <a:prstGeom prst="line">
            <a:avLst/>
          </a:prstGeom>
          <a:noFill/>
          <a:ln w="30480">
            <a:solidFill>
              <a:srgbClr val="C6C4D6"/>
            </a:solidFill>
            <a:prstDash val="sysDot"/>
          </a:ln>
        </p:spPr>
      </p:sp>
      <p:sp>
        <p:nvSpPr>
          <p:cNvPr id="17" name="Text 12"/>
          <p:cNvSpPr txBox="1"/>
          <p:nvPr/>
        </p:nvSpPr>
        <p:spPr>
          <a:xfrm>
            <a:off x="548640" y="5010912"/>
            <a:ext cx="3383280" cy="274320"/>
          </a:xfrm>
          <a:prstGeom prst="rect">
            <a:avLst/>
          </a:prstGeom>
          <a:noFill/>
          <a:ln/>
        </p:spPr>
        <p:txBody>
          <a:bodyPr wrap="square" lIns="0" tIns="0" rIns="0" bIns="0" rtlCol="0" anchor="t"/>
          <a:lstStyle/>
          <a:p>
            <a:pPr indent="0" marL="0">
              <a:buNone/>
            </a:pPr>
            <a:r>
              <a:rPr lang="en-US" sz="1350" b="1" dirty="0">
                <a:solidFill>
                  <a:srgbClr val="23222B"/>
                </a:solidFill>
                <a:latin typeface="Arial" pitchFamily="34" charset="0"/>
                <a:ea typeface="Arial" pitchFamily="34" charset="-122"/>
                <a:cs typeface="Arial" pitchFamily="34" charset="-120"/>
              </a:rPr>
              <a:t>Draft with this guide</a:t>
            </a:r>
            <a:endParaRPr lang="en-US" sz="1350" dirty="0"/>
          </a:p>
        </p:txBody>
      </p:sp>
      <p:sp>
        <p:nvSpPr>
          <p:cNvPr id="18" name="Text 13"/>
          <p:cNvSpPr txBox="1"/>
          <p:nvPr/>
        </p:nvSpPr>
        <p:spPr>
          <a:xfrm>
            <a:off x="548640" y="5303520"/>
            <a:ext cx="3291840" cy="59436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Use the master files, colours and wording.</a:t>
            </a:r>
            <a:endParaRPr lang="en-US" sz="1100" dirty="0"/>
          </a:p>
        </p:txBody>
      </p:sp>
      <p:sp>
        <p:nvSpPr>
          <p:cNvPr id="19" name="Text 14"/>
          <p:cNvSpPr txBox="1"/>
          <p:nvPr/>
        </p:nvSpPr>
        <p:spPr>
          <a:xfrm>
            <a:off x="4297680" y="443484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2</a:t>
            </a:r>
            <a:endParaRPr lang="en-US" sz="1300" dirty="0"/>
          </a:p>
        </p:txBody>
      </p:sp>
      <p:sp>
        <p:nvSpPr>
          <p:cNvPr id="20" name="Shape 15"/>
          <p:cNvSpPr/>
          <p:nvPr/>
        </p:nvSpPr>
        <p:spPr>
          <a:xfrm>
            <a:off x="4864608" y="4663440"/>
            <a:ext cx="3063240" cy="0"/>
          </a:xfrm>
          <a:prstGeom prst="line">
            <a:avLst/>
          </a:prstGeom>
          <a:noFill/>
          <a:ln w="30480">
            <a:solidFill>
              <a:srgbClr val="C6C4D6"/>
            </a:solidFill>
            <a:prstDash val="sysDot"/>
          </a:ln>
        </p:spPr>
      </p:sp>
      <p:sp>
        <p:nvSpPr>
          <p:cNvPr id="21" name="Text 16"/>
          <p:cNvSpPr txBox="1"/>
          <p:nvPr/>
        </p:nvSpPr>
        <p:spPr>
          <a:xfrm>
            <a:off x="4297680" y="5010912"/>
            <a:ext cx="3383280" cy="274320"/>
          </a:xfrm>
          <a:prstGeom prst="rect">
            <a:avLst/>
          </a:prstGeom>
          <a:noFill/>
          <a:ln/>
        </p:spPr>
        <p:txBody>
          <a:bodyPr wrap="square" lIns="0" tIns="0" rIns="0" bIns="0" rtlCol="0" anchor="t"/>
          <a:lstStyle/>
          <a:p>
            <a:pPr indent="0" marL="0">
              <a:buNone/>
            </a:pPr>
            <a:r>
              <a:rPr lang="en-US" sz="1350" b="1" dirty="0">
                <a:solidFill>
                  <a:srgbClr val="23222B"/>
                </a:solidFill>
                <a:latin typeface="Arial" pitchFamily="34" charset="0"/>
                <a:ea typeface="Arial" pitchFamily="34" charset="-122"/>
                <a:cs typeface="Arial" pitchFamily="34" charset="-120"/>
              </a:rPr>
              <a:t>Send it to us</a:t>
            </a:r>
            <a:endParaRPr lang="en-US" sz="1350" dirty="0"/>
          </a:p>
        </p:txBody>
      </p:sp>
      <p:sp>
        <p:nvSpPr>
          <p:cNvPr id="22" name="Text 17"/>
          <p:cNvSpPr txBox="1"/>
          <p:nvPr/>
        </p:nvSpPr>
        <p:spPr>
          <a:xfrm>
            <a:off x="4297680" y="5303520"/>
            <a:ext cx="3291840" cy="59436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Email info@humanrise.co.za with the artwork, where it will appear, dates and quantities.</a:t>
            </a:r>
            <a:endParaRPr lang="en-US" sz="1100" dirty="0"/>
          </a:p>
        </p:txBody>
      </p:sp>
      <p:sp>
        <p:nvSpPr>
          <p:cNvPr id="23" name="Text 18"/>
          <p:cNvSpPr txBox="1"/>
          <p:nvPr/>
        </p:nvSpPr>
        <p:spPr>
          <a:xfrm>
            <a:off x="8046720" y="4434840"/>
            <a:ext cx="457200" cy="45720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300" b="1" dirty="0">
                <a:solidFill>
                  <a:srgbClr val="456285"/>
                </a:solidFill>
                <a:latin typeface="Arial" pitchFamily="34" charset="0"/>
                <a:ea typeface="Arial" pitchFamily="34" charset="-122"/>
                <a:cs typeface="Arial" pitchFamily="34" charset="-120"/>
              </a:rPr>
              <a:t>3</a:t>
            </a:r>
            <a:endParaRPr lang="en-US" sz="1300" dirty="0"/>
          </a:p>
        </p:txBody>
      </p:sp>
      <p:sp>
        <p:nvSpPr>
          <p:cNvPr id="24" name="Text 19"/>
          <p:cNvSpPr txBox="1"/>
          <p:nvPr/>
        </p:nvSpPr>
        <p:spPr>
          <a:xfrm>
            <a:off x="8046720" y="5010912"/>
            <a:ext cx="3383280" cy="274320"/>
          </a:xfrm>
          <a:prstGeom prst="rect">
            <a:avLst/>
          </a:prstGeom>
          <a:noFill/>
          <a:ln/>
        </p:spPr>
        <p:txBody>
          <a:bodyPr wrap="square" lIns="0" tIns="0" rIns="0" bIns="0" rtlCol="0" anchor="t"/>
          <a:lstStyle/>
          <a:p>
            <a:pPr indent="0" marL="0">
              <a:buNone/>
            </a:pPr>
            <a:r>
              <a:rPr lang="en-US" sz="1350" b="1" dirty="0">
                <a:solidFill>
                  <a:srgbClr val="23222B"/>
                </a:solidFill>
                <a:latin typeface="Arial" pitchFamily="34" charset="0"/>
                <a:ea typeface="Arial" pitchFamily="34" charset="-122"/>
                <a:cs typeface="Arial" pitchFamily="34" charset="-120"/>
              </a:rPr>
              <a:t>Approve and publish</a:t>
            </a:r>
            <a:endParaRPr lang="en-US" sz="1350" dirty="0"/>
          </a:p>
        </p:txBody>
      </p:sp>
      <p:sp>
        <p:nvSpPr>
          <p:cNvPr id="25" name="Text 20"/>
          <p:cNvSpPr txBox="1"/>
          <p:nvPr/>
        </p:nvSpPr>
        <p:spPr>
          <a:xfrm>
            <a:off x="8046720" y="5303520"/>
            <a:ext cx="3291840" cy="594360"/>
          </a:xfrm>
          <a:prstGeom prst="rect">
            <a:avLst/>
          </a:prstGeom>
          <a:noFill/>
          <a:ln/>
        </p:spPr>
        <p:txBody>
          <a:bodyPr wrap="square" lIns="0" tIns="0" rIns="0" bIns="0" rtlCol="0" anchor="t"/>
          <a:lstStyle/>
          <a:p>
            <a:pPr indent="0" marL="0">
              <a:buNone/>
            </a:pPr>
            <a:r>
              <a:rPr lang="en-US" sz="1100" dirty="0">
                <a:solidFill>
                  <a:srgbClr val="474557"/>
                </a:solidFill>
                <a:latin typeface="Arial" pitchFamily="34" charset="0"/>
                <a:ea typeface="Arial" pitchFamily="34" charset="-122"/>
                <a:cs typeface="Arial" pitchFamily="34" charset="-120"/>
              </a:rPr>
              <a:t>We reply with approval or changes. Allow time before print deadlines.</a:t>
            </a:r>
            <a:endParaRPr lang="en-US" sz="11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10</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PARTNERS &amp; LINKING</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Linking online.</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011680"/>
                <a:gridCol w="4206240"/>
                <a:gridCol w="4876495"/>
              </a:tblGrid>
              <a:tr h="320040">
                <a:tc>
                  <a:txBody>
                    <a:bodyPr/>
                    <a:lstStyle/>
                    <a:p>
                      <a:pPr indent="0" marL="0">
                        <a:buNone/>
                      </a:pPr>
                      <a:r>
                        <a:rPr lang="en-US" sz="1100" b="1" dirty="0">
                          <a:solidFill>
                            <a:srgbClr val="23222B"/>
                          </a:solidFill>
                          <a:latin typeface="Arial" pitchFamily="34" charset="0"/>
                          <a:ea typeface="Arial" pitchFamily="34" charset="-122"/>
                          <a:cs typeface="Arial" pitchFamily="34" charset="-120"/>
                        </a:rPr>
                        <a:t>Link to</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Address</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00" b="1" dirty="0">
                          <a:solidFill>
                            <a:srgbClr val="23222B"/>
                          </a:solidFill>
                          <a:latin typeface="Arial" pitchFamily="34" charset="0"/>
                          <a:ea typeface="Arial" pitchFamily="34" charset="-122"/>
                          <a:cs typeface="Arial" pitchFamily="34" charset="-120"/>
                        </a:rPr>
                        <a:t>Suggested link text</a:t>
                      </a:r>
                      <a:endParaRPr lang="en-US" sz="11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HumanRise home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https://humanrise.co.za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HumanRise · people-first HR &amp; recruitment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Live vacancies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https://jobs.humanrise.co.za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Browse jobs at HumanRise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Submit a CV</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https://humanrise.co.za/submit-cv.html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Submit your CV to HumanRise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Business services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https://humanrise.co.za/business.html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Recruitment and HR support for businesses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Training courses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https://humanrise.co.za/services.html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HumanRise training courses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Contact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https://humanrise.co.za/contact.html</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Contact HumanRise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LinkedIn</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linkedin.com/company/humanriseza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Follow HumanRise on LinkedIn</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20040">
                <a:tc>
                  <a:txBody>
                    <a:bodyPr/>
                    <a:lstStyle/>
                    <a:p>
                      <a:pPr indent="0" marL="0">
                        <a:buNone/>
                      </a:pPr>
                      <a:r>
                        <a:rPr lang="en-US" sz="1150" dirty="0">
                          <a:solidFill>
                            <a:srgbClr val="23222B"/>
                          </a:solidFill>
                          <a:latin typeface="Arial" pitchFamily="34" charset="0"/>
                          <a:ea typeface="Arial" pitchFamily="34" charset="-122"/>
                          <a:cs typeface="Arial" pitchFamily="34" charset="-120"/>
                        </a:rPr>
                        <a:t>Career enhancement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050" dirty="0">
                          <a:solidFill>
                            <a:srgbClr val="23222B"/>
                          </a:solidFill>
                          <a:latin typeface="Courier New" pitchFamily="34" charset="0"/>
                          <a:ea typeface="Courier New" pitchFamily="34" charset="-122"/>
                          <a:cs typeface="Courier New" pitchFamily="34" charset="-120"/>
                        </a:rPr>
                        <a:t>https://careercat.co.za</a:t>
                      </a:r>
                      <a:endParaRPr lang="en-US" sz="105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150" dirty="0">
                          <a:solidFill>
                            <a:srgbClr val="23222B"/>
                          </a:solidFill>
                          <a:latin typeface="Arial" pitchFamily="34" charset="0"/>
                          <a:ea typeface="Arial" pitchFamily="34" charset="-122"/>
                          <a:cs typeface="Arial" pitchFamily="34" charset="-120"/>
                        </a:rPr>
                        <a:t>CV writing and coaching with the Career Cat</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7" name="Text 3"/>
          <p:cNvSpPr txBox="1"/>
          <p:nvPr/>
        </p:nvSpPr>
        <p:spPr>
          <a:xfrm>
            <a:off x="548640" y="4645152"/>
            <a:ext cx="10058400" cy="146304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Link our logo to https://humanrise.co.za. Use descriptive link text, never “click here”.</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Link to jobs.humanrise.co.za instead of copying our adverts, so roles stay current and applications stay secure.</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Tag HumanRise on LinkedIn and use #HumanRise and #OvercomingLimits.</a:t>
            </a:r>
            <a:endParaRPr lang="en-US" sz="1150" dirty="0"/>
          </a:p>
          <a:p>
            <a:pPr marL="177800" indent="-177800">
              <a:spcAft>
                <a:spcPts val="300"/>
              </a:spcAft>
              <a:buSzPct val="100000"/>
              <a:buChar char="•"/>
            </a:pPr>
            <a:r>
              <a:rPr lang="en-US" sz="1150" dirty="0">
                <a:solidFill>
                  <a:srgbClr val="474557"/>
                </a:solidFill>
                <a:latin typeface="Arial" pitchFamily="34" charset="0"/>
                <a:ea typeface="Arial" pitchFamily="34" charset="-122"/>
                <a:cs typeface="Arial" pitchFamily="34" charset="-120"/>
              </a:rPr>
              <a:t>Add tracking so we can thank you: humanrise.co.za/?utm_source=careercat&amp;utm_medium=referral&amp;utm_campaign=partner-page</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10</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PARTNERS &amp; LINKING</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Compliance and trust lines.</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91640"/>
            <a:ext cx="11094415" cy="1207008"/>
          </a:xfrm>
          <a:prstGeom prst="roundRect">
            <a:avLst>
              <a:gd name="adj" fmla="val 9091"/>
            </a:avLst>
          </a:prstGeom>
          <a:solidFill>
            <a:srgbClr val="F7F6FB"/>
          </a:solidFill>
          <a:ln w="9525">
            <a:solidFill>
              <a:srgbClr val="E2E1EA"/>
            </a:solidFill>
            <a:prstDash val="solid"/>
          </a:ln>
        </p:spPr>
      </p:sp>
      <p:sp>
        <p:nvSpPr>
          <p:cNvPr id="7" name="Text 4"/>
          <p:cNvSpPr txBox="1"/>
          <p:nvPr/>
        </p:nvSpPr>
        <p:spPr>
          <a:xfrm>
            <a:off x="777240" y="1828800"/>
            <a:ext cx="5486400" cy="219456"/>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POPIA · FORMS AND ADVERTS</a:t>
            </a:r>
            <a:endParaRPr lang="en-US" sz="900" dirty="0"/>
          </a:p>
        </p:txBody>
      </p:sp>
      <p:sp>
        <p:nvSpPr>
          <p:cNvPr id="8" name="Text 5"/>
          <p:cNvSpPr txBox="1"/>
          <p:nvPr/>
        </p:nvSpPr>
        <p:spPr>
          <a:xfrm>
            <a:off x="777240" y="2103120"/>
            <a:ext cx="10637215" cy="731520"/>
          </a:xfrm>
          <a:prstGeom prst="rect">
            <a:avLst/>
          </a:prstGeom>
          <a:noFill/>
          <a:ln/>
        </p:spPr>
        <p:txBody>
          <a:bodyPr wrap="square" lIns="0" tIns="0" rIns="0" bIns="0" rtlCol="0" anchor="t"/>
          <a:lstStyle/>
          <a:p>
            <a:pPr indent="0" marL="0">
              <a:buNone/>
            </a:pPr>
            <a:r>
              <a:rPr lang="en-US" sz="1300" dirty="0">
                <a:solidFill>
                  <a:srgbClr val="23222B"/>
                </a:solidFill>
                <a:latin typeface="Arial" pitchFamily="34" charset="0"/>
                <a:ea typeface="Arial" pitchFamily="34" charset="-122"/>
                <a:cs typeface="Arial" pitchFamily="34" charset="-120"/>
              </a:rPr>
              <a:t>By submitting your information, you agree that HumanRise may process your personal information for recruitment purposes, in line with the Protection of Personal Information Act (POPIA). Read our privacy policy at humanrise.co.za.</a:t>
            </a:r>
            <a:endParaRPr lang="en-US" sz="1300" dirty="0"/>
          </a:p>
        </p:txBody>
      </p:sp>
      <p:sp>
        <p:nvSpPr>
          <p:cNvPr id="9" name="Shape 6"/>
          <p:cNvSpPr/>
          <p:nvPr/>
        </p:nvSpPr>
        <p:spPr>
          <a:xfrm>
            <a:off x="548640" y="3063240"/>
            <a:ext cx="11094415" cy="1207008"/>
          </a:xfrm>
          <a:prstGeom prst="roundRect">
            <a:avLst>
              <a:gd name="adj" fmla="val 9091"/>
            </a:avLst>
          </a:prstGeom>
          <a:solidFill>
            <a:srgbClr val="FFFFFF"/>
          </a:solidFill>
          <a:ln w="9525">
            <a:solidFill>
              <a:srgbClr val="E2E1EA"/>
            </a:solidFill>
            <a:prstDash val="solid"/>
          </a:ln>
        </p:spPr>
      </p:sp>
      <p:sp>
        <p:nvSpPr>
          <p:cNvPr id="10" name="Text 7"/>
          <p:cNvSpPr txBox="1"/>
          <p:nvPr/>
        </p:nvSpPr>
        <p:spPr>
          <a:xfrm>
            <a:off x="777240" y="3200400"/>
            <a:ext cx="5486400" cy="219456"/>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AI USE · WHERE RELEVANT</a:t>
            </a:r>
            <a:endParaRPr lang="en-US" sz="900" dirty="0"/>
          </a:p>
        </p:txBody>
      </p:sp>
      <p:sp>
        <p:nvSpPr>
          <p:cNvPr id="11" name="Text 8"/>
          <p:cNvSpPr txBox="1"/>
          <p:nvPr/>
        </p:nvSpPr>
        <p:spPr>
          <a:xfrm>
            <a:off x="777240" y="3474720"/>
            <a:ext cx="10637215" cy="731520"/>
          </a:xfrm>
          <a:prstGeom prst="rect">
            <a:avLst/>
          </a:prstGeom>
          <a:noFill/>
          <a:ln/>
        </p:spPr>
        <p:txBody>
          <a:bodyPr wrap="square" lIns="0" tIns="0" rIns="0" bIns="0" rtlCol="0" anchor="t"/>
          <a:lstStyle/>
          <a:p>
            <a:pPr indent="0" marL="0">
              <a:buNone/>
            </a:pPr>
            <a:r>
              <a:rPr lang="en-US" sz="1300" dirty="0">
                <a:solidFill>
                  <a:srgbClr val="23222B"/>
                </a:solidFill>
                <a:latin typeface="Arial" pitchFamily="34" charset="0"/>
                <a:ea typeface="Arial" pitchFamily="34" charset="-122"/>
                <a:cs typeface="Arial" pitchFamily="34" charset="-120"/>
              </a:rPr>
              <a:t>HumanRise uses AI-assisted tools to help manage applications. A HumanRise consultant reviews every application, and no decision is made by automated processing alone.</a:t>
            </a:r>
            <a:endParaRPr lang="en-US" sz="1300" dirty="0"/>
          </a:p>
        </p:txBody>
      </p:sp>
      <p:sp>
        <p:nvSpPr>
          <p:cNvPr id="12" name="Shape 9"/>
          <p:cNvSpPr/>
          <p:nvPr/>
        </p:nvSpPr>
        <p:spPr>
          <a:xfrm>
            <a:off x="548640" y="4434840"/>
            <a:ext cx="11094415" cy="1207008"/>
          </a:xfrm>
          <a:prstGeom prst="roundRect">
            <a:avLst>
              <a:gd name="adj" fmla="val 9091"/>
            </a:avLst>
          </a:prstGeom>
          <a:solidFill>
            <a:srgbClr val="FFFFFF"/>
          </a:solidFill>
          <a:ln w="9525">
            <a:solidFill>
              <a:srgbClr val="E2E1EA"/>
            </a:solidFill>
            <a:prstDash val="solid"/>
          </a:ln>
        </p:spPr>
      </p:sp>
      <p:sp>
        <p:nvSpPr>
          <p:cNvPr id="13" name="Text 10"/>
          <p:cNvSpPr txBox="1"/>
          <p:nvPr/>
        </p:nvSpPr>
        <p:spPr>
          <a:xfrm>
            <a:off x="777240" y="4572000"/>
            <a:ext cx="5486400" cy="219456"/>
          </a:xfrm>
          <a:prstGeom prst="rect">
            <a:avLst/>
          </a:prstGeom>
          <a:noFill/>
          <a:ln/>
        </p:spPr>
        <p:txBody>
          <a:bodyPr wrap="square" lIns="0" tIns="0" rIns="0" bIns="0" rtlCol="0" anchor="t"/>
          <a:lstStyle/>
          <a:p>
            <a:pPr indent="0" marL="0">
              <a:buNone/>
            </a:pPr>
            <a:r>
              <a:rPr lang="en-US" sz="900" b="1" spc="200" kern="0" dirty="0">
                <a:solidFill>
                  <a:srgbClr val="6A6782"/>
                </a:solidFill>
                <a:latin typeface="Arial" pitchFamily="34" charset="0"/>
                <a:ea typeface="Arial" pitchFamily="34" charset="-122"/>
                <a:cs typeface="Arial" pitchFamily="34" charset="-120"/>
              </a:rPr>
              <a:t>ACCREDITATION</a:t>
            </a:r>
            <a:endParaRPr lang="en-US" sz="900" dirty="0"/>
          </a:p>
        </p:txBody>
      </p:sp>
      <p:sp>
        <p:nvSpPr>
          <p:cNvPr id="14" name="Text 11"/>
          <p:cNvSpPr txBox="1"/>
          <p:nvPr/>
        </p:nvSpPr>
        <p:spPr>
          <a:xfrm>
            <a:off x="777240" y="4846320"/>
            <a:ext cx="10637215" cy="731520"/>
          </a:xfrm>
          <a:prstGeom prst="rect">
            <a:avLst/>
          </a:prstGeom>
          <a:noFill/>
          <a:ln/>
        </p:spPr>
        <p:txBody>
          <a:bodyPr wrap="square" lIns="0" tIns="0" rIns="0" bIns="0" rtlCol="0" anchor="t"/>
          <a:lstStyle/>
          <a:p>
            <a:pPr indent="0" marL="0">
              <a:buNone/>
            </a:pPr>
            <a:r>
              <a:rPr lang="en-US" sz="1300" dirty="0">
                <a:solidFill>
                  <a:srgbClr val="23222B"/>
                </a:solidFill>
                <a:latin typeface="Arial" pitchFamily="34" charset="0"/>
                <a:ea typeface="Arial" pitchFamily="34" charset="-122"/>
                <a:cs typeface="Arial" pitchFamily="34" charset="-120"/>
              </a:rPr>
              <a:t>Show “QCTO accredited” only next to accredited courses (currently My Team Motivator and Workplace Preparation), never next to the HumanRise logo on its own.</a:t>
            </a:r>
            <a:endParaRPr lang="en-US" sz="130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10</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PARTNERS &amp; LINKING</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The brand kit.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Text 3"/>
          <p:cNvSpPr txBox="1"/>
          <p:nvPr/>
        </p:nvSpPr>
        <p:spPr>
          <a:xfrm>
            <a:off x="548640" y="1645920"/>
            <a:ext cx="10058400" cy="594360"/>
          </a:xfrm>
          <a:prstGeom prst="rect">
            <a:avLst/>
          </a:prstGeom>
          <a:noFill/>
          <a:ln/>
        </p:spPr>
        <p:txBody>
          <a:bodyPr wrap="square" lIns="0" tIns="0" rIns="0" bIns="0" rtlCol="0" anchor="t"/>
          <a:lstStyle/>
          <a:p>
            <a:pPr indent="0" marL="0">
              <a:buNone/>
            </a:pPr>
            <a:r>
              <a:rPr lang="en-US" sz="1300" dirty="0">
                <a:solidFill>
                  <a:srgbClr val="474557"/>
                </a:solidFill>
                <a:latin typeface="Arial" pitchFamily="34" charset="0"/>
                <a:ea typeface="Arial" pitchFamily="34" charset="-122"/>
                <a:cs typeface="Arial" pitchFamily="34" charset="-120"/>
              </a:rPr>
              <a:t>Everything in this guide lives in the brand/ folder of the HumanRise website repository, and at humanrise.co.za/brand/ once published. For vector or print-ready files, email info@humanrise.co.za.</a:t>
            </a:r>
            <a:endParaRPr lang="en-US" sz="13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9601200" cy="914400"/>
        </p:xfrm>
        <a:graphic>
          <a:graphicData uri="http://schemas.openxmlformats.org/drawingml/2006/table">
            <a:tbl>
              <a:tblPr/>
              <a:tblGrid>
                <a:gridCol w="3840480"/>
                <a:gridCol w="5760720"/>
              </a:tblGrid>
              <a:tr h="356616">
                <a:tc>
                  <a:txBody>
                    <a:bodyPr/>
                    <a:lstStyle/>
                    <a:p>
                      <a:pPr indent="0" marL="0">
                        <a:buNone/>
                      </a:pPr>
                      <a:r>
                        <a:rPr lang="en-US" sz="1150" b="1" dirty="0">
                          <a:solidFill>
                            <a:srgbClr val="23222B"/>
                          </a:solidFill>
                          <a:latin typeface="Arial" pitchFamily="34" charset="0"/>
                          <a:ea typeface="Arial" pitchFamily="34" charset="-122"/>
                          <a:cs typeface="Arial" pitchFamily="34" charset="-120"/>
                        </a:rPr>
                        <a:t>Folder / file</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c>
                  <a:txBody>
                    <a:bodyPr/>
                    <a:lstStyle/>
                    <a:p>
                      <a:pPr indent="0" marL="0">
                        <a:buNone/>
                      </a:pPr>
                      <a:r>
                        <a:rPr lang="en-US" sz="1150" b="1" dirty="0">
                          <a:solidFill>
                            <a:srgbClr val="23222B"/>
                          </a:solidFill>
                          <a:latin typeface="Arial" pitchFamily="34" charset="0"/>
                          <a:ea typeface="Arial" pitchFamily="34" charset="-122"/>
                          <a:cs typeface="Arial" pitchFamily="34" charset="-120"/>
                        </a:rPr>
                        <a:t>Contents</a:t>
                      </a:r>
                      <a:endParaRPr lang="en-US" sz="115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solidFill>
                      <a:srgbClr val="F7F6FB"/>
                    </a:solidFill>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HumanRise-CI-Guidelines.pptx</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These guidelines as a presentation (this deck)</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HumanRise-CI-Guidelines.pdf</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Full guidelines as an A4 PDF, for print and sharing</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HumanRise-CI-Guidelines-Slides.pdf</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This deck as a PDF</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index.html</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Web version, with copy-ready email signature HTML</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tokens.css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Colour, type, radius and shadow variables for developers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assets/logo/</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Full colour, white, Deep Rise, black and email logo files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assets/star/</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Five star colourways and the profile avatar</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assets/photos/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Approved example photographs (web size)</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r h="356616">
                <a:tc>
                  <a:txBody>
                    <a:bodyPr/>
                    <a:lstStyle/>
                    <a:p>
                      <a:pPr indent="0" marL="0">
                        <a:buNone/>
                      </a:pPr>
                      <a:r>
                        <a:rPr lang="en-US" sz="1100" dirty="0">
                          <a:solidFill>
                            <a:srgbClr val="23222B"/>
                          </a:solidFill>
                          <a:latin typeface="Courier New" pitchFamily="34" charset="0"/>
                          <a:ea typeface="Courier New" pitchFamily="34" charset="-122"/>
                          <a:cs typeface="Courier New" pitchFamily="34" charset="-120"/>
                        </a:rPr>
                        <a:t>assets/partners/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c>
                  <a:txBody>
                    <a:bodyPr/>
                    <a:lstStyle/>
                    <a:p>
                      <a:pPr indent="0" marL="0">
                        <a:buNone/>
                      </a:pPr>
                      <a:r>
                        <a:rPr lang="en-US" sz="1200" dirty="0">
                          <a:solidFill>
                            <a:srgbClr val="23222B"/>
                          </a:solidFill>
                          <a:latin typeface="Arial" pitchFamily="34" charset="0"/>
                          <a:ea typeface="Arial" pitchFamily="34" charset="-122"/>
                          <a:cs typeface="Arial" pitchFamily="34" charset="-120"/>
                        </a:rPr>
                        <a:t>Partner logos for approved lock-ups</a:t>
                      </a:r>
                      <a:endParaRPr lang="en-US" sz="1200" dirty="0">
                        <a:latin typeface="Arial" charset="0"/>
                        <a:ea typeface="Arial" charset="0"/>
                        <a:cs typeface="Arial" charset="0"/>
                      </a:endParaRPr>
                    </a:p>
                  </a:txBody>
                  <a:tcPr marL="91440" marR="91440" marT="45720" marB="45720" anchor="ctr">
                    <a:lnL w="9525" cap="flat" cmpd="sng" algn="ctr">
                      <a:solidFill>
                        <a:srgbClr val="E2E1EA"/>
                      </a:solidFill>
                      <a:prstDash val="solid"/>
                      <a:round/>
                      <a:headEnd type="none" w="med" len="med"/>
                      <a:tailEnd type="none" w="med" len="med"/>
                    </a:lnL>
                    <a:lnR w="9525" cap="flat" cmpd="sng" algn="ctr">
                      <a:solidFill>
                        <a:srgbClr val="E2E1EA"/>
                      </a:solidFill>
                      <a:prstDash val="solid"/>
                      <a:round/>
                      <a:headEnd type="none" w="med" len="med"/>
                      <a:tailEnd type="none" w="med" len="med"/>
                    </a:lnR>
                    <a:lnT w="9525" cap="flat" cmpd="sng" algn="ctr">
                      <a:solidFill>
                        <a:srgbClr val="E2E1EA"/>
                      </a:solidFill>
                      <a:prstDash val="solid"/>
                      <a:round/>
                      <a:headEnd type="none" w="med" len="med"/>
                      <a:tailEnd type="none" w="med" len="med"/>
                    </a:lnT>
                    <a:lnB w="9525" cap="flat" cmpd="sng" algn="ctr">
                      <a:solidFill>
                        <a:srgbClr val="E2E1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11</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CHECKLIST</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Before anything goes out.</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45920"/>
            <a:ext cx="5349240" cy="0"/>
          </a:xfrm>
          <a:prstGeom prst="line">
            <a:avLst/>
          </a:prstGeom>
          <a:noFill/>
          <a:ln w="9525">
            <a:solidFill>
              <a:srgbClr val="E2E1EA"/>
            </a:solidFill>
            <a:prstDash val="solid"/>
          </a:ln>
        </p:spPr>
      </p:sp>
      <p:sp>
        <p:nvSpPr>
          <p:cNvPr id="7" name="Shape 4"/>
          <p:cNvSpPr/>
          <p:nvPr/>
        </p:nvSpPr>
        <p:spPr>
          <a:xfrm>
            <a:off x="548640" y="1773936"/>
            <a:ext cx="256032" cy="256032"/>
          </a:xfrm>
          <a:prstGeom prst="roundRect">
            <a:avLst>
              <a:gd name="adj" fmla="val 17857"/>
            </a:avLst>
          </a:prstGeom>
          <a:solidFill>
            <a:srgbClr val="FFFFFF"/>
          </a:solidFill>
          <a:ln w="19050">
            <a:solidFill>
              <a:srgbClr val="C6C4D6"/>
            </a:solidFill>
            <a:prstDash val="solid"/>
          </a:ln>
        </p:spPr>
      </p:sp>
      <p:sp>
        <p:nvSpPr>
          <p:cNvPr id="8" name="Text 5"/>
          <p:cNvSpPr txBox="1"/>
          <p:nvPr/>
        </p:nvSpPr>
        <p:spPr>
          <a:xfrm>
            <a:off x="960120" y="1737360"/>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The logo comes from the master files, unaltered, with 2X clear space and above minimum size.</a:t>
            </a:r>
            <a:endParaRPr lang="en-US" sz="1250" dirty="0"/>
          </a:p>
        </p:txBody>
      </p:sp>
      <p:sp>
        <p:nvSpPr>
          <p:cNvPr id="9" name="Shape 6"/>
          <p:cNvSpPr/>
          <p:nvPr/>
        </p:nvSpPr>
        <p:spPr>
          <a:xfrm>
            <a:off x="548640" y="2487168"/>
            <a:ext cx="5349240" cy="0"/>
          </a:xfrm>
          <a:prstGeom prst="line">
            <a:avLst/>
          </a:prstGeom>
          <a:noFill/>
          <a:ln w="9525">
            <a:solidFill>
              <a:srgbClr val="E2E1EA"/>
            </a:solidFill>
            <a:prstDash val="solid"/>
          </a:ln>
        </p:spPr>
      </p:sp>
      <p:sp>
        <p:nvSpPr>
          <p:cNvPr id="10" name="Shape 7"/>
          <p:cNvSpPr/>
          <p:nvPr/>
        </p:nvSpPr>
        <p:spPr>
          <a:xfrm>
            <a:off x="548640" y="2615184"/>
            <a:ext cx="256032" cy="256032"/>
          </a:xfrm>
          <a:prstGeom prst="roundRect">
            <a:avLst>
              <a:gd name="adj" fmla="val 17857"/>
            </a:avLst>
          </a:prstGeom>
          <a:solidFill>
            <a:srgbClr val="FFFFFF"/>
          </a:solidFill>
          <a:ln w="19050">
            <a:solidFill>
              <a:srgbClr val="C6C4D6"/>
            </a:solidFill>
            <a:prstDash val="solid"/>
          </a:ln>
        </p:spPr>
      </p:sp>
      <p:sp>
        <p:nvSpPr>
          <p:cNvPr id="11" name="Text 8"/>
          <p:cNvSpPr txBox="1"/>
          <p:nvPr/>
        </p:nvSpPr>
        <p:spPr>
          <a:xfrm>
            <a:off x="960120" y="2578608"/>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Full colour on white or light tints, white on dark colours. No mid-tones, no cream.</a:t>
            </a:r>
            <a:endParaRPr lang="en-US" sz="1250" dirty="0"/>
          </a:p>
        </p:txBody>
      </p:sp>
      <p:sp>
        <p:nvSpPr>
          <p:cNvPr id="12" name="Shape 9"/>
          <p:cNvSpPr/>
          <p:nvPr/>
        </p:nvSpPr>
        <p:spPr>
          <a:xfrm>
            <a:off x="548640" y="3328416"/>
            <a:ext cx="5349240" cy="0"/>
          </a:xfrm>
          <a:prstGeom prst="line">
            <a:avLst/>
          </a:prstGeom>
          <a:noFill/>
          <a:ln w="9525">
            <a:solidFill>
              <a:srgbClr val="E2E1EA"/>
            </a:solidFill>
            <a:prstDash val="solid"/>
          </a:ln>
        </p:spPr>
      </p:sp>
      <p:sp>
        <p:nvSpPr>
          <p:cNvPr id="13" name="Shape 10"/>
          <p:cNvSpPr/>
          <p:nvPr/>
        </p:nvSpPr>
        <p:spPr>
          <a:xfrm>
            <a:off x="548640" y="3456432"/>
            <a:ext cx="256032" cy="256032"/>
          </a:xfrm>
          <a:prstGeom prst="roundRect">
            <a:avLst>
              <a:gd name="adj" fmla="val 17857"/>
            </a:avLst>
          </a:prstGeom>
          <a:solidFill>
            <a:srgbClr val="FFFFFF"/>
          </a:solidFill>
          <a:ln w="19050">
            <a:solidFill>
              <a:srgbClr val="C6C4D6"/>
            </a:solidFill>
            <a:prstDash val="solid"/>
          </a:ln>
        </p:spPr>
      </p:sp>
      <p:sp>
        <p:nvSpPr>
          <p:cNvPr id="14" name="Text 11"/>
          <p:cNvSpPr txBox="1"/>
          <p:nvPr/>
        </p:nvSpPr>
        <p:spPr>
          <a:xfrm>
            <a:off x="960120" y="3419856"/>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Colours come from the palette, with purple as the spark and plenty of white.</a:t>
            </a:r>
            <a:endParaRPr lang="en-US" sz="1250" dirty="0"/>
          </a:p>
        </p:txBody>
      </p:sp>
      <p:sp>
        <p:nvSpPr>
          <p:cNvPr id="15" name="Shape 12"/>
          <p:cNvSpPr/>
          <p:nvPr/>
        </p:nvSpPr>
        <p:spPr>
          <a:xfrm>
            <a:off x="548640" y="4169664"/>
            <a:ext cx="5349240" cy="0"/>
          </a:xfrm>
          <a:prstGeom prst="line">
            <a:avLst/>
          </a:prstGeom>
          <a:noFill/>
          <a:ln w="9525">
            <a:solidFill>
              <a:srgbClr val="E2E1EA"/>
            </a:solidFill>
            <a:prstDash val="solid"/>
          </a:ln>
        </p:spPr>
      </p:sp>
      <p:sp>
        <p:nvSpPr>
          <p:cNvPr id="16" name="Shape 13"/>
          <p:cNvSpPr/>
          <p:nvPr/>
        </p:nvSpPr>
        <p:spPr>
          <a:xfrm>
            <a:off x="548640" y="4297680"/>
            <a:ext cx="256032" cy="256032"/>
          </a:xfrm>
          <a:prstGeom prst="roundRect">
            <a:avLst>
              <a:gd name="adj" fmla="val 17857"/>
            </a:avLst>
          </a:prstGeom>
          <a:solidFill>
            <a:srgbClr val="FFFFFF"/>
          </a:solidFill>
          <a:ln w="19050">
            <a:solidFill>
              <a:srgbClr val="C6C4D6"/>
            </a:solidFill>
            <a:prstDash val="solid"/>
          </a:ln>
        </p:spPr>
      </p:sp>
      <p:sp>
        <p:nvSpPr>
          <p:cNvPr id="17" name="Text 14"/>
          <p:cNvSpPr txBox="1"/>
          <p:nvPr/>
        </p:nvSpPr>
        <p:spPr>
          <a:xfrm>
            <a:off x="960120" y="4261104"/>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Text passes contrast: Ink, Deep Rise or Star Purple on white, white on Deep Rise or Star Purple.</a:t>
            </a:r>
            <a:endParaRPr lang="en-US" sz="1250" dirty="0"/>
          </a:p>
        </p:txBody>
      </p:sp>
      <p:sp>
        <p:nvSpPr>
          <p:cNvPr id="18" name="Shape 15"/>
          <p:cNvSpPr/>
          <p:nvPr/>
        </p:nvSpPr>
        <p:spPr>
          <a:xfrm>
            <a:off x="548640" y="5010912"/>
            <a:ext cx="5349240" cy="0"/>
          </a:xfrm>
          <a:prstGeom prst="line">
            <a:avLst/>
          </a:prstGeom>
          <a:noFill/>
          <a:ln w="9525">
            <a:solidFill>
              <a:srgbClr val="E2E1EA"/>
            </a:solidFill>
            <a:prstDash val="solid"/>
          </a:ln>
        </p:spPr>
      </p:sp>
      <p:sp>
        <p:nvSpPr>
          <p:cNvPr id="19" name="Shape 16"/>
          <p:cNvSpPr/>
          <p:nvPr/>
        </p:nvSpPr>
        <p:spPr>
          <a:xfrm>
            <a:off x="548640" y="5138928"/>
            <a:ext cx="256032" cy="256032"/>
          </a:xfrm>
          <a:prstGeom prst="roundRect">
            <a:avLst>
              <a:gd name="adj" fmla="val 17857"/>
            </a:avLst>
          </a:prstGeom>
          <a:solidFill>
            <a:srgbClr val="FFFFFF"/>
          </a:solidFill>
          <a:ln w="19050">
            <a:solidFill>
              <a:srgbClr val="C6C4D6"/>
            </a:solidFill>
            <a:prstDash val="solid"/>
          </a:ln>
        </p:spPr>
      </p:sp>
      <p:sp>
        <p:nvSpPr>
          <p:cNvPr id="20" name="Text 17"/>
          <p:cNvSpPr txBox="1"/>
          <p:nvPr/>
        </p:nvSpPr>
        <p:spPr>
          <a:xfrm>
            <a:off x="960120" y="5102352"/>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Type is Roboto (Arial in email and editable files), with headings and buttons in sentence case.</a:t>
            </a:r>
            <a:endParaRPr lang="en-US" sz="1250" dirty="0"/>
          </a:p>
        </p:txBody>
      </p:sp>
      <p:sp>
        <p:nvSpPr>
          <p:cNvPr id="21" name="Shape 18"/>
          <p:cNvSpPr/>
          <p:nvPr/>
        </p:nvSpPr>
        <p:spPr>
          <a:xfrm>
            <a:off x="6199632" y="1645920"/>
            <a:ext cx="5349240" cy="0"/>
          </a:xfrm>
          <a:prstGeom prst="line">
            <a:avLst/>
          </a:prstGeom>
          <a:noFill/>
          <a:ln w="9525">
            <a:solidFill>
              <a:srgbClr val="E2E1EA"/>
            </a:solidFill>
            <a:prstDash val="solid"/>
          </a:ln>
        </p:spPr>
      </p:sp>
      <p:sp>
        <p:nvSpPr>
          <p:cNvPr id="22" name="Shape 19"/>
          <p:cNvSpPr/>
          <p:nvPr/>
        </p:nvSpPr>
        <p:spPr>
          <a:xfrm>
            <a:off x="6199632" y="1773936"/>
            <a:ext cx="256032" cy="256032"/>
          </a:xfrm>
          <a:prstGeom prst="roundRect">
            <a:avLst>
              <a:gd name="adj" fmla="val 17857"/>
            </a:avLst>
          </a:prstGeom>
          <a:solidFill>
            <a:srgbClr val="FFFFFF"/>
          </a:solidFill>
          <a:ln w="19050">
            <a:solidFill>
              <a:srgbClr val="C6C4D6"/>
            </a:solidFill>
            <a:prstDash val="solid"/>
          </a:ln>
        </p:spPr>
      </p:sp>
      <p:sp>
        <p:nvSpPr>
          <p:cNvPr id="23" name="Text 20"/>
          <p:cNvSpPr txBox="1"/>
          <p:nvPr/>
        </p:nvSpPr>
        <p:spPr>
          <a:xfrm>
            <a:off x="6611112" y="1737360"/>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No more than one star, used as an outline, unfilled and not redrawn.</a:t>
            </a:r>
            <a:endParaRPr lang="en-US" sz="1250" dirty="0"/>
          </a:p>
        </p:txBody>
      </p:sp>
      <p:sp>
        <p:nvSpPr>
          <p:cNvPr id="24" name="Shape 21"/>
          <p:cNvSpPr/>
          <p:nvPr/>
        </p:nvSpPr>
        <p:spPr>
          <a:xfrm>
            <a:off x="6199632" y="2487168"/>
            <a:ext cx="5349240" cy="0"/>
          </a:xfrm>
          <a:prstGeom prst="line">
            <a:avLst/>
          </a:prstGeom>
          <a:noFill/>
          <a:ln w="9525">
            <a:solidFill>
              <a:srgbClr val="E2E1EA"/>
            </a:solidFill>
            <a:prstDash val="solid"/>
          </a:ln>
        </p:spPr>
      </p:sp>
      <p:sp>
        <p:nvSpPr>
          <p:cNvPr id="25" name="Shape 22"/>
          <p:cNvSpPr/>
          <p:nvPr/>
        </p:nvSpPr>
        <p:spPr>
          <a:xfrm>
            <a:off x="6199632" y="2615184"/>
            <a:ext cx="256032" cy="256032"/>
          </a:xfrm>
          <a:prstGeom prst="roundRect">
            <a:avLst>
              <a:gd name="adj" fmla="val 17857"/>
            </a:avLst>
          </a:prstGeom>
          <a:solidFill>
            <a:srgbClr val="FFFFFF"/>
          </a:solidFill>
          <a:ln w="19050">
            <a:solidFill>
              <a:srgbClr val="C6C4D6"/>
            </a:solidFill>
            <a:prstDash val="solid"/>
          </a:ln>
        </p:spPr>
      </p:sp>
      <p:sp>
        <p:nvSpPr>
          <p:cNvPr id="26" name="Text 23"/>
          <p:cNvSpPr txBox="1"/>
          <p:nvPr/>
        </p:nvSpPr>
        <p:spPr>
          <a:xfrm>
            <a:off x="6611112" y="2578608"/>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Photos show real, diverse people in natural light, with consent recorded.</a:t>
            </a:r>
            <a:endParaRPr lang="en-US" sz="1250" dirty="0"/>
          </a:p>
        </p:txBody>
      </p:sp>
      <p:sp>
        <p:nvSpPr>
          <p:cNvPr id="27" name="Shape 24"/>
          <p:cNvSpPr/>
          <p:nvPr/>
        </p:nvSpPr>
        <p:spPr>
          <a:xfrm>
            <a:off x="6199632" y="3328416"/>
            <a:ext cx="5349240" cy="0"/>
          </a:xfrm>
          <a:prstGeom prst="line">
            <a:avLst/>
          </a:prstGeom>
          <a:noFill/>
          <a:ln w="9525">
            <a:solidFill>
              <a:srgbClr val="E2E1EA"/>
            </a:solidFill>
            <a:prstDash val="solid"/>
          </a:ln>
        </p:spPr>
      </p:sp>
      <p:sp>
        <p:nvSpPr>
          <p:cNvPr id="28" name="Shape 25"/>
          <p:cNvSpPr/>
          <p:nvPr/>
        </p:nvSpPr>
        <p:spPr>
          <a:xfrm>
            <a:off x="6199632" y="3456432"/>
            <a:ext cx="256032" cy="256032"/>
          </a:xfrm>
          <a:prstGeom prst="roundRect">
            <a:avLst>
              <a:gd name="adj" fmla="val 17857"/>
            </a:avLst>
          </a:prstGeom>
          <a:solidFill>
            <a:srgbClr val="FFFFFF"/>
          </a:solidFill>
          <a:ln w="19050">
            <a:solidFill>
              <a:srgbClr val="C6C4D6"/>
            </a:solidFill>
            <a:prstDash val="solid"/>
          </a:ln>
        </p:spPr>
      </p:sp>
      <p:sp>
        <p:nvSpPr>
          <p:cNvPr id="29" name="Text 26"/>
          <p:cNvSpPr txBox="1"/>
          <p:nvPr/>
        </p:nvSpPr>
        <p:spPr>
          <a:xfrm>
            <a:off x="6611112" y="3419856"/>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Copy is short, warm and jargon-free, and ends with one clear action.</a:t>
            </a:r>
            <a:endParaRPr lang="en-US" sz="1250" dirty="0"/>
          </a:p>
        </p:txBody>
      </p:sp>
      <p:sp>
        <p:nvSpPr>
          <p:cNvPr id="30" name="Shape 27"/>
          <p:cNvSpPr/>
          <p:nvPr/>
        </p:nvSpPr>
        <p:spPr>
          <a:xfrm>
            <a:off x="6199632" y="4169664"/>
            <a:ext cx="5349240" cy="0"/>
          </a:xfrm>
          <a:prstGeom prst="line">
            <a:avLst/>
          </a:prstGeom>
          <a:noFill/>
          <a:ln w="9525">
            <a:solidFill>
              <a:srgbClr val="E2E1EA"/>
            </a:solidFill>
            <a:prstDash val="solid"/>
          </a:ln>
        </p:spPr>
      </p:sp>
      <p:sp>
        <p:nvSpPr>
          <p:cNvPr id="31" name="Shape 28"/>
          <p:cNvSpPr/>
          <p:nvPr/>
        </p:nvSpPr>
        <p:spPr>
          <a:xfrm>
            <a:off x="6199632" y="4297680"/>
            <a:ext cx="256032" cy="256032"/>
          </a:xfrm>
          <a:prstGeom prst="roundRect">
            <a:avLst>
              <a:gd name="adj" fmla="val 17857"/>
            </a:avLst>
          </a:prstGeom>
          <a:solidFill>
            <a:srgbClr val="FFFFFF"/>
          </a:solidFill>
          <a:ln w="19050">
            <a:solidFill>
              <a:srgbClr val="C6C4D6"/>
            </a:solidFill>
            <a:prstDash val="solid"/>
          </a:ln>
        </p:spPr>
      </p:sp>
      <p:sp>
        <p:nvSpPr>
          <p:cNvPr id="32" name="Text 29"/>
          <p:cNvSpPr txBox="1"/>
          <p:nvPr/>
        </p:nvSpPr>
        <p:spPr>
          <a:xfrm>
            <a:off x="6611112" y="4261104"/>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Facts and figures are true and provable. AI is described as assisting people, never deciding.</a:t>
            </a:r>
            <a:endParaRPr lang="en-US" sz="1250" dirty="0"/>
          </a:p>
        </p:txBody>
      </p:sp>
      <p:sp>
        <p:nvSpPr>
          <p:cNvPr id="33" name="Shape 30"/>
          <p:cNvSpPr/>
          <p:nvPr/>
        </p:nvSpPr>
        <p:spPr>
          <a:xfrm>
            <a:off x="6199632" y="5010912"/>
            <a:ext cx="5349240" cy="0"/>
          </a:xfrm>
          <a:prstGeom prst="line">
            <a:avLst/>
          </a:prstGeom>
          <a:noFill/>
          <a:ln w="9525">
            <a:solidFill>
              <a:srgbClr val="E2E1EA"/>
            </a:solidFill>
            <a:prstDash val="solid"/>
          </a:ln>
        </p:spPr>
      </p:sp>
      <p:sp>
        <p:nvSpPr>
          <p:cNvPr id="34" name="Shape 31"/>
          <p:cNvSpPr/>
          <p:nvPr/>
        </p:nvSpPr>
        <p:spPr>
          <a:xfrm>
            <a:off x="6199632" y="5138928"/>
            <a:ext cx="256032" cy="256032"/>
          </a:xfrm>
          <a:prstGeom prst="roundRect">
            <a:avLst>
              <a:gd name="adj" fmla="val 17857"/>
            </a:avLst>
          </a:prstGeom>
          <a:solidFill>
            <a:srgbClr val="FFFFFF"/>
          </a:solidFill>
          <a:ln w="19050">
            <a:solidFill>
              <a:srgbClr val="C6C4D6"/>
            </a:solidFill>
            <a:prstDash val="solid"/>
          </a:ln>
        </p:spPr>
      </p:sp>
      <p:sp>
        <p:nvSpPr>
          <p:cNvPr id="35" name="Text 32"/>
          <p:cNvSpPr txBox="1"/>
          <p:nvPr/>
        </p:nvSpPr>
        <p:spPr>
          <a:xfrm>
            <a:off x="6611112" y="5102352"/>
            <a:ext cx="4892040" cy="685800"/>
          </a:xfrm>
          <a:prstGeom prst="rect">
            <a:avLst/>
          </a:prstGeom>
          <a:noFill/>
          <a:ln/>
        </p:spPr>
        <p:txBody>
          <a:bodyPr wrap="square" lIns="0" tIns="0" rIns="0" bIns="0" rtlCol="0" anchor="t"/>
          <a:lstStyle/>
          <a:p>
            <a:pPr indent="0" marL="0">
              <a:buNone/>
            </a:pPr>
            <a:r>
              <a:rPr lang="en-US" sz="1250" dirty="0">
                <a:solidFill>
                  <a:srgbClr val="23222B"/>
                </a:solidFill>
                <a:latin typeface="Arial" pitchFamily="34" charset="0"/>
                <a:ea typeface="Arial" pitchFamily="34" charset="-122"/>
                <a:cs typeface="Arial" pitchFamily="34" charset="-120"/>
              </a:rPr>
              <a:t>Legal lines are in place: POPIA, the registered name where needed, QCTO only on accredited courses.</a:t>
            </a:r>
            <a:endParaRPr lang="en-US" sz="12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347472" cy="347472"/>
          </a:xfrm>
          <a:prstGeom prst="ellipse">
            <a:avLst/>
          </a:prstGeom>
          <a:solidFill>
            <a:srgbClr val="FFFFFF"/>
          </a:solidFill>
          <a:ln w="19050">
            <a:solidFill>
              <a:srgbClr val="6E86AE"/>
            </a:solidFill>
          </a:ln>
        </p:spPr>
        <p:txBody>
          <a:bodyPr wrap="square" lIns="0" tIns="0" rIns="0" bIns="0" rtlCol="0" anchor="ctr"/>
          <a:lstStyle/>
          <a:p>
            <a:pPr algn="ctr" indent="0" marL="0">
              <a:buNone/>
            </a:pPr>
            <a:r>
              <a:rPr lang="en-US" sz="900" b="1" dirty="0">
                <a:solidFill>
                  <a:srgbClr val="456285"/>
                </a:solidFill>
                <a:latin typeface="Arial" pitchFamily="34" charset="0"/>
                <a:ea typeface="Arial" pitchFamily="34" charset="-122"/>
                <a:cs typeface="Arial" pitchFamily="34" charset="-120"/>
              </a:rPr>
              <a:t>12</a:t>
            </a:r>
            <a:endParaRPr lang="en-US" sz="900" dirty="0"/>
          </a:p>
        </p:txBody>
      </p:sp>
      <p:sp>
        <p:nvSpPr>
          <p:cNvPr id="3" name="Text 1"/>
          <p:cNvSpPr txBox="1"/>
          <p:nvPr/>
        </p:nvSpPr>
        <p:spPr>
          <a:xfrm>
            <a:off x="1024128" y="384048"/>
            <a:ext cx="7315200" cy="347472"/>
          </a:xfrm>
          <a:prstGeom prst="rect">
            <a:avLst/>
          </a:prstGeom>
          <a:noFill/>
          <a:ln/>
        </p:spPr>
        <p:txBody>
          <a:bodyPr wrap="square" lIns="0" tIns="0" rIns="0" bIns="0" rtlCol="0" anchor="ctr"/>
          <a:lstStyle/>
          <a:p>
            <a:pPr indent="0" marL="0">
              <a:buNone/>
            </a:pPr>
            <a:r>
              <a:rPr lang="en-US" sz="1050" b="1" spc="300" kern="0" dirty="0">
                <a:solidFill>
                  <a:srgbClr val="5A4E8D"/>
                </a:solidFill>
                <a:latin typeface="Arial" pitchFamily="34" charset="0"/>
                <a:ea typeface="Arial" pitchFamily="34" charset="-122"/>
                <a:cs typeface="Arial" pitchFamily="34" charset="-120"/>
              </a:rPr>
              <a:t>NOTES &amp; OPEN ITEMS</a:t>
            </a:r>
            <a:endParaRPr lang="en-US" sz="1050" dirty="0"/>
          </a:p>
        </p:txBody>
      </p:sp>
      <p:sp>
        <p:nvSpPr>
          <p:cNvPr id="4" name="Text 2"/>
          <p:cNvSpPr txBox="1"/>
          <p:nvPr/>
        </p:nvSpPr>
        <p:spPr>
          <a:xfrm>
            <a:off x="548640" y="841248"/>
            <a:ext cx="11094415" cy="640080"/>
          </a:xfrm>
          <a:prstGeom prst="rect">
            <a:avLst/>
          </a:prstGeom>
          <a:noFill/>
          <a:ln/>
        </p:spPr>
        <p:txBody>
          <a:bodyPr wrap="square" lIns="0" tIns="0" rIns="0" bIns="0" rtlCol="0" anchor="t"/>
          <a:lstStyle/>
          <a:p>
            <a:pPr indent="0" marL="0">
              <a:buNone/>
            </a:pPr>
            <a:r>
              <a:rPr lang="en-US" sz="3000" b="1" dirty="0">
                <a:solidFill>
                  <a:srgbClr val="23222B"/>
                </a:solidFill>
                <a:latin typeface="Arial" pitchFamily="34" charset="0"/>
                <a:ea typeface="Arial" pitchFamily="34" charset="-122"/>
                <a:cs typeface="Arial" pitchFamily="34" charset="-120"/>
              </a:rPr>
              <a:t>Open items for version 1.1.</a:t>
            </a:r>
            <a:endParaRPr lang="en-US" sz="3000" dirty="0"/>
          </a:p>
        </p:txBody>
      </p:sp>
      <p:pic>
        <p:nvPicPr>
          <p:cNvPr id="5" name="Image 0" descr="/tmp/claude-0/-home-user-HumanRise/ef620e0f-4658-549d-b913-69843549f640/scratchpad/deck/img/logo-colour-400.png">    </p:cNvPr>
          <p:cNvPicPr>
            <a:picLocks noChangeAspect="1"/>
          </p:cNvPicPr>
          <p:nvPr/>
        </p:nvPicPr>
        <p:blipFill>
          <a:blip r:embed="rId1"/>
          <a:stretch>
            <a:fillRect/>
          </a:stretch>
        </p:blipFill>
        <p:spPr>
          <a:xfrm>
            <a:off x="10908792" y="6163056"/>
            <a:ext cx="731520" cy="464515"/>
          </a:xfrm>
          <a:prstGeom prst="rect">
            <a:avLst/>
          </a:prstGeom>
        </p:spPr>
      </p:pic>
      <p:sp>
        <p:nvSpPr>
          <p:cNvPr id="6" name="Shape 3"/>
          <p:cNvSpPr/>
          <p:nvPr/>
        </p:nvSpPr>
        <p:spPr>
          <a:xfrm>
            <a:off x="548640" y="1645920"/>
            <a:ext cx="5349240" cy="0"/>
          </a:xfrm>
          <a:prstGeom prst="line">
            <a:avLst/>
          </a:prstGeom>
          <a:noFill/>
          <a:ln w="9525">
            <a:solidFill>
              <a:srgbClr val="E2E1EA"/>
            </a:solidFill>
            <a:prstDash val="solid"/>
          </a:ln>
        </p:spPr>
      </p:sp>
      <p:sp>
        <p:nvSpPr>
          <p:cNvPr id="7" name="Text 4"/>
          <p:cNvSpPr txBox="1"/>
          <p:nvPr/>
        </p:nvSpPr>
        <p:spPr>
          <a:xfrm>
            <a:off x="548640" y="1755648"/>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1</a:t>
            </a:r>
            <a:endParaRPr lang="en-US" sz="1000" dirty="0"/>
          </a:p>
        </p:txBody>
      </p:sp>
      <p:sp>
        <p:nvSpPr>
          <p:cNvPr id="8" name="Text 5"/>
          <p:cNvSpPr txBox="1"/>
          <p:nvPr/>
        </p:nvSpPr>
        <p:spPr>
          <a:xfrm>
            <a:off x="1078992" y="1737360"/>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Vector logo master</a:t>
            </a:r>
            <a:endParaRPr lang="en-US" sz="1300" dirty="0"/>
          </a:p>
        </p:txBody>
      </p:sp>
      <p:sp>
        <p:nvSpPr>
          <p:cNvPr id="9" name="Text 6"/>
          <p:cNvSpPr txBox="1"/>
          <p:nvPr/>
        </p:nvSpPr>
        <p:spPr>
          <a:xfrm>
            <a:off x="1078992" y="2029968"/>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Export SVG and PDF versions of the logo and star from the original design file.</a:t>
            </a:r>
            <a:endParaRPr lang="en-US" sz="1150" dirty="0"/>
          </a:p>
        </p:txBody>
      </p:sp>
      <p:sp>
        <p:nvSpPr>
          <p:cNvPr id="10" name="Shape 7"/>
          <p:cNvSpPr/>
          <p:nvPr/>
        </p:nvSpPr>
        <p:spPr>
          <a:xfrm>
            <a:off x="548640" y="2715768"/>
            <a:ext cx="5349240" cy="0"/>
          </a:xfrm>
          <a:prstGeom prst="line">
            <a:avLst/>
          </a:prstGeom>
          <a:noFill/>
          <a:ln w="9525">
            <a:solidFill>
              <a:srgbClr val="E2E1EA"/>
            </a:solidFill>
            <a:prstDash val="solid"/>
          </a:ln>
        </p:spPr>
      </p:sp>
      <p:sp>
        <p:nvSpPr>
          <p:cNvPr id="11" name="Text 8"/>
          <p:cNvSpPr txBox="1"/>
          <p:nvPr/>
        </p:nvSpPr>
        <p:spPr>
          <a:xfrm>
            <a:off x="548640" y="2825496"/>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2</a:t>
            </a:r>
            <a:endParaRPr lang="en-US" sz="1000" dirty="0"/>
          </a:p>
        </p:txBody>
      </p:sp>
      <p:sp>
        <p:nvSpPr>
          <p:cNvPr id="12" name="Text 9"/>
          <p:cNvSpPr txBox="1"/>
          <p:nvPr/>
        </p:nvSpPr>
        <p:spPr>
          <a:xfrm>
            <a:off x="1078992" y="2807208"/>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Update the master artwork</a:t>
            </a:r>
            <a:endParaRPr lang="en-US" sz="1300" dirty="0"/>
          </a:p>
        </p:txBody>
      </p:sp>
      <p:sp>
        <p:nvSpPr>
          <p:cNvPr id="13" name="Text 10"/>
          <p:cNvSpPr txBox="1"/>
          <p:nvPr/>
        </p:nvSpPr>
        <p:spPr>
          <a:xfrm>
            <a:off x="1078992" y="3099816"/>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Remove the light-blue strip under the rising I, and retire the cream exports.</a:t>
            </a:r>
            <a:endParaRPr lang="en-US" sz="1150" dirty="0"/>
          </a:p>
        </p:txBody>
      </p:sp>
      <p:sp>
        <p:nvSpPr>
          <p:cNvPr id="14" name="Shape 11"/>
          <p:cNvSpPr/>
          <p:nvPr/>
        </p:nvSpPr>
        <p:spPr>
          <a:xfrm>
            <a:off x="548640" y="3785616"/>
            <a:ext cx="5349240" cy="0"/>
          </a:xfrm>
          <a:prstGeom prst="line">
            <a:avLst/>
          </a:prstGeom>
          <a:noFill/>
          <a:ln w="9525">
            <a:solidFill>
              <a:srgbClr val="E2E1EA"/>
            </a:solidFill>
            <a:prstDash val="solid"/>
          </a:ln>
        </p:spPr>
      </p:sp>
      <p:sp>
        <p:nvSpPr>
          <p:cNvPr id="15" name="Text 12"/>
          <p:cNvSpPr txBox="1"/>
          <p:nvPr/>
        </p:nvSpPr>
        <p:spPr>
          <a:xfrm>
            <a:off x="548640" y="3895344"/>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3</a:t>
            </a:r>
            <a:endParaRPr lang="en-US" sz="1000" dirty="0"/>
          </a:p>
        </p:txBody>
      </p:sp>
      <p:sp>
        <p:nvSpPr>
          <p:cNvPr id="16" name="Text 13"/>
          <p:cNvSpPr txBox="1"/>
          <p:nvPr/>
        </p:nvSpPr>
        <p:spPr>
          <a:xfrm>
            <a:off x="1078992" y="3877056"/>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Print colour</a:t>
            </a:r>
            <a:endParaRPr lang="en-US" sz="1300" dirty="0"/>
          </a:p>
        </p:txBody>
      </p:sp>
      <p:sp>
        <p:nvSpPr>
          <p:cNvPr id="17" name="Text 14"/>
          <p:cNvSpPr txBox="1"/>
          <p:nvPr/>
        </p:nvSpPr>
        <p:spPr>
          <a:xfrm>
            <a:off x="1078992" y="4169664"/>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Match the four core colours to Pantone references with your printer.</a:t>
            </a:r>
            <a:endParaRPr lang="en-US" sz="1150" dirty="0"/>
          </a:p>
        </p:txBody>
      </p:sp>
      <p:sp>
        <p:nvSpPr>
          <p:cNvPr id="18" name="Shape 15"/>
          <p:cNvSpPr/>
          <p:nvPr/>
        </p:nvSpPr>
        <p:spPr>
          <a:xfrm>
            <a:off x="548640" y="4855464"/>
            <a:ext cx="5349240" cy="0"/>
          </a:xfrm>
          <a:prstGeom prst="line">
            <a:avLst/>
          </a:prstGeom>
          <a:noFill/>
          <a:ln w="9525">
            <a:solidFill>
              <a:srgbClr val="E2E1EA"/>
            </a:solidFill>
            <a:prstDash val="solid"/>
          </a:ln>
        </p:spPr>
      </p:sp>
      <p:sp>
        <p:nvSpPr>
          <p:cNvPr id="19" name="Text 16"/>
          <p:cNvSpPr txBox="1"/>
          <p:nvPr/>
        </p:nvSpPr>
        <p:spPr>
          <a:xfrm>
            <a:off x="548640" y="4965192"/>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4</a:t>
            </a:r>
            <a:endParaRPr lang="en-US" sz="1000" dirty="0"/>
          </a:p>
        </p:txBody>
      </p:sp>
      <p:sp>
        <p:nvSpPr>
          <p:cNvPr id="20" name="Text 17"/>
          <p:cNvSpPr txBox="1"/>
          <p:nvPr/>
        </p:nvSpPr>
        <p:spPr>
          <a:xfrm>
            <a:off x="1078992" y="4946904"/>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Profile avatar</a:t>
            </a:r>
            <a:endParaRPr lang="en-US" sz="1300" dirty="0"/>
          </a:p>
        </p:txBody>
      </p:sp>
      <p:sp>
        <p:nvSpPr>
          <p:cNvPr id="21" name="Text 18"/>
          <p:cNvSpPr txBox="1"/>
          <p:nvPr/>
        </p:nvSpPr>
        <p:spPr>
          <a:xfrm>
            <a:off x="1078992" y="5239512"/>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Approve the slightly heavier star line, or replace it with an original small-size drawing.</a:t>
            </a:r>
            <a:endParaRPr lang="en-US" sz="1150" dirty="0"/>
          </a:p>
        </p:txBody>
      </p:sp>
      <p:sp>
        <p:nvSpPr>
          <p:cNvPr id="22" name="Shape 19"/>
          <p:cNvSpPr/>
          <p:nvPr/>
        </p:nvSpPr>
        <p:spPr>
          <a:xfrm>
            <a:off x="6199632" y="1645920"/>
            <a:ext cx="5349240" cy="0"/>
          </a:xfrm>
          <a:prstGeom prst="line">
            <a:avLst/>
          </a:prstGeom>
          <a:noFill/>
          <a:ln w="9525">
            <a:solidFill>
              <a:srgbClr val="E2E1EA"/>
            </a:solidFill>
            <a:prstDash val="solid"/>
          </a:ln>
        </p:spPr>
      </p:sp>
      <p:sp>
        <p:nvSpPr>
          <p:cNvPr id="23" name="Text 20"/>
          <p:cNvSpPr txBox="1"/>
          <p:nvPr/>
        </p:nvSpPr>
        <p:spPr>
          <a:xfrm>
            <a:off x="6199632" y="1755648"/>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5</a:t>
            </a:r>
            <a:endParaRPr lang="en-US" sz="1000" dirty="0"/>
          </a:p>
        </p:txBody>
      </p:sp>
      <p:sp>
        <p:nvSpPr>
          <p:cNvPr id="24" name="Text 21"/>
          <p:cNvSpPr txBox="1"/>
          <p:nvPr/>
        </p:nvSpPr>
        <p:spPr>
          <a:xfrm>
            <a:off x="6729984" y="1737360"/>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Registration number</a:t>
            </a:r>
            <a:endParaRPr lang="en-US" sz="1300" dirty="0"/>
          </a:p>
        </p:txBody>
      </p:sp>
      <p:sp>
        <p:nvSpPr>
          <p:cNvPr id="25" name="Text 22"/>
          <p:cNvSpPr txBox="1"/>
          <p:nvPr/>
        </p:nvSpPr>
        <p:spPr>
          <a:xfrm>
            <a:off x="6729984" y="2029968"/>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Add it to the letterhead and legal footers.</a:t>
            </a:r>
            <a:endParaRPr lang="en-US" sz="1150" dirty="0"/>
          </a:p>
        </p:txBody>
      </p:sp>
      <p:sp>
        <p:nvSpPr>
          <p:cNvPr id="26" name="Shape 23"/>
          <p:cNvSpPr/>
          <p:nvPr/>
        </p:nvSpPr>
        <p:spPr>
          <a:xfrm>
            <a:off x="6199632" y="2715768"/>
            <a:ext cx="5349240" cy="0"/>
          </a:xfrm>
          <a:prstGeom prst="line">
            <a:avLst/>
          </a:prstGeom>
          <a:noFill/>
          <a:ln w="9525">
            <a:solidFill>
              <a:srgbClr val="E2E1EA"/>
            </a:solidFill>
            <a:prstDash val="solid"/>
          </a:ln>
        </p:spPr>
      </p:sp>
      <p:sp>
        <p:nvSpPr>
          <p:cNvPr id="27" name="Text 24"/>
          <p:cNvSpPr txBox="1"/>
          <p:nvPr/>
        </p:nvSpPr>
        <p:spPr>
          <a:xfrm>
            <a:off x="6199632" y="2825496"/>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6</a:t>
            </a:r>
            <a:endParaRPr lang="en-US" sz="1000" dirty="0"/>
          </a:p>
        </p:txBody>
      </p:sp>
      <p:sp>
        <p:nvSpPr>
          <p:cNvPr id="28" name="Text 25"/>
          <p:cNvSpPr txBox="1"/>
          <p:nvPr/>
        </p:nvSpPr>
        <p:spPr>
          <a:xfrm>
            <a:off x="6729984" y="2807208"/>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Social channels</a:t>
            </a:r>
            <a:endParaRPr lang="en-US" sz="1300" dirty="0"/>
          </a:p>
        </p:txBody>
      </p:sp>
      <p:sp>
        <p:nvSpPr>
          <p:cNvPr id="29" name="Text 26"/>
          <p:cNvSpPr txBox="1"/>
          <p:nvPr/>
        </p:nvSpPr>
        <p:spPr>
          <a:xfrm>
            <a:off x="6729984" y="3099816"/>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Confirm handles beyond LinkedIn and add them to the guide.</a:t>
            </a:r>
            <a:endParaRPr lang="en-US" sz="1150" dirty="0"/>
          </a:p>
        </p:txBody>
      </p:sp>
      <p:sp>
        <p:nvSpPr>
          <p:cNvPr id="30" name="Shape 27"/>
          <p:cNvSpPr/>
          <p:nvPr/>
        </p:nvSpPr>
        <p:spPr>
          <a:xfrm>
            <a:off x="6199632" y="3785616"/>
            <a:ext cx="5349240" cy="0"/>
          </a:xfrm>
          <a:prstGeom prst="line">
            <a:avLst/>
          </a:prstGeom>
          <a:noFill/>
          <a:ln w="9525">
            <a:solidFill>
              <a:srgbClr val="E2E1EA"/>
            </a:solidFill>
            <a:prstDash val="solid"/>
          </a:ln>
        </p:spPr>
      </p:sp>
      <p:sp>
        <p:nvSpPr>
          <p:cNvPr id="31" name="Text 28"/>
          <p:cNvSpPr txBox="1"/>
          <p:nvPr/>
        </p:nvSpPr>
        <p:spPr>
          <a:xfrm>
            <a:off x="6199632" y="3895344"/>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7</a:t>
            </a:r>
            <a:endParaRPr lang="en-US" sz="1000" dirty="0"/>
          </a:p>
        </p:txBody>
      </p:sp>
      <p:sp>
        <p:nvSpPr>
          <p:cNvPr id="32" name="Text 29"/>
          <p:cNvSpPr txBox="1"/>
          <p:nvPr/>
        </p:nvSpPr>
        <p:spPr>
          <a:xfrm>
            <a:off x="6729984" y="3877056"/>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Website alignment</a:t>
            </a:r>
            <a:endParaRPr lang="en-US" sz="1300" dirty="0"/>
          </a:p>
        </p:txBody>
      </p:sp>
      <p:sp>
        <p:nvSpPr>
          <p:cNvPr id="33" name="Text 30"/>
          <p:cNvSpPr txBox="1"/>
          <p:nvPr/>
        </p:nvSpPr>
        <p:spPr>
          <a:xfrm>
            <a:off x="6729984" y="4169664"/>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Buttons are sentence case (the June 2026 spec said uppercase). Switch small Rise Blue labels to Star Purple or Deep Rise for WCAG AA.</a:t>
            </a:r>
            <a:endParaRPr lang="en-US" sz="1150" dirty="0"/>
          </a:p>
        </p:txBody>
      </p:sp>
      <p:sp>
        <p:nvSpPr>
          <p:cNvPr id="34" name="Shape 31"/>
          <p:cNvSpPr/>
          <p:nvPr/>
        </p:nvSpPr>
        <p:spPr>
          <a:xfrm>
            <a:off x="6199632" y="4855464"/>
            <a:ext cx="5349240" cy="0"/>
          </a:xfrm>
          <a:prstGeom prst="line">
            <a:avLst/>
          </a:prstGeom>
          <a:noFill/>
          <a:ln w="9525">
            <a:solidFill>
              <a:srgbClr val="E2E1EA"/>
            </a:solidFill>
            <a:prstDash val="solid"/>
          </a:ln>
        </p:spPr>
      </p:sp>
      <p:sp>
        <p:nvSpPr>
          <p:cNvPr id="35" name="Text 32"/>
          <p:cNvSpPr txBox="1"/>
          <p:nvPr/>
        </p:nvSpPr>
        <p:spPr>
          <a:xfrm>
            <a:off x="6199632" y="4965192"/>
            <a:ext cx="365760" cy="365760"/>
          </a:xfrm>
          <a:prstGeom prst="ellipse">
            <a:avLst/>
          </a:prstGeom>
          <a:solidFill>
            <a:srgbClr val="FFFFFF"/>
          </a:solidFill>
          <a:ln w="22225">
            <a:solidFill>
              <a:srgbClr val="6E86AE"/>
            </a:solidFill>
          </a:ln>
        </p:spPr>
        <p:txBody>
          <a:bodyPr wrap="square" lIns="0" tIns="0" rIns="0" bIns="0" rtlCol="0" anchor="ctr"/>
          <a:lstStyle/>
          <a:p>
            <a:pPr algn="ctr" indent="0" marL="0">
              <a:buNone/>
            </a:pPr>
            <a:r>
              <a:rPr lang="en-US" sz="1000" b="1" dirty="0">
                <a:solidFill>
                  <a:srgbClr val="456285"/>
                </a:solidFill>
                <a:latin typeface="Arial" pitchFamily="34" charset="0"/>
                <a:ea typeface="Arial" pitchFamily="34" charset="-122"/>
                <a:cs typeface="Arial" pitchFamily="34" charset="-120"/>
              </a:rPr>
              <a:t>8</a:t>
            </a:r>
            <a:endParaRPr lang="en-US" sz="1000" dirty="0"/>
          </a:p>
        </p:txBody>
      </p:sp>
      <p:sp>
        <p:nvSpPr>
          <p:cNvPr id="36" name="Text 33"/>
          <p:cNvSpPr txBox="1"/>
          <p:nvPr/>
        </p:nvSpPr>
        <p:spPr>
          <a:xfrm>
            <a:off x="6729984" y="4946904"/>
            <a:ext cx="4800600" cy="274320"/>
          </a:xfrm>
          <a:prstGeom prst="rect">
            <a:avLst/>
          </a:prstGeom>
          <a:noFill/>
          <a:ln/>
        </p:spPr>
        <p:txBody>
          <a:bodyPr wrap="square" lIns="0" tIns="0" rIns="0" bIns="0" rtlCol="0" anchor="t"/>
          <a:lstStyle/>
          <a:p>
            <a:pPr indent="0" marL="0">
              <a:buNone/>
            </a:pPr>
            <a:r>
              <a:rPr lang="en-US" sz="1300" b="1" dirty="0">
                <a:solidFill>
                  <a:srgbClr val="23222B"/>
                </a:solidFill>
                <a:latin typeface="Arial" pitchFamily="34" charset="0"/>
                <a:ea typeface="Arial" pitchFamily="34" charset="-122"/>
                <a:cs typeface="Arial" pitchFamily="34" charset="-120"/>
              </a:rPr>
              <a:t>AI commitments</a:t>
            </a:r>
            <a:endParaRPr lang="en-US" sz="1300" dirty="0"/>
          </a:p>
        </p:txBody>
      </p:sp>
      <p:sp>
        <p:nvSpPr>
          <p:cNvPr id="37" name="Text 34"/>
          <p:cNvSpPr txBox="1"/>
          <p:nvPr/>
        </p:nvSpPr>
        <p:spPr>
          <a:xfrm>
            <a:off x="6729984" y="5239512"/>
            <a:ext cx="4800600" cy="640080"/>
          </a:xfrm>
          <a:prstGeom prst="rect">
            <a:avLst/>
          </a:prstGeom>
          <a:noFill/>
          <a:ln/>
        </p:spPr>
        <p:txBody>
          <a:bodyPr wrap="square" lIns="0" tIns="0" rIns="0" bIns="0" rtlCol="0" anchor="t"/>
          <a:lstStyle/>
          <a:p>
            <a:pPr indent="0" marL="0">
              <a:buNone/>
            </a:pPr>
            <a:r>
              <a:rPr lang="en-US" sz="1150" dirty="0">
                <a:solidFill>
                  <a:srgbClr val="474557"/>
                </a:solidFill>
                <a:latin typeface="Arial" pitchFamily="34" charset="0"/>
                <a:ea typeface="Arial" pitchFamily="34" charset="-122"/>
                <a:cs typeface="Arial" pitchFamily="34" charset="-120"/>
              </a:rPr>
              <a:t>Confirm the three commitments match how HumanRise uses AI today, and review them as tools change.</a:t>
            </a:r>
            <a:endParaRPr lang="en-US" sz="1150" dirty="0"/>
          </a:p>
        </p:txBody>
      </p:sp>
      <p:sp>
        <p:nvSpPr>
          <p:cNvPr id="25" name="Slide Number Placeholder 0"/>
          <p:cNvSpPr>
            <a:spLocks noGrp="1"/>
          </p:cNvSpPr>
          <p:nvPr>
            <p:ph type="sldNum" sz="quarter" idx="4294967295"/>
          </p:nvPr>
        </p:nvSpPr>
        <p:spPr>
          <a:xfrm>
            <a:off x="548640" y="638251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A6782"/>
                </a:solidFill>
                <a:latin typeface="Arial"/>
                <a:ea typeface="Arial"/>
                <a:cs typeface="Aria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456285"/>
        </a:solidFill>
      </p:bgPr>
    </p:bg>
    <p:spTree>
      <p:nvGrpSpPr>
        <p:cNvPr id="1" name=""/>
        <p:cNvGrpSpPr/>
        <p:nvPr/>
      </p:nvGrpSpPr>
      <p:grpSpPr>
        <a:xfrm>
          <a:off x="0" y="0"/>
          <a:ext cx="0" cy="0"/>
          <a:chOff x="0" y="0"/>
          <a:chExt cx="0" cy="0"/>
        </a:xfrm>
      </p:grpSpPr>
      <p:pic>
        <p:nvPicPr>
          <p:cNvPr id="2" name="Image 0" descr="/home/user/HumanRise/brand/assets/star/star-white.png">    </p:cNvPr>
          <p:cNvPicPr>
            <a:picLocks noChangeAspect="1"/>
          </p:cNvPicPr>
          <p:nvPr/>
        </p:nvPicPr>
        <p:blipFill>
          <a:blip r:embed="rId1"/>
          <a:stretch>
            <a:fillRect/>
          </a:stretch>
        </p:blipFill>
        <p:spPr>
          <a:xfrm>
            <a:off x="7040880" y="914400"/>
            <a:ext cx="6217920" cy="6217920"/>
          </a:xfrm>
          <a:prstGeom prst="rect">
            <a:avLst/>
          </a:prstGeom>
        </p:spPr>
      </p:pic>
      <p:pic>
        <p:nvPicPr>
          <p:cNvPr id="3" name="Image 1" descr="/home/user/HumanRise/brand/assets/logo/humanrise-logo-white.png">    </p:cNvPr>
          <p:cNvPicPr>
            <a:picLocks noChangeAspect="1"/>
          </p:cNvPicPr>
          <p:nvPr/>
        </p:nvPicPr>
        <p:blipFill>
          <a:blip r:embed="rId2"/>
          <a:stretch>
            <a:fillRect/>
          </a:stretch>
        </p:blipFill>
        <p:spPr>
          <a:xfrm>
            <a:off x="731520" y="731520"/>
            <a:ext cx="2743200" cy="1741932"/>
          </a:xfrm>
          <a:prstGeom prst="rect">
            <a:avLst/>
          </a:prstGeom>
        </p:spPr>
      </p:pic>
      <p:sp>
        <p:nvSpPr>
          <p:cNvPr id="4" name="Text 0"/>
          <p:cNvSpPr txBox="1"/>
          <p:nvPr/>
        </p:nvSpPr>
        <p:spPr>
          <a:xfrm>
            <a:off x="731520" y="3063240"/>
            <a:ext cx="7772400" cy="91440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Overcoming Limits.</a:t>
            </a:r>
            <a:endParaRPr lang="en-US" sz="5400" dirty="0"/>
          </a:p>
        </p:txBody>
      </p:sp>
      <p:sp>
        <p:nvSpPr>
          <p:cNvPr id="5" name="Text 1"/>
          <p:cNvSpPr txBox="1"/>
          <p:nvPr/>
        </p:nvSpPr>
        <p:spPr>
          <a:xfrm>
            <a:off x="731520" y="4160520"/>
            <a:ext cx="6858000" cy="365760"/>
          </a:xfrm>
          <a:prstGeom prst="rect">
            <a:avLst/>
          </a:prstGeom>
          <a:noFill/>
          <a:ln/>
        </p:spPr>
        <p:txBody>
          <a:bodyPr wrap="square" lIns="0" tIns="0" rIns="0" bIns="0" rtlCol="0" anchor="t"/>
          <a:lstStyle/>
          <a:p>
            <a:pPr indent="0" marL="0">
              <a:buNone/>
            </a:pPr>
            <a:r>
              <a:rPr lang="en-US" sz="1800" dirty="0">
                <a:solidFill>
                  <a:srgbClr val="DAE0EA"/>
                </a:solidFill>
                <a:latin typeface="Arial" pitchFamily="34" charset="0"/>
                <a:ea typeface="Arial" pitchFamily="34" charset="-122"/>
                <a:cs typeface="Arial" pitchFamily="34" charset="-120"/>
              </a:rPr>
              <a:t>Questions about the brand, or need a file?</a:t>
            </a:r>
            <a:endParaRPr lang="en-US" sz="1800" dirty="0"/>
          </a:p>
        </p:txBody>
      </p:sp>
      <p:sp>
        <p:nvSpPr>
          <p:cNvPr id="6" name="Text 2"/>
          <p:cNvSpPr txBox="1"/>
          <p:nvPr/>
        </p:nvSpPr>
        <p:spPr>
          <a:xfrm>
            <a:off x="731520" y="4572000"/>
            <a:ext cx="6858000"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info@humanrise.co.za  ·  021 001 8094  ·  humanrise.co.za</a:t>
            </a:r>
            <a:endParaRPr lang="en-US" sz="1800" dirty="0"/>
          </a:p>
        </p:txBody>
      </p:sp>
      <p:sp>
        <p:nvSpPr>
          <p:cNvPr id="7" name="Text 3"/>
          <p:cNvSpPr txBox="1"/>
          <p:nvPr/>
        </p:nvSpPr>
        <p:spPr>
          <a:xfrm>
            <a:off x="731520" y="6172200"/>
            <a:ext cx="7315200" cy="274320"/>
          </a:xfrm>
          <a:prstGeom prst="rect">
            <a:avLst/>
          </a:prstGeom>
          <a:noFill/>
          <a:ln/>
        </p:spPr>
        <p:txBody>
          <a:bodyPr wrap="square" lIns="0" tIns="0" rIns="0" bIns="0" rtlCol="0" anchor="t"/>
          <a:lstStyle/>
          <a:p>
            <a:pPr indent="0" marL="0">
              <a:buNone/>
            </a:pPr>
            <a:r>
              <a:rPr lang="en-US" sz="1100" dirty="0">
                <a:solidFill>
                  <a:srgbClr val="DAE0EA"/>
                </a:solidFill>
                <a:latin typeface="Arial" pitchFamily="34" charset="0"/>
                <a:ea typeface="Arial" pitchFamily="34" charset="-122"/>
                <a:cs typeface="Arial" pitchFamily="34" charset="-120"/>
              </a:rPr>
              <a:t>HumanRise ZA (Pty) Ltd · Corporate Identity Guidelines v1.0 · October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HumanRise ZA (Pty)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HumanRise Corporate Identity Guidelines v1.0</dc:title>
  <dc:subject>PptxGenJS Presentation</dc:subject>
  <dc:creator>HumanRise ZA (Pty) Ltd</dc:creator>
  <cp:lastModifiedBy>HumanRise ZA (Pty) Ltd</cp:lastModifiedBy>
  <cp:revision>1</cp:revision>
  <dcterms:created xsi:type="dcterms:W3CDTF">2026-10-01T20:45:34Z</dcterms:created>
  <dcterms:modified xsi:type="dcterms:W3CDTF">2026-10-01T20:45:34Z</dcterms:modified>
</cp:coreProperties>
</file>